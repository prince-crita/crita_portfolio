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604233f-4091-e4d5-5e0a-12c96ea99bdc}">
          <p14:sldIdLst>
            <p14:sldId id="256"/>
            <p14:sldId id="257"/>
            <p14:sldId id="258"/>
            <p14:sldId id="259"/>
          </p14:sldIdLst>
        </p14:section>
        <p14:section name="01 · SMC Task Management" id="{224e6d20-9324-e93e-34db-d3e7a04b48ea}">
          <p14:sldIdLst>
            <p14:sldId id="260"/>
            <p14:sldId id="261"/>
            <p14:sldId id="262"/>
            <p14:sldId id="263"/>
            <p14:sldId id="264"/>
            <p14:sldId id="265"/>
            <p14:sldId id="266"/>
            <p14:sldId id="267"/>
          </p14:sldIdLst>
        </p14:section>
        <p14:section name="02 · Veloce Scrap Flow" id="{db432389-6bc5-e32d-354e-8a8c06af5178}">
          <p14:sldIdLst>
            <p14:sldId id="268"/>
            <p14:sldId id="269"/>
            <p14:sldId id="270"/>
            <p14:sldId id="271"/>
            <p14:sldId id="272"/>
            <p14:sldId id="273"/>
            <p14:sldId id="274"/>
            <p14:sldId id="275"/>
          </p14:sldIdLst>
        </p14:section>
        <p14:section name="03 · Clario" id="{6e5cb766-5d2b-82f6-f059-e25908afc115}">
          <p14:sldIdLst>
            <p14:sldId id="276"/>
            <p14:sldId id="277"/>
            <p14:sldId id="278"/>
            <p14:sldId id="279"/>
            <p14:sldId id="280"/>
            <p14:sldId id="281"/>
            <p14:sldId id="282"/>
            <p14:sldId id="283"/>
          </p14:sldIdLst>
        </p14:section>
        <p14:section name="04 · City Threads" id="{206844e7-d225-b1aa-be18-080d8a91a36c}">
          <p14:sldIdLst>
            <p14:sldId id="284"/>
            <p14:sldId id="285"/>
            <p14:sldId id="286"/>
            <p14:sldId id="287"/>
            <p14:sldId id="288"/>
            <p14:sldId id="289"/>
            <p14:sldId id="290"/>
            <p14:sldId id="291"/>
          </p14:sldIdLst>
        </p14:section>
        <p14:section name="Closing" id="{e2158320-6608-da46-6c45-d7b418b69d92}">
          <p14:sldIdLst>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 who we are in one breath.
“Crita is a consulting-led technology partner. We design and build custom business platforms around the way each business actually works.”
What follows: four real platforms we built — a field-audit system, a scrap-yard inventory platform, our own business-intelligence product and a textile warehouse system. Every screen is from the live product.
Tip: click a project name at the bottom to jump straight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WE ARE
We combine strategy, product design and engineering to turn fragmented operations into connected systems people actually use. Every project starts with the business, not the brief.
Proof points from crita.in: 18+ projects delivered, 07 industries served.
How we work — “Clarity, then code”: Discover, Strategize, Build, Scale. We earn the right to build by understanding the business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BUILD — six capabilities, each proven by a project in this deck:
1. Operations platforms — Role-based systems that plan, run and audit work across field teams and the office. (see SMC Task Management, Veloce Scrap Flow)
2. Inventory &amp; warehousing — Lots, barcodes, bins and ledgers that make every unit of stock traceable. (see Veloce Scrap Flow, City Threads)
3. Business intelligence — Dashboards that turn the systems you already use into clear decisions. (see Clario, Veloce Scrap Flow)
4. Applied AI — Assistants that answer from your own data, with sources — never invented numbers. (see Clario)
5. Mobile-first apps — Designed for one hand on the shop floor and in the field, packaged for Android. (see SMC Task Management, Veloce Scrap Flow, City Threads)
6. Multi-tenant foundations — Workspaces, roles, data isolation and audit trails, ready to scale. (see Veloce Scrap Flow, Clario)
Ask the client which of these matters most, then jump to that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SELECTED WORK — four platforms. Click any card or name to jump to that project; use the section list (left panel) to hide projects you won't present.
01 SMC Task Management (slide 5) — Shaabi Management Consultancy, Audit &amp; consulting. Field audits, planned, run and closed in one system.
02 Veloce Scrap Flow (slide 13) — Veloce, Scrap &amp; recycling. Every kilogram, from weighbridge to dispatch.
03 Clario (slide 21) — A Crita product, Business intelligence. Understand your business, not just your numbers.
04 City Threads (slide 29) — City Threads Textiles, Textile distribution. Every lot, every bin, every dispatch — accounted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SMC TASK MANAGEMENT — Shaabi Management Consultancy (Audit &amp; consulting).
One-liner: “Field audits, planned, run and closed in one system.”
A field-audit operations platform for an audit consultancy. Admins plan visits and define each client’s checklist; executives run every visit from their phone; nothing incomplete is lost between visits.
Live: SMC Task Management
Note: Client, contact and staff names in these screens are anonymised to protect SMC’s confidentiality.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SMC’s executives visit client sites every week to verify operations, stock, accounts and reports — and every client needs a different checklist. Tracking was manual: unfinished items relied on memory to reach the next visit, and management had no live view of progress across the team.
WHAT WE BUILT
Crita built a role-based platform that turns each audit visit into a structured, trackable workflow. Admins schedule visits and configure checklists per client. Executives open the visit on their phone, complete each item or record why it couldn’t be done, and close it only when the rules are met. Unfinished work carries forward — with admin approval — into the next visit.
Ask: “Does this sound like your operation?” — then show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EXPERIENCE
1. The week at a glance — Admins plan visits across the team in a weekly calendar — done, in progress, planned and carried forward, colour-coded.
2. Live operational dashboard — Completion rate, staff performance and task distribution, with every executive’s workload one click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EXPERIENCE
3. Carry-forward, under control — Nothing moves to the next visit until an admin reviews it, chooses the schedule date and approves.
4. A visit, start to finish — Tasks, subtasks, carried items and an activity trail on one screen — then an automatic summary at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CAPABILITIES — pick the two or three that matter to this client:
1. Visit planning &amp; calendar — Schedule, reschedule and reassign visits across executives in a weekly calendar.
2. Client-specific checklists — Each client gets its own task and subtask template, applied to every new visit automatically.
3. Rules that keep audits complete — A visit closes only when required work is done. The MD meeting must be answered and every open item needs a reason.
4. Carry-forward with approval — Unfinished items move into the next visit with their history — after an admin reviews and approves them.
5. Progress, trail and summary — Live progress per visit, a full activity trail and an automatic summary with a rating when the visit closes.
6. Attendance &amp; leave — Executives punch in and request leave from the app; admins review attendance and approve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Admin (Desktop &amp; mobile) — Plans the week and keeps every visit on track. Dashboard of visits, completion rate and staff performance; Weekly calendar for scheduling and reassignment; Carry-forward approvals and client checklists; Executive workload, attendance and leave.
Field Executive (Mobile-first) — Runs each visit on site, from the phone. Pending visits and carried-forward items at a glance; Checklist per task, with reasons for open items; MD meeting confirmation before closing; Punch in, punch out and leave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RESPONSIVE
Executives run every visit from their phone — checklists, reasons, summaries, attendance. Admins get the same live picture on desktop and mobile.
Screens: Executive dashboard · MD meeting and reasons · Visit summary · Attendance and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VALUE
• Live visibility — Management sees the status of every visit and executive without chasing calls.
• Nothing slips between visits — Unfinished items carry forward with their reason, so follow-ups are never lost.
• Consistent audits — Client-specific checklists and closing rules make every visit complete and comparable.
• Less manual reporting — Progress and visit summaries are produced by the system, not compiled by hand.
DELIVERY: Next.js, TypeScript, PostgreSQL, Prisma, Role-based access, Android app.
• Mobile-first web app with an Android build for field executives
• Executives only ever see the visits assigned to them
• Lean data and instant checklist feedback on mobile networks
LIVE DEMO — SMC Task Management
Logins for the live demo are in the presenter copy of this deck.
Next: Veloce Scrap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VELOCE SCRAP FLOW — Veloce (Scrap &amp; recycling).
One-liner: “Every kilogram, from weighbridge to dispatch.”
A yard operating system for a scrap business: a calculator-fast mobile app for the weighbridge and the sorting floor, and a desktop console that gives management live control across yards and warehouses.
Live: Veloce Scrap Management
Note: Screens from the live demonstration yard.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A scrap yard buys mixed material by weight, sorts it into sellable grades and sells it by the truckload. Every step changes the numbers. Without one system, it is hard to know what is in stock, what is waiting to be sorted and what has actually left the yard — and impossible to see it across several yards.
WHAT WE BUILT
Crita built Scrap Flow as a multi-yard platform. Owners and supervisors work in a mobile app designed like a calculator — big keys, live rates, clear steps — while the platform admin manages yards, warehouses, users and analytics from a desktop console. Every action writes to one inventory ledger, updated in real time.
Ask: “Does this sound like your operation?” — then show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EXPERIENCE
1. Weight entry, calculator-fast — Big keys, a live LED display and kg / ton / tonne switching — built for gloved hands at the weighbridge.
2. Segregation that balances — Pick a mixed lot and split it into grades and wastage. Vendor, vehicle and lot history stay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EXPERIENCE
3. One console for every yard — Warehouses, supervisors, stock and records for each yard — with the admin able to step inside any yard.
4. Platform overview — Headline numbers, alerts and pending actions computed by the system, so nothing waits to be 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CAPABILITIES — pick the two or three that matter to this client:
1. Inward at the weighbridge — Vendor, vehicle and multiple weighments on an LED-style keypad, with photo evidence. Each load becomes a traceable lot.
2. Sorting that balances — Mixed lots are split into finished grades and wastage; a run can’t close until every kilogram is accounted for.
3. Sell, allocate, dispatch — A sale reserves stock; supervisors load vehicles against it. The same kilograms can’t be sold twice or over-dispatched.
4. Live stock across warehouses — Stock on hand, sale thresholds and pending work per yard and warehouse, updated as it happens.
5. Admin console &amp; analytics — Yards, warehouses, users and permissions, with analytics for inward, sorting, dispatch and materials.
6. Governance built in — Every privileged action is recorded in an audit log with before-and-after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Admin (Desktop console) — Runs the platform across yards. Platform overview with alerts and pending actions; Yards, warehouses and supervisor assignments; Users, roles and access; Analytics and a full audit log.
Owner (Mobile app) — Runs the yard and the trade. Yard dashboard: stock, ready-to-sell and pending lots; Inward, sorting and materials; Sales, invoices and receivables; Dispatch status per invoice.
Supervisor (Mobile app) — Runs the floor in an assigned warehouse. Materials on hand by category; Inward and sorting; Loading vehicles against allocations; Dispatch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RESPONSIVE
Big keys, high contrast, live rates and one clear step at a time — so weighments, sorting and dispatch are recorded where they happen.
Screens: Yard dashboard · LED weight keypad · Segregation run with a load selected · Active dispatch.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VALUE
• Control without being on site — Owners and admins see stock, pending sorting and dispatch status the moment they change.
• Traceable from vendor to buyer — Lots keep their vendor through sorting and dispatch, so every kilogram has a history.
• Mistakes prevented, not corrected — Rules block double-selling, over-dispatch and unbalanced sorting before they happen.
• Ready for more yards — A multi-yard architecture with strict data isolation between yards.
Client quote (Abhirup, Veloce): “We didn’t need another digital tool; we needed a technology partner who understood how our business worked. CRITA helped us simplify processes, connect different parts of the business, and introduce technology where it could create real value.”
DELIVERY: Next.js, TypeScript, PostgreSQL, Real-time updates, Multi-tenant architecture, Android app.
• 2,500+ automated checks across 36 test suites
• Yard data isolated at session, query and database level
• Number-plate recognition built as a separate computer-vision service (YOLOv8 + PaddleOCR)
LIVE DEMO — Veloce Scrap Management
Logins for the live demo are in the presenter copy of this deck.
Next: Clario.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CLARIO — A Crita product (Business intelligence).
One-liner: “Understand your business, not just your numbers.”
Crita’s own business-intelligence platform. Clario connects to the systems a business already uses — starting with Zoho Books — and turns them into a clear finance command centre, with an assistant that answers in plain words, from the books.
Live: Clario
Note: Shown with a sample company and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Growing businesses keep their figures in accounting software, but turning ledgers into decisions takes reports, spreadsheets and an accountant’s time. Generic AI tools can’t be trusted with financial figures — and every new system adds another place to look.
WHAT WE BUILT
Clario gives each client a private workspace. They connect Zoho Books securely, and Clario turns the data into a finance command centre — overview, trends, receivables, payables and balance sheet. Ask Clario answers questions in plain words using the same figures as the reports, and shows where each answer comes from.
Ask: “Does this sound like your operation?” — then show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EXPERIENCE
1. The business on one screen — Cash on hand, revenue, profit, collections and receivables — each with its basis and as-of date.
2. Answers, with sources — Ask in plain words. Every answer uses the same figures as the reports and says where they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EXPERIENCE
3. What to do next — Signals and decision support turn the figures into an ordered list of what deserves attention.
4. Trends that explain themselves — Billing, collections and spending month by month — every chart with a table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CAPABILITIES — pick the two or three that matter to this client:
1. Secure connection — Zoho Books connects through OAuth with read-only access, into the client’s own workspace.
2. Finance overview — Cash, revenue, profit, collections, costs and receivables on one screen, with performance signals.
3. Ask Clario — Plain-language questions answered from the books, with the source and date of every figure.
4. Decision support — What needs attention, what to consider next and simple scenarios — clearly labelled as guidance.
5. Trends &amp; receivables — Month-by-month billing, collections and spending; overdue ageing and a full invoice register.
6. Workspaces &amp; roles — Every client works in an isolated workspace with its own members and connected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 be precise about what is live.
Live today: Zoho Books connection, the Finance command centre and Ask Clario, on multi-workspace tenancy.
In development: Tally. Planned: inventory connectors (e.g. Veloce, City Threads) and lead management.
Figures are calculated in code; the AI explains them. Each assistant only answers from its own domain’s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RESPONSIVE
Every view — including Ask Clario — adapts to a phone, so owners can check cash or chase receivables between meetings.
Screens: Finance overview · Answer on mobile · Receivables ·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VALUE
• Clarity without reports — Owners see performance, cash and receivables without building spreadsheets.
• Answers you can trust — Every figure traces back to the books, with its date.
• Guidance, in order — Signals and next steps turn numbers into a short list of decisions.
• Built to grow — Each new system Crita connects becomes another module on the same platform.
DELIVERY: React, TypeScript, Python API, PostgreSQL, Zoho Books API, LLM with scoped tools.
• Deterministic finance calculations — the assistant explains figures, never invents them
• Server-side OAuth with encrypted tokens
• Workspace isolation enforced on the server
LIVE DEMO — Clario
Logins for the live demo are in the presenter copy of this deck.
Next: City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CITY THREADS — City Threads Textiles (Textile distribution).
One-liner: “Every lot, every bin, every dispatch — accounted for.”
A warehouse management system for a textile distributor: barcoded stock units, a visual map of every rack and bin, and an order-to-dispatch flow — with a one-handed phone app for the warehouse floor.
Live: City Threads
Note: Demonstration environment with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City Threads stores thread stock across racks and bins in two warehouses. With a fragmented, manual process, finding a lot, knowing which space was free and tracing what moved where took time — and depended on the people who remembered.
WHAT WE BUILT
Crita built a warehouse system where every physical lot becomes a stock unit with a permanent ID and barcode. Administrators manage the structure, orders and stock from a desktop workspace; executives receive, move, count, pick and dispatch from their phone — scanning instead of searching.
Ask: “Does this sound like your operation?” — then show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EXPERIENCE
1. The whole operation, live — Stock, utilisation, locations, count discrepancies and recent sales across both warehouses.
2. Area, rack, bin — A visual map of the floor: capacity, occupancy and blocked locations at every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EXPERIENCE
3. From order to truck — Sales orders move through picking to dispatch, with every quantity reserved and accounted for.
4. Dispatch with proof — Ready-to-ship orders and a full dispatch history with vehicle numbers and who sent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CAPABILITIES — pick the two or three that matter to this client:
1. Barcoded stock units — Every lot gets a permanent Stock ID and Code 128 barcode. Scan it with the phone camera, upload a photo or type the ID.
2. Warehouse explorer — Walk area → rack → bin to see capacity, occupancy and blocked locations, and change the structure in place.
3. Order to dispatch — Purchase orders and goods receipts in; sales orders, pick lists and dispatch out — with stock reserved on the way.
4. Floor operations on the phone — Goods inward, transfer, adjustment, cycle count, picking and dispatch — built for one hand.
5. A ledger that reconciles — Every movement is recorded. Counts verify the shelf without changing stock; differences are corrected with a reason.
6. Commercial visibility — Customers, suppliers, sales and executive performance alongside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Administrator (Desktop workspace) — Sees and shapes the whole operation. Overview of stock, utilisation and recent operations; Warehouse structure: areas, racks and bins; Purchase orders, sales orders and dispatch; Customers, suppliers and users.
Warehouse Executive (Mobile app) — Works the floor, one-handed. Home with capacity and today’s operations; Inward, transfer, adjustment, count, pick and dispatch; Scan or search any stock unit; Personal activity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RESPONSIVE
Executives scan, confirm and move on — inward, transfer, count, pick and dispatch. Administrators plan and review from the desktop.
Screens: Executive home · Stock unit with barcode · Stock transfer · Pick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VALUE
• Find any lot, instantly — Scan a label to see what it is, where it is and what to do next.
• Plan space with confidence — Utilisation and free capacity are visible before put-away.
• Fewer errors on the floor — One identification flow for every operation; counts never change stock silently.
• Real-time visibility — Stock and operations across both warehouses, as they happen.
Client quote (Sreyash, City Threads): “CRITA helped us replace a fragmented inventory process with a much more organised and efficient system. The application gave our team better visibility, reduced manual work, and made it easier to track inventory in real time.”
DELIVERY: Next.js, React, PostgreSQL, Cloudflare Workers, Code 128 barcodes, Android app.
• Camera scanning through the browser’s native barcode detector, with manual entry always available
• Bins are released only when stock reaches zero — enforced in one place
• Served from Cloudflare’s global edge network
LIVE DEMO — City Threads
Demo accounts (Demonstration accounts, also offered on the app’s own login screen.):
   Administrator: admin@citythreads.com  /  Admin@123
   Warehouse Executive: aarav@citythreads.com  /  Exec@123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ask for the next step.
“Tell us where you’re stuck. We’ll come back within one business day with a clear point of view.”
Suggested next step: a short discovery conversation about their operation.
Contact: abishek@crita.in · www.crita.in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6120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5F5EF"/>
        </a:solidFill>
      </p:bgPr>
    </p:bg>
    <p:spTree>
      <p:nvGrpSpPr>
        <p:cNvPr id="1" name=""/>
        <p:cNvGrpSpPr/>
        <p:nvPr/>
      </p:nvGrpSpPr>
      <p:grpSpPr>
        <a:xfrm>
          <a:off x="0" y="0"/>
          <a:ext cx="0" cy="0"/>
          <a:chOff x="0" y="0"/>
          <a:chExt cx="0" cy="0"/>
        </a:xfrm>
      </p:grpSpPr>
      <p:sp>
        <p:nvSpPr>
          <p:cNvPr id="2" name="Text 0"/>
          <p:cNvSpPr/>
          <p:nvPr/>
        </p:nvSpPr>
        <p:spPr>
          <a:xfrm>
            <a:off x="548640" y="6419088"/>
            <a:ext cx="5486400" cy="201168"/>
          </a:xfrm>
          <a:prstGeom prst="rect">
            <a:avLst/>
          </a:prstGeom>
          <a:noFill/>
          <a:ln/>
        </p:spPr>
        <p:txBody>
          <a:bodyPr wrap="square" lIns="0" tIns="0" rIns="0" bIns="0" rtlCol="0" anchor="ctr"/>
          <a:lstStyle/>
          <a:p>
            <a:pPr indent="0" marL="0">
              <a:buNone/>
            </a:pPr>
            <a:r>
              <a:rPr lang="en-US" sz="850" dirty="0">
                <a:solidFill>
                  <a:srgbClr val="5C6A62"/>
                </a:solidFill>
              </a:rPr>
              <a:t>Crita Creative LLP — Selected work 2026</a:t>
            </a:r>
            <a:endParaRPr lang="en-US" sz="850" dirty="0"/>
          </a:p>
        </p:txBody>
      </p:sp>
      <p:sp>
        <p:nvSpPr>
          <p:cNvPr id="3" name="Text 1"/>
          <p:cNvSpPr/>
          <p:nvPr>
            <p:ph idx="101" type="title" hasCustomPrompt="1"/>
          </p:nvPr>
        </p:nvSpPr>
        <p:spPr>
          <a:xfrm>
            <a:off x="548640" y="768096"/>
            <a:ext cx="9144000" cy="685800"/>
          </a:xfrm>
          <a:prstGeom prst="rect">
            <a:avLst/>
          </a:prstGeom>
          <a:noFill/>
          <a:ln/>
        </p:spPr>
        <p:txBody>
          <a:bodyPr wrap="square" rtlCol="0"/>
          <a:lstStyle>
            <a:lvl1pPr algn="l" indent="0" marL="0">
              <a:buNone/>
              <a:defRPr lang="en-US" sz="2800" b="1" spc="-60" kern="0" dirty="0">
                <a:solidFill>
                  <a:srgbClr val="0D1813"/>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6120D"/>
        </a:solidFill>
      </p:bgPr>
    </p:bg>
    <p:spTree>
      <p:nvGrpSpPr>
        <p:cNvPr id="1" name=""/>
        <p:cNvGrpSpPr/>
        <p:nvPr/>
      </p:nvGrpSpPr>
      <p:grpSpPr>
        <a:xfrm>
          <a:off x="0" y="0"/>
          <a:ext cx="0" cy="0"/>
          <a:chOff x="0" y="0"/>
          <a:chExt cx="0" cy="0"/>
        </a:xfrm>
      </p:grpSpPr>
      <p:sp>
        <p:nvSpPr>
          <p:cNvPr id="2" name="Text 0"/>
          <p:cNvSpPr/>
          <p:nvPr/>
        </p:nvSpPr>
        <p:spPr>
          <a:xfrm>
            <a:off x="548640" y="6419088"/>
            <a:ext cx="5486400" cy="201168"/>
          </a:xfrm>
          <a:prstGeom prst="rect">
            <a:avLst/>
          </a:prstGeom>
          <a:noFill/>
          <a:ln/>
        </p:spPr>
        <p:txBody>
          <a:bodyPr wrap="square" lIns="0" tIns="0" rIns="0" bIns="0" rtlCol="0" anchor="ctr"/>
          <a:lstStyle/>
          <a:p>
            <a:pPr indent="0" marL="0">
              <a:buNone/>
            </a:pPr>
            <a:r>
              <a:rPr lang="en-US" sz="850" dirty="0">
                <a:solidFill>
                  <a:srgbClr val="8C938B"/>
                </a:solidFill>
              </a:rPr>
              <a:t>Crita Creative LLP — Selected work 2026</a:t>
            </a:r>
            <a:endParaRPr lang="en-US" sz="850" dirty="0"/>
          </a:p>
        </p:txBody>
      </p:sp>
      <p:sp>
        <p:nvSpPr>
          <p:cNvPr id="3" name="Text 1"/>
          <p:cNvSpPr/>
          <p:nvPr>
            <p:ph idx="101" type="title" hasCustomPrompt="1"/>
          </p:nvPr>
        </p:nvSpPr>
        <p:spPr>
          <a:xfrm>
            <a:off x="548640" y="768096"/>
            <a:ext cx="9144000" cy="685800"/>
          </a:xfrm>
          <a:prstGeom prst="rect">
            <a:avLst/>
          </a:prstGeom>
          <a:noFill/>
          <a:ln/>
        </p:spPr>
        <p:txBody>
          <a:bodyPr wrap="square" rtlCol="0"/>
          <a:lstStyle>
            <a:lvl1pPr algn="l" indent="0" marL="0">
              <a:buNone/>
              <a:defRPr lang="en-US" sz="2800" b="1" spc="-60" kern="0" dirty="0">
                <a:solidFill>
                  <a:srgbClr val="EEF0E6"/>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8C938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roject Intro Light">
    <p:bg>
      <p:bgPr>
        <a:solidFill>
          <a:srgbClr val="F5F5EF"/>
        </a:solidFill>
      </p:bgPr>
    </p:bg>
    <p:spTree>
      <p:nvGrpSpPr>
        <p:cNvPr id="1" name=""/>
        <p:cNvGrpSpPr/>
        <p:nvPr/>
      </p:nvGrpSpPr>
      <p:grpSpPr>
        <a:xfrm>
          <a:off x="0" y="0"/>
          <a:ext cx="0" cy="0"/>
          <a:chOff x="0" y="0"/>
          <a:chExt cx="0" cy="0"/>
        </a:xfrm>
      </p:grpSpPr>
      <p:sp>
        <p:nvSpPr>
          <p:cNvPr id="2" name="Text 0"/>
          <p:cNvSpPr/>
          <p:nvPr/>
        </p:nvSpPr>
        <p:spPr>
          <a:xfrm>
            <a:off x="548640" y="6419088"/>
            <a:ext cx="5486400" cy="201168"/>
          </a:xfrm>
          <a:prstGeom prst="rect">
            <a:avLst/>
          </a:prstGeom>
          <a:noFill/>
          <a:ln/>
        </p:spPr>
        <p:txBody>
          <a:bodyPr wrap="square" lIns="0" tIns="0" rIns="0" bIns="0" rtlCol="0" anchor="ctr"/>
          <a:lstStyle/>
          <a:p>
            <a:pPr indent="0" marL="0">
              <a:buNone/>
            </a:pPr>
            <a:r>
              <a:rPr lang="en-US" sz="850" dirty="0">
                <a:solidFill>
                  <a:srgbClr val="5C6A62"/>
                </a:solidFill>
              </a:rPr>
              <a:t>Crita Creative LLP — Selected work 2026</a:t>
            </a:r>
            <a:endParaRPr lang="en-US" sz="850" dirty="0"/>
          </a:p>
        </p:txBody>
      </p:sp>
      <p:sp>
        <p:nvSpPr>
          <p:cNvPr id="3" name="Text 1"/>
          <p:cNvSpPr/>
          <p:nvPr>
            <p:ph idx="101" type="title" hasCustomPrompt="1"/>
          </p:nvPr>
        </p:nvSpPr>
        <p:spPr>
          <a:xfrm>
            <a:off x="548640" y="896112"/>
            <a:ext cx="4800600" cy="1481328"/>
          </a:xfrm>
          <a:prstGeom prst="rect">
            <a:avLst/>
          </a:prstGeom>
          <a:noFill/>
          <a:ln/>
        </p:spPr>
        <p:txBody>
          <a:bodyPr wrap="square" rtlCol="0"/>
          <a:lstStyle>
            <a:lvl1pPr algn="l" indent="0" marL="0">
              <a:lnSpc>
                <a:spcPct val="92000"/>
              </a:lnSpc>
              <a:buNone/>
              <a:defRPr lang="en-US" sz="4000" b="1" spc="-100" kern="0" dirty="0">
                <a:solidFill>
                  <a:srgbClr val="0D1813"/>
                </a:solidFill>
              </a:defRPr>
            </a:lvl1pPr>
          </a:lstStyle>
          <a:p>
            <a:pPr algn="l" indent="0" marL="0">
              <a:lnSpc>
                <a:spcPct val="92000"/>
              </a:lnSpc>
              <a:buNone/>
            </a:pPr>
            <a:endParaRPr lang="en-US" sz="4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roject Intro Dark">
    <p:bg>
      <p:bgPr>
        <a:solidFill>
          <a:srgbClr val="06120D"/>
        </a:solidFill>
      </p:bgPr>
    </p:bg>
    <p:spTree>
      <p:nvGrpSpPr>
        <p:cNvPr id="1" name=""/>
        <p:cNvGrpSpPr/>
        <p:nvPr/>
      </p:nvGrpSpPr>
      <p:grpSpPr>
        <a:xfrm>
          <a:off x="0" y="0"/>
          <a:ext cx="0" cy="0"/>
          <a:chOff x="0" y="0"/>
          <a:chExt cx="0" cy="0"/>
        </a:xfrm>
      </p:grpSpPr>
      <p:sp>
        <p:nvSpPr>
          <p:cNvPr id="2" name="Text 0"/>
          <p:cNvSpPr/>
          <p:nvPr/>
        </p:nvSpPr>
        <p:spPr>
          <a:xfrm>
            <a:off x="548640" y="6419088"/>
            <a:ext cx="5486400" cy="201168"/>
          </a:xfrm>
          <a:prstGeom prst="rect">
            <a:avLst/>
          </a:prstGeom>
          <a:noFill/>
          <a:ln/>
        </p:spPr>
        <p:txBody>
          <a:bodyPr wrap="square" lIns="0" tIns="0" rIns="0" bIns="0" rtlCol="0" anchor="ctr"/>
          <a:lstStyle/>
          <a:p>
            <a:pPr indent="0" marL="0">
              <a:buNone/>
            </a:pPr>
            <a:r>
              <a:rPr lang="en-US" sz="850" dirty="0">
                <a:solidFill>
                  <a:srgbClr val="8C938B"/>
                </a:solidFill>
              </a:rPr>
              <a:t>Crita Creative LLP — Selected work 2026</a:t>
            </a:r>
            <a:endParaRPr lang="en-US" sz="850" dirty="0"/>
          </a:p>
        </p:txBody>
      </p:sp>
      <p:sp>
        <p:nvSpPr>
          <p:cNvPr id="3" name="Text 1"/>
          <p:cNvSpPr/>
          <p:nvPr>
            <p:ph idx="101" type="title" hasCustomPrompt="1"/>
          </p:nvPr>
        </p:nvSpPr>
        <p:spPr>
          <a:xfrm>
            <a:off x="548640" y="896112"/>
            <a:ext cx="4800600" cy="1481328"/>
          </a:xfrm>
          <a:prstGeom prst="rect">
            <a:avLst/>
          </a:prstGeom>
          <a:noFill/>
          <a:ln/>
        </p:spPr>
        <p:txBody>
          <a:bodyPr wrap="square" rtlCol="0"/>
          <a:lstStyle>
            <a:lvl1pPr algn="l" indent="0" marL="0">
              <a:lnSpc>
                <a:spcPct val="92000"/>
              </a:lnSpc>
              <a:buNone/>
              <a:defRPr lang="en-US" sz="4000" b="1" spc="-100" kern="0" dirty="0">
                <a:solidFill>
                  <a:srgbClr val="EEF0E6"/>
                </a:solidFill>
              </a:defRPr>
            </a:lvl1pPr>
          </a:lstStyle>
          <a:p>
            <a:pPr algn="l" indent="0" marL="0">
              <a:lnSpc>
                <a:spcPct val="92000"/>
              </a:lnSpc>
              <a:buNone/>
            </a:pPr>
            <a:endParaRPr lang="en-US" sz="4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8C938B"/>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 Target="slide5.xml"/><Relationship Id="rId5" Type="http://schemas.openxmlformats.org/officeDocument/2006/relationships/slide" Target="slide13.xml"/><Relationship Id="rId6" Type="http://schemas.openxmlformats.org/officeDocument/2006/relationships/slide" Target="slide21.xml"/><Relationship Id="rId7" Type="http://schemas.openxmlformats.org/officeDocument/2006/relationships/slide" Target="slide29.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5" Type="http://schemas.openxmlformats.org/officeDocument/2006/relationships/slide" Target="slide13.xml"/><Relationship Id="rId7" Type="http://schemas.openxmlformats.org/officeDocument/2006/relationships/slide" Target="slide21.xml"/><Relationship Id="rId9" Type="http://schemas.openxmlformats.org/officeDocument/2006/relationships/slide" Target="slide29.xml"/><Relationship Id="rId1" Type="http://schemas.openxmlformats.org/officeDocument/2006/relationships/image" Target="../media/image-4-1.png"/><Relationship Id="rId2" Type="http://schemas.openxmlformats.org/officeDocument/2006/relationships/image" Target="../media/image-4-2.jpg"/><Relationship Id="rId4" Type="http://schemas.openxmlformats.org/officeDocument/2006/relationships/image" Target="../media/image-4-3.jpg"/><Relationship Id="rId6" Type="http://schemas.openxmlformats.org/officeDocument/2006/relationships/image" Target="../media/image-4-4.jpg"/><Relationship Id="rId8" Type="http://schemas.openxmlformats.org/officeDocument/2006/relationships/image" Target="../media/image-4-5.jp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jp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5" Type="http://schemas.openxmlformats.org/officeDocument/2006/relationships/hyperlink" Target="https://smc-crita.vercel.app/login" TargetMode="External"/><Relationship Id="rId6" Type="http://schemas.openxmlformats.org/officeDocument/2006/relationships/hyperlink" Target="https://smc-crita.vercel.app/login" TargetMode="External"/><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6.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3.jp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4" Type="http://schemas.openxmlformats.org/officeDocument/2006/relationships/hyperlink" Target="https://scrap-flow-veloce-crita.vercel.app/" TargetMode="External"/><Relationship Id="rId5" Type="http://schemas.openxmlformats.org/officeDocument/2006/relationships/hyperlink" Target="https://scrap-flow-veloce-crita.vercel.app/" TargetMode="External"/><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image" Target="../media/image-20-1.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jpg"/><Relationship Id="rId3" Type="http://schemas.openxmlformats.org/officeDocument/2006/relationships/slideLayout" Target="../slideLayouts/slideLayout5.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image" Target="../media/image-22-3.jp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slideLayout" Target="../slideLayouts/slideLayout3.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jpg"/><Relationship Id="rId3" Type="http://schemas.openxmlformats.org/officeDocument/2006/relationships/image" Target="../media/image-24-3.jp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jp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g"/><Relationship Id="rId3" Type="http://schemas.openxmlformats.org/officeDocument/2006/relationships/slideLayout" Target="../slideLayouts/slideLayout3.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5" Type="http://schemas.openxmlformats.org/officeDocument/2006/relationships/hyperlink" Target="https://clariocrita.vercel.app/login?next=%2F" TargetMode="External"/><Relationship Id="rId6" Type="http://schemas.openxmlformats.org/officeDocument/2006/relationships/hyperlink" Target="https://clariocrita.vercel.app/login?next=%2F" TargetMode="External"/><Relationship Id="rId1" Type="http://schemas.openxmlformats.org/officeDocument/2006/relationships/image" Target="../media/image-28-1.png"/><Relationship Id="rId2" Type="http://schemas.openxmlformats.org/officeDocument/2006/relationships/image" Target="../media/image-28-1.png"/><Relationship Id="rId3" Type="http://schemas.openxmlformats.org/officeDocument/2006/relationships/image" Target="../media/image-28-1.png"/><Relationship Id="rId4" Type="http://schemas.openxmlformats.org/officeDocument/2006/relationships/image" Target="../media/image-28-1.png"/><Relationship Id="rId7" Type="http://schemas.openxmlformats.org/officeDocument/2006/relationships/slideLayout" Target="../slideLayouts/slideLayout3.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g"/><Relationship Id="rId3" Type="http://schemas.openxmlformats.org/officeDocument/2006/relationships/slideLayout" Target="../slideLayouts/slideLayout5.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1.png"/><Relationship Id="rId3" Type="http://schemas.openxmlformats.org/officeDocument/2006/relationships/image" Target="../media/image-30-3.jpg"/><Relationship Id="rId4" Type="http://schemas.openxmlformats.org/officeDocument/2006/relationships/slideLayout" Target="../slideLayouts/slideLayout3.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jpg"/><Relationship Id="rId3" Type="http://schemas.openxmlformats.org/officeDocument/2006/relationships/image" Target="../media/image-31-3.jpg"/><Relationship Id="rId4" Type="http://schemas.openxmlformats.org/officeDocument/2006/relationships/slideLayout" Target="../slideLayouts/slideLayout3.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jpg"/><Relationship Id="rId3" Type="http://schemas.openxmlformats.org/officeDocument/2006/relationships/image" Target="../media/image-32-3.jpg"/><Relationship Id="rId4" Type="http://schemas.openxmlformats.org/officeDocument/2006/relationships/slideLayout" Target="../slideLayouts/slideLayout3.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jpg"/><Relationship Id="rId3" Type="http://schemas.openxmlformats.org/officeDocument/2006/relationships/slideLayout" Target="../slideLayouts/slideLayout3.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jpg"/><Relationship Id="rId3" Type="http://schemas.openxmlformats.org/officeDocument/2006/relationships/image" Target="../media/image-34-3.jpg"/><Relationship Id="rId4" Type="http://schemas.openxmlformats.org/officeDocument/2006/relationships/slideLayout" Target="../slideLayouts/slideLayout3.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jpg"/><Relationship Id="rId3" Type="http://schemas.openxmlformats.org/officeDocument/2006/relationships/slideLayout" Target="../slideLayouts/slideLayout3.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4" Type="http://schemas.openxmlformats.org/officeDocument/2006/relationships/hyperlink" Target="https://city-threads-prototype.prince-4a5.workers.dev/" TargetMode="External"/><Relationship Id="rId5" Type="http://schemas.openxmlformats.org/officeDocument/2006/relationships/hyperlink" Target="https://city-threads-prototype.prince-4a5.workers.dev/" TargetMode="External"/><Relationship Id="rId1" Type="http://schemas.openxmlformats.org/officeDocument/2006/relationships/image" Target="../media/image-36-1.png"/><Relationship Id="rId2" Type="http://schemas.openxmlformats.org/officeDocument/2006/relationships/image" Target="../media/image-36-1.png"/><Relationship Id="rId3" Type="http://schemas.openxmlformats.org/officeDocument/2006/relationships/image" Target="../media/image-36-1.png"/><Relationship Id="rId6" Type="http://schemas.openxmlformats.org/officeDocument/2006/relationships/slideLayout" Target="../slideLayouts/slideLayout3.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hyperlink" Target="mailto:abishek@crita.in" TargetMode="External"/><Relationship Id="rId4" Type="http://schemas.openxmlformats.org/officeDocument/2006/relationships/hyperlink" Target="https://www.crita.in" TargetMode="External"/><Relationship Id="rId1" Type="http://schemas.openxmlformats.org/officeDocument/2006/relationships/image" Target="../media/image-37-1.png"/><Relationship Id="rId2" Type="http://schemas.openxmlformats.org/officeDocument/2006/relationships/image" Target="../media/image-37-2.png"/><Relationship Id="rId5" Type="http://schemas.openxmlformats.org/officeDocument/2006/relationships/image" Target="../media/image-37-3.png"/><Relationship Id="rId6" Type="http://schemas.openxmlformats.org/officeDocument/2006/relationships/slideLayout" Target="../slideLayouts/slideLayout2.xml"/><Relationship Id="rId7"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rita">    </p:cNvPr>
          <p:cNvPicPr>
            <a:picLocks noChangeAspect="1"/>
          </p:cNvPicPr>
          <p:nvPr/>
        </p:nvPicPr>
        <p:blipFill>
          <a:blip r:embed="rId1"/>
          <a:stretch>
            <a:fillRect/>
          </a:stretch>
        </p:blipFill>
        <p:spPr>
          <a:xfrm>
            <a:off x="548640" y="502920"/>
            <a:ext cx="1417320" cy="272900"/>
          </a:xfrm>
          <a:prstGeom prst="rect">
            <a:avLst/>
          </a:prstGeom>
        </p:spPr>
      </p:pic>
      <p:sp>
        <p:nvSpPr>
          <p:cNvPr id="3" name="Text 0"/>
          <p:cNvSpPr txBox="1"/>
          <p:nvPr/>
        </p:nvSpPr>
        <p:spPr>
          <a:xfrm>
            <a:off x="8534095" y="530352"/>
            <a:ext cx="3108960" cy="219456"/>
          </a:xfrm>
          <a:prstGeom prst="rect">
            <a:avLst/>
          </a:prstGeom>
          <a:noFill/>
          <a:ln/>
        </p:spPr>
        <p:txBody>
          <a:bodyPr wrap="square" lIns="0" tIns="0" rIns="0" bIns="0" rtlCol="0" anchor="ctr"/>
          <a:lstStyle/>
          <a:p>
            <a:pPr algn="r" indent="0" marL="0">
              <a:buNone/>
            </a:pPr>
            <a:r>
              <a:rPr lang="en-US" sz="900" b="1" spc="200" kern="0" dirty="0">
                <a:solidFill>
                  <a:srgbClr val="8C938B"/>
                </a:solidFill>
              </a:rPr>
              <a:t>SELECTED WORK 2026</a:t>
            </a:r>
            <a:endParaRPr lang="en-US" sz="900" dirty="0"/>
          </a:p>
        </p:txBody>
      </p:sp>
      <p:pic>
        <p:nvPicPr>
          <p:cNvPr id="4" name="Image 1" descr="F:\Office Project\Crita Portfolio\portfolio\ppt\brand\c.png">    </p:cNvPr>
          <p:cNvPicPr>
            <a:picLocks noChangeAspect="1"/>
          </p:cNvPicPr>
          <p:nvPr/>
        </p:nvPicPr>
        <p:blipFill>
          <a:blip r:embed="rId2"/>
          <a:stretch>
            <a:fillRect/>
          </a:stretch>
        </p:blipFill>
        <p:spPr>
          <a:xfrm>
            <a:off x="548640" y="1613916"/>
            <a:ext cx="182880" cy="134417"/>
          </a:xfrm>
          <a:prstGeom prst="rect">
            <a:avLst/>
          </a:prstGeom>
        </p:spPr>
      </p:pic>
      <p:sp>
        <p:nvSpPr>
          <p:cNvPr id="5" name="Text 1"/>
          <p:cNvSpPr txBox="1"/>
          <p:nvPr/>
        </p:nvSpPr>
        <p:spPr>
          <a:xfrm>
            <a:off x="813816" y="1572768"/>
            <a:ext cx="4206240" cy="219456"/>
          </a:xfrm>
          <a:prstGeom prst="rect">
            <a:avLst/>
          </a:prstGeom>
          <a:noFill/>
          <a:ln/>
        </p:spPr>
        <p:txBody>
          <a:bodyPr wrap="square" lIns="0" tIns="0" rIns="0" bIns="0" rtlCol="0" anchor="ctr"/>
          <a:lstStyle/>
          <a:p>
            <a:pPr indent="0" marL="0">
              <a:buNone/>
            </a:pPr>
            <a:r>
              <a:rPr lang="en-US" sz="900" b="1" spc="200" kern="0" dirty="0">
                <a:solidFill>
                  <a:srgbClr val="8C938B"/>
                </a:solidFill>
              </a:rPr>
              <a:t>CONSULTING-LED TECHNOLOGY PARTNER</a:t>
            </a:r>
            <a:endParaRPr lang="en-US" sz="900" dirty="0"/>
          </a:p>
        </p:txBody>
      </p:sp>
      <p:sp>
        <p:nvSpPr>
          <p:cNvPr id="6" name="Text 2"/>
          <p:cNvSpPr txBox="1"/>
          <p:nvPr/>
        </p:nvSpPr>
        <p:spPr>
          <a:xfrm>
            <a:off x="548640" y="1901952"/>
            <a:ext cx="5212080" cy="2331720"/>
          </a:xfrm>
          <a:prstGeom prst="rect">
            <a:avLst/>
          </a:prstGeom>
          <a:noFill/>
          <a:ln/>
        </p:spPr>
        <p:txBody>
          <a:bodyPr wrap="square" lIns="0" tIns="0" rIns="0" bIns="0" rtlCol="0" anchor="t"/>
          <a:lstStyle/>
          <a:p>
            <a:pPr indent="0" marL="0">
              <a:lnSpc>
                <a:spcPct val="90000"/>
              </a:lnSpc>
              <a:buNone/>
            </a:pPr>
            <a:r>
              <a:rPr lang="en-US" sz="4400" b="1" spc="-120" kern="0" dirty="0">
                <a:solidFill>
                  <a:srgbClr val="EEF0E6"/>
                </a:solidFill>
              </a:rPr>
              <a:t>Software that brings </a:t>
            </a:r>
            <a:pPr indent="0" marL="0">
              <a:lnSpc>
                <a:spcPct val="90000"/>
              </a:lnSpc>
              <a:buNone/>
            </a:pPr>
            <a:r>
              <a:rPr lang="en-US" sz="4400" b="1" spc="-120" kern="0" dirty="0">
                <a:solidFill>
                  <a:srgbClr val="D6E151"/>
                </a:solidFill>
              </a:rPr>
              <a:t>clarity</a:t>
            </a:r>
            <a:pPr indent="0" marL="0">
              <a:lnSpc>
                <a:spcPct val="90000"/>
              </a:lnSpc>
              <a:buNone/>
            </a:pPr>
            <a:r>
              <a:rPr lang="en-US" sz="4400" b="1" spc="-120" kern="0" dirty="0">
                <a:solidFill>
                  <a:srgbClr val="EEF0E6"/>
                </a:solidFill>
              </a:rPr>
              <a:t> to complex operations.</a:t>
            </a:r>
            <a:endParaRPr lang="en-US" sz="4400" dirty="0"/>
          </a:p>
        </p:txBody>
      </p:sp>
      <p:sp>
        <p:nvSpPr>
          <p:cNvPr id="7" name="Text 3"/>
          <p:cNvSpPr txBox="1"/>
          <p:nvPr/>
        </p:nvSpPr>
        <p:spPr>
          <a:xfrm>
            <a:off x="548640" y="4315968"/>
            <a:ext cx="4846320" cy="1051560"/>
          </a:xfrm>
          <a:prstGeom prst="rect">
            <a:avLst/>
          </a:prstGeom>
          <a:noFill/>
          <a:ln/>
        </p:spPr>
        <p:txBody>
          <a:bodyPr wrap="square" lIns="0" tIns="0" rIns="0" bIns="0" rtlCol="0" anchor="t"/>
          <a:lstStyle/>
          <a:p>
            <a:pPr indent="0" marL="0">
              <a:lnSpc>
                <a:spcPct val="112000"/>
              </a:lnSpc>
              <a:buNone/>
            </a:pPr>
            <a:r>
              <a:rPr lang="en-US" sz="1300" dirty="0">
                <a:solidFill>
                  <a:srgbClr val="BFC4BA"/>
                </a:solidFill>
              </a:rPr>
              <a:t>Crita Creative LLP is a consulting-led technology partner. We design and build custom business platforms — for field teams, warehouses, scrap yards and finance — around the way each business actually works.</a:t>
            </a:r>
            <a:endParaRPr lang="en-US" sz="1300" dirty="0"/>
          </a:p>
        </p:txBody>
      </p:sp>
      <p:pic>
        <p:nvPicPr>
          <p:cNvPr id="8" name="Image 2" descr="Screens from SMC Task Management, Clario, Veloce Scrap Flow and City Threads">    </p:cNvPr>
          <p:cNvPicPr>
            <a:picLocks noChangeAspect="1"/>
          </p:cNvPicPr>
          <p:nvPr/>
        </p:nvPicPr>
        <p:blipFill>
          <a:blip r:embed="rId3"/>
          <a:stretch>
            <a:fillRect/>
          </a:stretch>
        </p:blipFill>
        <p:spPr>
          <a:xfrm>
            <a:off x="5691998" y="991372"/>
            <a:ext cx="6263924" cy="4752116"/>
          </a:xfrm>
          <a:prstGeom prst="rect">
            <a:avLst/>
          </a:prstGeom>
        </p:spPr>
      </p:pic>
      <p:sp>
        <p:nvSpPr>
          <p:cNvPr id="9" name="Shape 4"/>
          <p:cNvSpPr/>
          <p:nvPr/>
        </p:nvSpPr>
        <p:spPr>
          <a:xfrm>
            <a:off x="548640" y="5687568"/>
            <a:ext cx="11094415" cy="0"/>
          </a:xfrm>
          <a:prstGeom prst="line">
            <a:avLst/>
          </a:prstGeom>
          <a:noFill/>
          <a:ln w="9525">
            <a:solidFill>
              <a:srgbClr val="2A3832"/>
            </a:solidFill>
            <a:prstDash val="solid"/>
          </a:ln>
        </p:spPr>
      </p:sp>
      <p:sp>
        <p:nvSpPr>
          <p:cNvPr id="10" name="Text 5"/>
          <p:cNvSpPr txBox="1"/>
          <p:nvPr/>
        </p:nvSpPr>
        <p:spPr>
          <a:xfrm>
            <a:off x="548640" y="5815584"/>
            <a:ext cx="2651760" cy="713232"/>
          </a:xfrm>
          <a:prstGeom prst="rect">
            <a:avLst/>
          </a:prstGeom>
          <a:noFill/>
          <a:ln/>
        </p:spPr>
        <p:txBody>
          <a:bodyPr wrap="square" lIns="0" tIns="0" rIns="0" bIns="0" rtlCol="0" anchor="t"/>
          <a:lstStyle/>
          <a:p>
            <a:pPr indent="0" marL="0">
              <a:lnSpc>
                <a:spcPct val="105000"/>
              </a:lnSpc>
              <a:buNone/>
            </a:pPr>
            <a:r>
              <a:rPr lang="en-US" sz="950" b="1" dirty="0">
                <a:solidFill>
                  <a:srgbClr val="D6E151"/>
                </a:solidFill>
              </a:rPr>
              <a:t>01</a:t>
            </a:r>
            <a:endParaRPr lang="en-US" sz="950" dirty="0"/>
          </a:p>
          <a:p>
            <a:pPr indent="0" marL="0">
              <a:lnSpc>
                <a:spcPct val="105000"/>
              </a:lnSpc>
              <a:buNone/>
            </a:pPr>
            <a:r>
              <a:rPr lang="en-US" sz="1250" b="1" dirty="0">
                <a:solidFill>
                  <a:srgbClr val="EEF0E6"/>
                </a:solidFill>
              </a:rPr>
              <a:t>SMC Task Management</a:t>
            </a:r>
            <a:endParaRPr lang="en-US" sz="950" dirty="0"/>
          </a:p>
          <a:p>
            <a:pPr indent="0" marL="0">
              <a:lnSpc>
                <a:spcPct val="105000"/>
              </a:lnSpc>
              <a:buNone/>
            </a:pPr>
            <a:r>
              <a:rPr lang="en-US" sz="950" dirty="0">
                <a:solidFill>
                  <a:srgbClr val="8C938B"/>
                </a:solidFill>
              </a:rPr>
              <a:t>Field operations platform</a:t>
            </a:r>
            <a:endParaRPr lang="en-US" sz="950" dirty="0"/>
          </a:p>
        </p:txBody>
      </p:sp>
      <p:sp>
        <p:nvSpPr>
          <p:cNvPr id="11" name="Shape 6">
            <a:hlinkClick r:id="rId4" tooltip="Go to SMC Task Management" action="ppaction://hlinksldjump"/>
          </p:cNvPr>
          <p:cNvSpPr/>
          <p:nvPr/>
        </p:nvSpPr>
        <p:spPr>
          <a:xfrm>
            <a:off x="548640" y="5779008"/>
            <a:ext cx="2651760" cy="749808"/>
          </a:xfrm>
          <a:prstGeom prst="rect">
            <a:avLst/>
          </a:prstGeom>
          <a:solidFill>
            <a:srgbClr val="FFFFFF">
              <a:alpha val="0"/>
            </a:srgbClr>
          </a:solidFill>
          <a:ln/>
        </p:spPr>
      </p:sp>
      <p:sp>
        <p:nvSpPr>
          <p:cNvPr id="12" name="Text 7"/>
          <p:cNvSpPr txBox="1"/>
          <p:nvPr/>
        </p:nvSpPr>
        <p:spPr>
          <a:xfrm>
            <a:off x="3346704" y="5815584"/>
            <a:ext cx="2651760" cy="713232"/>
          </a:xfrm>
          <a:prstGeom prst="rect">
            <a:avLst/>
          </a:prstGeom>
          <a:noFill/>
          <a:ln/>
        </p:spPr>
        <p:txBody>
          <a:bodyPr wrap="square" lIns="0" tIns="0" rIns="0" bIns="0" rtlCol="0" anchor="t"/>
          <a:lstStyle/>
          <a:p>
            <a:pPr indent="0" marL="0">
              <a:lnSpc>
                <a:spcPct val="105000"/>
              </a:lnSpc>
              <a:buNone/>
            </a:pPr>
            <a:r>
              <a:rPr lang="en-US" sz="950" b="1" dirty="0">
                <a:solidFill>
                  <a:srgbClr val="D6E151"/>
                </a:solidFill>
              </a:rPr>
              <a:t>02</a:t>
            </a:r>
            <a:endParaRPr lang="en-US" sz="950" dirty="0"/>
          </a:p>
          <a:p>
            <a:pPr indent="0" marL="0">
              <a:lnSpc>
                <a:spcPct val="105000"/>
              </a:lnSpc>
              <a:buNone/>
            </a:pPr>
            <a:r>
              <a:rPr lang="en-US" sz="1250" b="1" dirty="0">
                <a:solidFill>
                  <a:srgbClr val="EEF0E6"/>
                </a:solidFill>
              </a:rPr>
              <a:t>Veloce Scrap Flow</a:t>
            </a:r>
            <a:endParaRPr lang="en-US" sz="950" dirty="0"/>
          </a:p>
          <a:p>
            <a:pPr indent="0" marL="0">
              <a:lnSpc>
                <a:spcPct val="105000"/>
              </a:lnSpc>
              <a:buNone/>
            </a:pPr>
            <a:r>
              <a:rPr lang="en-US" sz="950" dirty="0">
                <a:solidFill>
                  <a:srgbClr val="8C938B"/>
                </a:solidFill>
              </a:rPr>
              <a:t>Yard operations &amp; inventory platform</a:t>
            </a:r>
            <a:endParaRPr lang="en-US" sz="950" dirty="0"/>
          </a:p>
        </p:txBody>
      </p:sp>
      <p:sp>
        <p:nvSpPr>
          <p:cNvPr id="13" name="Shape 8">
            <a:hlinkClick r:id="rId5" tooltip="Go to Veloce Scrap Flow" action="ppaction://hlinksldjump"/>
          </p:cNvPr>
          <p:cNvSpPr/>
          <p:nvPr/>
        </p:nvSpPr>
        <p:spPr>
          <a:xfrm>
            <a:off x="3346704" y="5779008"/>
            <a:ext cx="2651760" cy="749808"/>
          </a:xfrm>
          <a:prstGeom prst="rect">
            <a:avLst/>
          </a:prstGeom>
          <a:solidFill>
            <a:srgbClr val="FFFFFF">
              <a:alpha val="0"/>
            </a:srgbClr>
          </a:solidFill>
          <a:ln/>
        </p:spPr>
      </p:sp>
      <p:sp>
        <p:nvSpPr>
          <p:cNvPr id="14" name="Text 9"/>
          <p:cNvSpPr txBox="1"/>
          <p:nvPr/>
        </p:nvSpPr>
        <p:spPr>
          <a:xfrm>
            <a:off x="6144768" y="5815584"/>
            <a:ext cx="2651760" cy="713232"/>
          </a:xfrm>
          <a:prstGeom prst="rect">
            <a:avLst/>
          </a:prstGeom>
          <a:noFill/>
          <a:ln/>
        </p:spPr>
        <p:txBody>
          <a:bodyPr wrap="square" lIns="0" tIns="0" rIns="0" bIns="0" rtlCol="0" anchor="t"/>
          <a:lstStyle/>
          <a:p>
            <a:pPr indent="0" marL="0">
              <a:lnSpc>
                <a:spcPct val="105000"/>
              </a:lnSpc>
              <a:buNone/>
            </a:pPr>
            <a:r>
              <a:rPr lang="en-US" sz="950" b="1" dirty="0">
                <a:solidFill>
                  <a:srgbClr val="D6E151"/>
                </a:solidFill>
              </a:rPr>
              <a:t>03</a:t>
            </a:r>
            <a:endParaRPr lang="en-US" sz="950" dirty="0"/>
          </a:p>
          <a:p>
            <a:pPr indent="0" marL="0">
              <a:lnSpc>
                <a:spcPct val="105000"/>
              </a:lnSpc>
              <a:buNone/>
            </a:pPr>
            <a:r>
              <a:rPr lang="en-US" sz="1250" b="1" dirty="0">
                <a:solidFill>
                  <a:srgbClr val="EEF0E6"/>
                </a:solidFill>
              </a:rPr>
              <a:t>Clario</a:t>
            </a:r>
            <a:endParaRPr lang="en-US" sz="950" dirty="0"/>
          </a:p>
          <a:p>
            <a:pPr indent="0" marL="0">
              <a:lnSpc>
                <a:spcPct val="105000"/>
              </a:lnSpc>
              <a:buNone/>
            </a:pPr>
            <a:r>
              <a:rPr lang="en-US" sz="950" dirty="0">
                <a:solidFill>
                  <a:srgbClr val="8C938B"/>
                </a:solidFill>
              </a:rPr>
              <a:t>Business-intelligence platform</a:t>
            </a:r>
            <a:endParaRPr lang="en-US" sz="950" dirty="0"/>
          </a:p>
        </p:txBody>
      </p:sp>
      <p:sp>
        <p:nvSpPr>
          <p:cNvPr id="15" name="Shape 10">
            <a:hlinkClick r:id="rId6" tooltip="Go to Clario" action="ppaction://hlinksldjump"/>
          </p:cNvPr>
          <p:cNvSpPr/>
          <p:nvPr/>
        </p:nvSpPr>
        <p:spPr>
          <a:xfrm>
            <a:off x="6144768" y="5779008"/>
            <a:ext cx="2651760" cy="749808"/>
          </a:xfrm>
          <a:prstGeom prst="rect">
            <a:avLst/>
          </a:prstGeom>
          <a:solidFill>
            <a:srgbClr val="FFFFFF">
              <a:alpha val="0"/>
            </a:srgbClr>
          </a:solidFill>
          <a:ln/>
        </p:spPr>
      </p:sp>
      <p:sp>
        <p:nvSpPr>
          <p:cNvPr id="16" name="Text 11"/>
          <p:cNvSpPr txBox="1"/>
          <p:nvPr/>
        </p:nvSpPr>
        <p:spPr>
          <a:xfrm>
            <a:off x="8942832" y="5815584"/>
            <a:ext cx="2651760" cy="713232"/>
          </a:xfrm>
          <a:prstGeom prst="rect">
            <a:avLst/>
          </a:prstGeom>
          <a:noFill/>
          <a:ln/>
        </p:spPr>
        <p:txBody>
          <a:bodyPr wrap="square" lIns="0" tIns="0" rIns="0" bIns="0" rtlCol="0" anchor="t"/>
          <a:lstStyle/>
          <a:p>
            <a:pPr indent="0" marL="0">
              <a:lnSpc>
                <a:spcPct val="105000"/>
              </a:lnSpc>
              <a:buNone/>
            </a:pPr>
            <a:r>
              <a:rPr lang="en-US" sz="950" b="1" dirty="0">
                <a:solidFill>
                  <a:srgbClr val="D6E151"/>
                </a:solidFill>
              </a:rPr>
              <a:t>04</a:t>
            </a:r>
            <a:endParaRPr lang="en-US" sz="950" dirty="0"/>
          </a:p>
          <a:p>
            <a:pPr indent="0" marL="0">
              <a:lnSpc>
                <a:spcPct val="105000"/>
              </a:lnSpc>
              <a:buNone/>
            </a:pPr>
            <a:r>
              <a:rPr lang="en-US" sz="1250" b="1" dirty="0">
                <a:solidFill>
                  <a:srgbClr val="EEF0E6"/>
                </a:solidFill>
              </a:rPr>
              <a:t>City Threads</a:t>
            </a:r>
            <a:endParaRPr lang="en-US" sz="950" dirty="0"/>
          </a:p>
          <a:p>
            <a:pPr indent="0" marL="0">
              <a:lnSpc>
                <a:spcPct val="105000"/>
              </a:lnSpc>
              <a:buNone/>
            </a:pPr>
            <a:r>
              <a:rPr lang="en-US" sz="950" dirty="0">
                <a:solidFill>
                  <a:srgbClr val="8C938B"/>
                </a:solidFill>
              </a:rPr>
              <a:t>Warehouse &amp; inventory management</a:t>
            </a:r>
            <a:endParaRPr lang="en-US" sz="950" dirty="0"/>
          </a:p>
        </p:txBody>
      </p:sp>
      <p:sp>
        <p:nvSpPr>
          <p:cNvPr id="17" name="Shape 12">
            <a:hlinkClick r:id="rId7" tooltip="Go to City Threads" action="ppaction://hlinksldjump"/>
          </p:cNvPr>
          <p:cNvSpPr/>
          <p:nvPr/>
        </p:nvSpPr>
        <p:spPr>
          <a:xfrm>
            <a:off x="8942832" y="5779008"/>
            <a:ext cx="2651760" cy="749808"/>
          </a:xfrm>
          <a:prstGeom prst="rect">
            <a:avLst/>
          </a:prstGeom>
          <a:solidFill>
            <a:srgbClr val="FFFFFF">
              <a:alpha val="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WHO WE ARE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Crita Creative LLP</a:t>
            </a:r>
            <a:endParaRPr lang="en-US" sz="2800" dirty="0"/>
          </a:p>
        </p:txBody>
      </p:sp>
      <p:sp>
        <p:nvSpPr>
          <p:cNvPr id="5" name="Text 2"/>
          <p:cNvSpPr txBox="1"/>
          <p:nvPr/>
        </p:nvSpPr>
        <p:spPr>
          <a:xfrm>
            <a:off x="548640" y="1417320"/>
            <a:ext cx="6400800" cy="292608"/>
          </a:xfrm>
          <a:prstGeom prst="rect">
            <a:avLst/>
          </a:prstGeom>
          <a:noFill/>
          <a:ln/>
        </p:spPr>
        <p:txBody>
          <a:bodyPr wrap="square" lIns="0" tIns="0" rIns="0" bIns="0" rtlCol="0" anchor="t"/>
          <a:lstStyle/>
          <a:p>
            <a:pPr indent="0" marL="0">
              <a:buNone/>
            </a:pPr>
            <a:r>
              <a:rPr lang="en-US" sz="1400" b="1" dirty="0">
                <a:solidFill>
                  <a:srgbClr val="7FA53F"/>
                </a:solidFill>
              </a:rPr>
              <a:t>Consulting-led technology partner</a:t>
            </a:r>
            <a:endParaRPr lang="en-US" sz="1400" dirty="0"/>
          </a:p>
        </p:txBody>
      </p:sp>
      <p:sp>
        <p:nvSpPr>
          <p:cNvPr id="6" name="Text 3"/>
          <p:cNvSpPr txBox="1"/>
          <p:nvPr/>
        </p:nvSpPr>
        <p:spPr>
          <a:xfrm>
            <a:off x="548640" y="1874520"/>
            <a:ext cx="6949440" cy="1417320"/>
          </a:xfrm>
          <a:prstGeom prst="rect">
            <a:avLst/>
          </a:prstGeom>
          <a:noFill/>
          <a:ln/>
        </p:spPr>
        <p:txBody>
          <a:bodyPr wrap="square" lIns="0" tIns="0" rIns="0" bIns="0" rtlCol="0" anchor="t"/>
          <a:lstStyle/>
          <a:p>
            <a:pPr indent="0" marL="0">
              <a:lnSpc>
                <a:spcPct val="112000"/>
              </a:lnSpc>
              <a:buNone/>
            </a:pPr>
            <a:r>
              <a:rPr lang="en-US" sz="1900" dirty="0">
                <a:solidFill>
                  <a:srgbClr val="0D1813"/>
                </a:solidFill>
                <a:latin typeface="Satoshi Medium" pitchFamily="34" charset="0"/>
                <a:ea typeface="Satoshi Medium" pitchFamily="34" charset="-122"/>
                <a:cs typeface="Satoshi Medium" pitchFamily="34" charset="-120"/>
              </a:rPr>
              <a:t>We combine strategy, product design and engineering to turn fragmented operations into connected systems people actually use. Every project starts with the business, not the brief.</a:t>
            </a:r>
            <a:endParaRPr lang="en-US" sz="1900" dirty="0"/>
          </a:p>
        </p:txBody>
      </p:sp>
      <p:sp>
        <p:nvSpPr>
          <p:cNvPr id="7" name="Text 4"/>
          <p:cNvSpPr txBox="1"/>
          <p:nvPr/>
        </p:nvSpPr>
        <p:spPr>
          <a:xfrm>
            <a:off x="548640" y="3310128"/>
            <a:ext cx="6675120" cy="868680"/>
          </a:xfrm>
          <a:prstGeom prst="rect">
            <a:avLst/>
          </a:prstGeom>
          <a:noFill/>
          <a:ln/>
        </p:spPr>
        <p:txBody>
          <a:bodyPr wrap="square" lIns="0" tIns="0" rIns="0" bIns="0" rtlCol="0" anchor="t"/>
          <a:lstStyle/>
          <a:p>
            <a:pPr indent="0" marL="0">
              <a:lnSpc>
                <a:spcPct val="115000"/>
              </a:lnSpc>
              <a:buNone/>
            </a:pPr>
            <a:r>
              <a:rPr lang="en-US" sz="1200" dirty="0">
                <a:solidFill>
                  <a:srgbClr val="5C6A62"/>
                </a:solidFill>
              </a:rPr>
              <a:t>Crita Creative LLP is a consulting-led technology partner. We design and build custom business platforms — for field teams, warehouses, scrap yards and finance — around the way each business actually works.</a:t>
            </a:r>
            <a:endParaRPr lang="en-US" sz="1200" dirty="0"/>
          </a:p>
        </p:txBody>
      </p:sp>
      <p:sp>
        <p:nvSpPr>
          <p:cNvPr id="8" name="Text 5"/>
          <p:cNvSpPr txBox="1"/>
          <p:nvPr/>
        </p:nvSpPr>
        <p:spPr>
          <a:xfrm>
            <a:off x="8595360" y="1325880"/>
            <a:ext cx="3017520" cy="777240"/>
          </a:xfrm>
          <a:prstGeom prst="rect">
            <a:avLst/>
          </a:prstGeom>
          <a:noFill/>
          <a:ln/>
        </p:spPr>
        <p:txBody>
          <a:bodyPr wrap="square" lIns="0" tIns="0" rIns="0" bIns="0" rtlCol="0" anchor="t"/>
          <a:lstStyle/>
          <a:p>
            <a:pPr indent="0" marL="0">
              <a:buNone/>
            </a:pPr>
            <a:r>
              <a:rPr lang="en-US" sz="5400" b="1" spc="-200" kern="0" dirty="0">
                <a:solidFill>
                  <a:srgbClr val="0D1813"/>
                </a:solidFill>
              </a:rPr>
              <a:t>18+</a:t>
            </a:r>
            <a:endParaRPr lang="en-US" sz="5400" dirty="0"/>
          </a:p>
        </p:txBody>
      </p:sp>
      <p:sp>
        <p:nvSpPr>
          <p:cNvPr id="9" name="Text 6"/>
          <p:cNvSpPr txBox="1"/>
          <p:nvPr/>
        </p:nvSpPr>
        <p:spPr>
          <a:xfrm>
            <a:off x="8595360" y="2112264"/>
            <a:ext cx="3017520" cy="274320"/>
          </a:xfrm>
          <a:prstGeom prst="rect">
            <a:avLst/>
          </a:prstGeom>
          <a:noFill/>
          <a:ln/>
        </p:spPr>
        <p:txBody>
          <a:bodyPr wrap="square" lIns="0" tIns="0" rIns="0" bIns="0" rtlCol="0" anchor="t"/>
          <a:lstStyle/>
          <a:p>
            <a:pPr indent="0" marL="0">
              <a:buNone/>
            </a:pPr>
            <a:r>
              <a:rPr lang="en-US" sz="1150" dirty="0">
                <a:solidFill>
                  <a:srgbClr val="5C6A62"/>
                </a:solidFill>
              </a:rPr>
              <a:t>Projects delivered</a:t>
            </a:r>
            <a:endParaRPr lang="en-US" sz="1150" dirty="0"/>
          </a:p>
        </p:txBody>
      </p:sp>
      <p:sp>
        <p:nvSpPr>
          <p:cNvPr id="10" name="Text 7"/>
          <p:cNvSpPr txBox="1"/>
          <p:nvPr/>
        </p:nvSpPr>
        <p:spPr>
          <a:xfrm>
            <a:off x="8595360" y="2697480"/>
            <a:ext cx="3017520" cy="777240"/>
          </a:xfrm>
          <a:prstGeom prst="rect">
            <a:avLst/>
          </a:prstGeom>
          <a:noFill/>
          <a:ln/>
        </p:spPr>
        <p:txBody>
          <a:bodyPr wrap="square" lIns="0" tIns="0" rIns="0" bIns="0" rtlCol="0" anchor="t"/>
          <a:lstStyle/>
          <a:p>
            <a:pPr indent="0" marL="0">
              <a:buNone/>
            </a:pPr>
            <a:r>
              <a:rPr lang="en-US" sz="5400" b="1" spc="-200" kern="0" dirty="0">
                <a:solidFill>
                  <a:srgbClr val="0D1813"/>
                </a:solidFill>
              </a:rPr>
              <a:t>07</a:t>
            </a:r>
            <a:endParaRPr lang="en-US" sz="5400" dirty="0"/>
          </a:p>
        </p:txBody>
      </p:sp>
      <p:sp>
        <p:nvSpPr>
          <p:cNvPr id="11" name="Text 8"/>
          <p:cNvSpPr txBox="1"/>
          <p:nvPr/>
        </p:nvSpPr>
        <p:spPr>
          <a:xfrm>
            <a:off x="8595360" y="3483864"/>
            <a:ext cx="3017520" cy="274320"/>
          </a:xfrm>
          <a:prstGeom prst="rect">
            <a:avLst/>
          </a:prstGeom>
          <a:noFill/>
          <a:ln/>
        </p:spPr>
        <p:txBody>
          <a:bodyPr wrap="square" lIns="0" tIns="0" rIns="0" bIns="0" rtlCol="0" anchor="t"/>
          <a:lstStyle/>
          <a:p>
            <a:pPr indent="0" marL="0">
              <a:buNone/>
            </a:pPr>
            <a:r>
              <a:rPr lang="en-US" sz="1150" dirty="0">
                <a:solidFill>
                  <a:srgbClr val="5C6A62"/>
                </a:solidFill>
              </a:rPr>
              <a:t>Industries served</a:t>
            </a:r>
            <a:endParaRPr lang="en-US" sz="1150" dirty="0"/>
          </a:p>
        </p:txBody>
      </p:sp>
      <p:sp>
        <p:nvSpPr>
          <p:cNvPr id="12" name="Text 9"/>
          <p:cNvSpPr txBox="1"/>
          <p:nvPr/>
        </p:nvSpPr>
        <p:spPr>
          <a:xfrm>
            <a:off x="8595360" y="3931920"/>
            <a:ext cx="3017520" cy="228600"/>
          </a:xfrm>
          <a:prstGeom prst="rect">
            <a:avLst/>
          </a:prstGeom>
          <a:noFill/>
          <a:ln/>
        </p:spPr>
        <p:txBody>
          <a:bodyPr wrap="square" lIns="0" tIns="0" rIns="0" bIns="0" rtlCol="0" anchor="t"/>
          <a:lstStyle/>
          <a:p>
            <a:pPr indent="0" marL="0">
              <a:buNone/>
            </a:pPr>
            <a:r>
              <a:rPr lang="en-US" sz="900" dirty="0">
                <a:solidFill>
                  <a:srgbClr val="5C6A62"/>
                </a:solidFill>
              </a:rPr>
              <a:t>Figures from crita.in.</a:t>
            </a:r>
            <a:endParaRPr lang="en-US" sz="900" dirty="0"/>
          </a:p>
        </p:txBody>
      </p:sp>
      <p:pic>
        <p:nvPicPr>
          <p:cNvPr id="13" name="Image 1" descr="F:\Office Project\Crita Portfolio\portfolio\ppt\brand\c.png">    </p:cNvPr>
          <p:cNvPicPr>
            <a:picLocks noChangeAspect="1"/>
          </p:cNvPicPr>
          <p:nvPr/>
        </p:nvPicPr>
        <p:blipFill>
          <a:blip r:embed="rId2"/>
          <a:stretch>
            <a:fillRect/>
          </a:stretch>
        </p:blipFill>
        <p:spPr>
          <a:xfrm>
            <a:off x="548640" y="4567428"/>
            <a:ext cx="182880" cy="134417"/>
          </a:xfrm>
          <a:prstGeom prst="rect">
            <a:avLst/>
          </a:prstGeom>
        </p:spPr>
      </p:pic>
      <p:sp>
        <p:nvSpPr>
          <p:cNvPr id="14" name="Text 10"/>
          <p:cNvSpPr txBox="1"/>
          <p:nvPr/>
        </p:nvSpPr>
        <p:spPr>
          <a:xfrm>
            <a:off x="813816" y="452628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HOW WE WORK — CLARITY, THEN CODE.</a:t>
            </a:r>
            <a:endParaRPr lang="en-US" sz="900" dirty="0"/>
          </a:p>
        </p:txBody>
      </p:sp>
      <p:sp>
        <p:nvSpPr>
          <p:cNvPr id="15" name="Shape 11"/>
          <p:cNvSpPr/>
          <p:nvPr/>
        </p:nvSpPr>
        <p:spPr>
          <a:xfrm>
            <a:off x="548640" y="4892040"/>
            <a:ext cx="2615184" cy="0"/>
          </a:xfrm>
          <a:prstGeom prst="line">
            <a:avLst/>
          </a:prstGeom>
          <a:noFill/>
          <a:ln w="9525">
            <a:solidFill>
              <a:srgbClr val="D3D5CC"/>
            </a:solidFill>
            <a:prstDash val="solid"/>
          </a:ln>
        </p:spPr>
      </p:sp>
      <p:sp>
        <p:nvSpPr>
          <p:cNvPr id="16" name="Text 12"/>
          <p:cNvSpPr txBox="1"/>
          <p:nvPr/>
        </p:nvSpPr>
        <p:spPr>
          <a:xfrm>
            <a:off x="548640" y="5029200"/>
            <a:ext cx="2615184" cy="12801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01</a:t>
            </a:r>
            <a:endParaRPr lang="en-US" sz="950" dirty="0"/>
          </a:p>
          <a:p>
            <a:pPr indent="0" marL="0">
              <a:spcAft>
                <a:spcPts val="300"/>
              </a:spcAft>
              <a:buNone/>
            </a:pPr>
            <a:r>
              <a:rPr lang="en-US" sz="1500" b="1" dirty="0">
                <a:solidFill>
                  <a:srgbClr val="0D1813"/>
                </a:solidFill>
              </a:rPr>
              <a:t>Discover</a:t>
            </a:r>
            <a:endParaRPr lang="en-US" sz="950" dirty="0"/>
          </a:p>
          <a:p>
            <a:pPr indent="0" marL="0">
              <a:spcAft>
                <a:spcPts val="300"/>
              </a:spcAft>
              <a:buNone/>
            </a:pPr>
            <a:r>
              <a:rPr lang="en-US" sz="1050" dirty="0">
                <a:solidFill>
                  <a:srgbClr val="5C6A62"/>
                </a:solidFill>
              </a:rPr>
              <a:t>Map the operation, the constraints and the priorities that really decide how the business scales.</a:t>
            </a:r>
            <a:endParaRPr lang="en-US" sz="950" dirty="0"/>
          </a:p>
        </p:txBody>
      </p:sp>
      <p:sp>
        <p:nvSpPr>
          <p:cNvPr id="17" name="Shape 13"/>
          <p:cNvSpPr/>
          <p:nvPr/>
        </p:nvSpPr>
        <p:spPr>
          <a:xfrm>
            <a:off x="3346704" y="4892040"/>
            <a:ext cx="2615184" cy="0"/>
          </a:xfrm>
          <a:prstGeom prst="line">
            <a:avLst/>
          </a:prstGeom>
          <a:noFill/>
          <a:ln w="9525">
            <a:solidFill>
              <a:srgbClr val="D3D5CC"/>
            </a:solidFill>
            <a:prstDash val="solid"/>
          </a:ln>
        </p:spPr>
      </p:sp>
      <p:sp>
        <p:nvSpPr>
          <p:cNvPr id="18" name="Text 14"/>
          <p:cNvSpPr txBox="1"/>
          <p:nvPr/>
        </p:nvSpPr>
        <p:spPr>
          <a:xfrm>
            <a:off x="3346704" y="5029200"/>
            <a:ext cx="2615184" cy="12801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02</a:t>
            </a:r>
            <a:endParaRPr lang="en-US" sz="950" dirty="0"/>
          </a:p>
          <a:p>
            <a:pPr indent="0" marL="0">
              <a:spcAft>
                <a:spcPts val="300"/>
              </a:spcAft>
              <a:buNone/>
            </a:pPr>
            <a:r>
              <a:rPr lang="en-US" sz="1500" b="1" dirty="0">
                <a:solidFill>
                  <a:srgbClr val="0D1813"/>
                </a:solidFill>
              </a:rPr>
              <a:t>Strategize</a:t>
            </a:r>
            <a:endParaRPr lang="en-US" sz="950" dirty="0"/>
          </a:p>
          <a:p>
            <a:pPr indent="0" marL="0">
              <a:spcAft>
                <a:spcPts val="300"/>
              </a:spcAft>
              <a:buNone/>
            </a:pPr>
            <a:r>
              <a:rPr lang="en-US" sz="1050" dirty="0">
                <a:solidFill>
                  <a:srgbClr val="5C6A62"/>
                </a:solidFill>
              </a:rPr>
              <a:t>Design the workflows, roles and architecture against outcomes — not feature lists.</a:t>
            </a:r>
            <a:endParaRPr lang="en-US" sz="950" dirty="0"/>
          </a:p>
        </p:txBody>
      </p:sp>
      <p:sp>
        <p:nvSpPr>
          <p:cNvPr id="19" name="Shape 15"/>
          <p:cNvSpPr/>
          <p:nvPr/>
        </p:nvSpPr>
        <p:spPr>
          <a:xfrm>
            <a:off x="6144768" y="4892040"/>
            <a:ext cx="2615184" cy="0"/>
          </a:xfrm>
          <a:prstGeom prst="line">
            <a:avLst/>
          </a:prstGeom>
          <a:noFill/>
          <a:ln w="9525">
            <a:solidFill>
              <a:srgbClr val="D3D5CC"/>
            </a:solidFill>
            <a:prstDash val="solid"/>
          </a:ln>
        </p:spPr>
      </p:sp>
      <p:sp>
        <p:nvSpPr>
          <p:cNvPr id="20" name="Text 16"/>
          <p:cNvSpPr txBox="1"/>
          <p:nvPr/>
        </p:nvSpPr>
        <p:spPr>
          <a:xfrm>
            <a:off x="6144768" y="5029200"/>
            <a:ext cx="2615184" cy="12801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03</a:t>
            </a:r>
            <a:endParaRPr lang="en-US" sz="950" dirty="0"/>
          </a:p>
          <a:p>
            <a:pPr indent="0" marL="0">
              <a:spcAft>
                <a:spcPts val="300"/>
              </a:spcAft>
              <a:buNone/>
            </a:pPr>
            <a:r>
              <a:rPr lang="en-US" sz="1500" b="1" dirty="0">
                <a:solidFill>
                  <a:srgbClr val="0D1813"/>
                </a:solidFill>
              </a:rPr>
              <a:t>Build</a:t>
            </a:r>
            <a:endParaRPr lang="en-US" sz="950" dirty="0"/>
          </a:p>
          <a:p>
            <a:pPr indent="0" marL="0">
              <a:spcAft>
                <a:spcPts val="300"/>
              </a:spcAft>
              <a:buNone/>
            </a:pPr>
            <a:r>
              <a:rPr lang="en-US" sz="1050" dirty="0">
                <a:solidFill>
                  <a:srgbClr val="5C6A62"/>
                </a:solidFill>
              </a:rPr>
              <a:t>Ship a working system quickly, with automation and rules built in from day one.</a:t>
            </a:r>
            <a:endParaRPr lang="en-US" sz="950" dirty="0"/>
          </a:p>
        </p:txBody>
      </p:sp>
      <p:sp>
        <p:nvSpPr>
          <p:cNvPr id="21" name="Shape 17"/>
          <p:cNvSpPr/>
          <p:nvPr/>
        </p:nvSpPr>
        <p:spPr>
          <a:xfrm>
            <a:off x="8942832" y="4892040"/>
            <a:ext cx="2615184" cy="0"/>
          </a:xfrm>
          <a:prstGeom prst="line">
            <a:avLst/>
          </a:prstGeom>
          <a:noFill/>
          <a:ln w="9525">
            <a:solidFill>
              <a:srgbClr val="D3D5CC"/>
            </a:solidFill>
            <a:prstDash val="solid"/>
          </a:ln>
        </p:spPr>
      </p:sp>
      <p:sp>
        <p:nvSpPr>
          <p:cNvPr id="22" name="Text 18"/>
          <p:cNvSpPr txBox="1"/>
          <p:nvPr/>
        </p:nvSpPr>
        <p:spPr>
          <a:xfrm>
            <a:off x="8942832" y="5029200"/>
            <a:ext cx="2615184" cy="12801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04</a:t>
            </a:r>
            <a:endParaRPr lang="en-US" sz="950" dirty="0"/>
          </a:p>
          <a:p>
            <a:pPr indent="0" marL="0">
              <a:spcAft>
                <a:spcPts val="300"/>
              </a:spcAft>
              <a:buNone/>
            </a:pPr>
            <a:r>
              <a:rPr lang="en-US" sz="1500" b="1" dirty="0">
                <a:solidFill>
                  <a:srgbClr val="0D1813"/>
                </a:solidFill>
              </a:rPr>
              <a:t>Scale</a:t>
            </a:r>
            <a:endParaRPr lang="en-US" sz="950" dirty="0"/>
          </a:p>
          <a:p>
            <a:pPr indent="0" marL="0">
              <a:spcAft>
                <a:spcPts val="300"/>
              </a:spcAft>
              <a:buNone/>
            </a:pPr>
            <a:r>
              <a:rPr lang="en-US" sz="1050" dirty="0">
                <a:solidFill>
                  <a:srgbClr val="5C6A62"/>
                </a:solidFill>
              </a:rPr>
              <a:t>Tune the system with real usage so it keeps up as the business grows.</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BE1"/>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CAPABILITIES</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What we build for growing businesses.</a:t>
            </a:r>
            <a:endParaRPr lang="en-US" sz="2800" dirty="0"/>
          </a:p>
        </p:txBody>
      </p:sp>
      <p:sp>
        <p:nvSpPr>
          <p:cNvPr id="5" name="Text 2"/>
          <p:cNvSpPr txBox="1"/>
          <p:nvPr/>
        </p:nvSpPr>
        <p:spPr>
          <a:xfrm>
            <a:off x="548640" y="1417320"/>
            <a:ext cx="7315200" cy="320040"/>
          </a:xfrm>
          <a:prstGeom prst="rect">
            <a:avLst/>
          </a:prstGeom>
          <a:noFill/>
          <a:ln/>
        </p:spPr>
        <p:txBody>
          <a:bodyPr wrap="square" lIns="0" tIns="0" rIns="0" bIns="0" rtlCol="0" anchor="t"/>
          <a:lstStyle/>
          <a:p>
            <a:pPr indent="0" marL="0">
              <a:buNone/>
            </a:pPr>
            <a:r>
              <a:rPr lang="en-US" sz="1300" dirty="0">
                <a:solidFill>
                  <a:srgbClr val="5C6A62"/>
                </a:solidFill>
              </a:rPr>
              <a:t>Every capability is demonstrated in the work that follows.</a:t>
            </a:r>
            <a:endParaRPr lang="en-US" sz="1300" dirty="0"/>
          </a:p>
        </p:txBody>
      </p:sp>
      <p:sp>
        <p:nvSpPr>
          <p:cNvPr id="6" name="Shape 3"/>
          <p:cNvSpPr/>
          <p:nvPr/>
        </p:nvSpPr>
        <p:spPr>
          <a:xfrm>
            <a:off x="548640" y="2103120"/>
            <a:ext cx="3520440" cy="0"/>
          </a:xfrm>
          <a:prstGeom prst="line">
            <a:avLst/>
          </a:prstGeom>
          <a:noFill/>
          <a:ln w="9525">
            <a:solidFill>
              <a:srgbClr val="D3D5CC"/>
            </a:solidFill>
            <a:prstDash val="solid"/>
          </a:ln>
        </p:spPr>
      </p:sp>
      <p:sp>
        <p:nvSpPr>
          <p:cNvPr id="7" name="Text 4"/>
          <p:cNvSpPr txBox="1"/>
          <p:nvPr/>
        </p:nvSpPr>
        <p:spPr>
          <a:xfrm>
            <a:off x="548640" y="2249424"/>
            <a:ext cx="3429000" cy="178308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01</a:t>
            </a:r>
            <a:endParaRPr lang="en-US" sz="950" dirty="0"/>
          </a:p>
          <a:p>
            <a:pPr indent="0" marL="0">
              <a:spcAft>
                <a:spcPts val="400"/>
              </a:spcAft>
              <a:buNone/>
            </a:pPr>
            <a:r>
              <a:rPr lang="en-US" sz="1600" b="1" dirty="0">
                <a:solidFill>
                  <a:srgbClr val="0D1813"/>
                </a:solidFill>
              </a:rPr>
              <a:t>Operations platforms</a:t>
            </a:r>
            <a:endParaRPr lang="en-US" sz="950" dirty="0"/>
          </a:p>
          <a:p>
            <a:pPr indent="0" marL="0">
              <a:spcAft>
                <a:spcPts val="400"/>
              </a:spcAft>
              <a:buNone/>
            </a:pPr>
            <a:r>
              <a:rPr lang="en-US" sz="1100" dirty="0">
                <a:solidFill>
                  <a:srgbClr val="5C6A62"/>
                </a:solidFill>
              </a:rPr>
              <a:t>Role-based systems that plan, run and audit work across field teams and the office.</a:t>
            </a:r>
            <a:endParaRPr lang="en-US" sz="950" dirty="0"/>
          </a:p>
          <a:p>
            <a:pPr indent="0" marL="0">
              <a:spcAft>
                <a:spcPts val="400"/>
              </a:spcAft>
              <a:buNone/>
            </a:pPr>
            <a:r>
              <a:rPr lang="en-US" sz="950" b="1" dirty="0">
                <a:solidFill>
                  <a:srgbClr val="4E6B31"/>
                </a:solidFill>
              </a:rPr>
              <a:t>SMC Task Management  ·  Veloce Scrap Flow</a:t>
            </a:r>
            <a:endParaRPr lang="en-US" sz="950" dirty="0"/>
          </a:p>
        </p:txBody>
      </p:sp>
      <p:sp>
        <p:nvSpPr>
          <p:cNvPr id="8" name="Shape 5"/>
          <p:cNvSpPr/>
          <p:nvPr/>
        </p:nvSpPr>
        <p:spPr>
          <a:xfrm>
            <a:off x="4288536" y="2103120"/>
            <a:ext cx="3520440" cy="0"/>
          </a:xfrm>
          <a:prstGeom prst="line">
            <a:avLst/>
          </a:prstGeom>
          <a:noFill/>
          <a:ln w="9525">
            <a:solidFill>
              <a:srgbClr val="D3D5CC"/>
            </a:solidFill>
            <a:prstDash val="solid"/>
          </a:ln>
        </p:spPr>
      </p:sp>
      <p:sp>
        <p:nvSpPr>
          <p:cNvPr id="9" name="Text 6"/>
          <p:cNvSpPr txBox="1"/>
          <p:nvPr/>
        </p:nvSpPr>
        <p:spPr>
          <a:xfrm>
            <a:off x="4288536" y="2249424"/>
            <a:ext cx="3429000" cy="178308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02</a:t>
            </a:r>
            <a:endParaRPr lang="en-US" sz="950" dirty="0"/>
          </a:p>
          <a:p>
            <a:pPr indent="0" marL="0">
              <a:spcAft>
                <a:spcPts val="400"/>
              </a:spcAft>
              <a:buNone/>
            </a:pPr>
            <a:r>
              <a:rPr lang="en-US" sz="1600" b="1" dirty="0">
                <a:solidFill>
                  <a:srgbClr val="0D1813"/>
                </a:solidFill>
              </a:rPr>
              <a:t>Inventory &amp; warehousing</a:t>
            </a:r>
            <a:endParaRPr lang="en-US" sz="950" dirty="0"/>
          </a:p>
          <a:p>
            <a:pPr indent="0" marL="0">
              <a:spcAft>
                <a:spcPts val="400"/>
              </a:spcAft>
              <a:buNone/>
            </a:pPr>
            <a:r>
              <a:rPr lang="en-US" sz="1100" dirty="0">
                <a:solidFill>
                  <a:srgbClr val="5C6A62"/>
                </a:solidFill>
              </a:rPr>
              <a:t>Lots, barcodes, bins and ledgers that make every unit of stock traceable.</a:t>
            </a:r>
            <a:endParaRPr lang="en-US" sz="950" dirty="0"/>
          </a:p>
          <a:p>
            <a:pPr indent="0" marL="0">
              <a:spcAft>
                <a:spcPts val="400"/>
              </a:spcAft>
              <a:buNone/>
            </a:pPr>
            <a:r>
              <a:rPr lang="en-US" sz="950" b="1" dirty="0">
                <a:solidFill>
                  <a:srgbClr val="4E6B31"/>
                </a:solidFill>
              </a:rPr>
              <a:t>Veloce Scrap Flow  ·  City Threads</a:t>
            </a:r>
            <a:endParaRPr lang="en-US" sz="950" dirty="0"/>
          </a:p>
        </p:txBody>
      </p:sp>
      <p:sp>
        <p:nvSpPr>
          <p:cNvPr id="10" name="Shape 7"/>
          <p:cNvSpPr/>
          <p:nvPr/>
        </p:nvSpPr>
        <p:spPr>
          <a:xfrm>
            <a:off x="8028432" y="2103120"/>
            <a:ext cx="3520440" cy="0"/>
          </a:xfrm>
          <a:prstGeom prst="line">
            <a:avLst/>
          </a:prstGeom>
          <a:noFill/>
          <a:ln w="9525">
            <a:solidFill>
              <a:srgbClr val="D3D5CC"/>
            </a:solidFill>
            <a:prstDash val="solid"/>
          </a:ln>
        </p:spPr>
      </p:sp>
      <p:sp>
        <p:nvSpPr>
          <p:cNvPr id="11" name="Text 8"/>
          <p:cNvSpPr txBox="1"/>
          <p:nvPr/>
        </p:nvSpPr>
        <p:spPr>
          <a:xfrm>
            <a:off x="8028432" y="2249424"/>
            <a:ext cx="3429000" cy="178308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03</a:t>
            </a:r>
            <a:endParaRPr lang="en-US" sz="950" dirty="0"/>
          </a:p>
          <a:p>
            <a:pPr indent="0" marL="0">
              <a:spcAft>
                <a:spcPts val="400"/>
              </a:spcAft>
              <a:buNone/>
            </a:pPr>
            <a:r>
              <a:rPr lang="en-US" sz="1600" b="1" dirty="0">
                <a:solidFill>
                  <a:srgbClr val="0D1813"/>
                </a:solidFill>
              </a:rPr>
              <a:t>Business intelligence</a:t>
            </a:r>
            <a:endParaRPr lang="en-US" sz="950" dirty="0"/>
          </a:p>
          <a:p>
            <a:pPr indent="0" marL="0">
              <a:spcAft>
                <a:spcPts val="400"/>
              </a:spcAft>
              <a:buNone/>
            </a:pPr>
            <a:r>
              <a:rPr lang="en-US" sz="1100" dirty="0">
                <a:solidFill>
                  <a:srgbClr val="5C6A62"/>
                </a:solidFill>
              </a:rPr>
              <a:t>Dashboards that turn the systems you already use into clear decisions.</a:t>
            </a:r>
            <a:endParaRPr lang="en-US" sz="950" dirty="0"/>
          </a:p>
          <a:p>
            <a:pPr indent="0" marL="0">
              <a:spcAft>
                <a:spcPts val="400"/>
              </a:spcAft>
              <a:buNone/>
            </a:pPr>
            <a:r>
              <a:rPr lang="en-US" sz="950" b="1" dirty="0">
                <a:solidFill>
                  <a:srgbClr val="4E6B31"/>
                </a:solidFill>
              </a:rPr>
              <a:t>Clario  ·  Veloce Scrap Flow</a:t>
            </a:r>
            <a:endParaRPr lang="en-US" sz="950" dirty="0"/>
          </a:p>
        </p:txBody>
      </p:sp>
      <p:sp>
        <p:nvSpPr>
          <p:cNvPr id="12" name="Shape 9"/>
          <p:cNvSpPr/>
          <p:nvPr/>
        </p:nvSpPr>
        <p:spPr>
          <a:xfrm>
            <a:off x="548640" y="4206240"/>
            <a:ext cx="3520440" cy="0"/>
          </a:xfrm>
          <a:prstGeom prst="line">
            <a:avLst/>
          </a:prstGeom>
          <a:noFill/>
          <a:ln w="9525">
            <a:solidFill>
              <a:srgbClr val="D3D5CC"/>
            </a:solidFill>
            <a:prstDash val="solid"/>
          </a:ln>
        </p:spPr>
      </p:sp>
      <p:sp>
        <p:nvSpPr>
          <p:cNvPr id="13" name="Text 10"/>
          <p:cNvSpPr txBox="1"/>
          <p:nvPr/>
        </p:nvSpPr>
        <p:spPr>
          <a:xfrm>
            <a:off x="548640" y="4352544"/>
            <a:ext cx="3429000" cy="178308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04</a:t>
            </a:r>
            <a:endParaRPr lang="en-US" sz="950" dirty="0"/>
          </a:p>
          <a:p>
            <a:pPr indent="0" marL="0">
              <a:spcAft>
                <a:spcPts val="400"/>
              </a:spcAft>
              <a:buNone/>
            </a:pPr>
            <a:r>
              <a:rPr lang="en-US" sz="1600" b="1" dirty="0">
                <a:solidFill>
                  <a:srgbClr val="0D1813"/>
                </a:solidFill>
              </a:rPr>
              <a:t>Applied AI</a:t>
            </a:r>
            <a:endParaRPr lang="en-US" sz="950" dirty="0"/>
          </a:p>
          <a:p>
            <a:pPr indent="0" marL="0">
              <a:spcAft>
                <a:spcPts val="400"/>
              </a:spcAft>
              <a:buNone/>
            </a:pPr>
            <a:r>
              <a:rPr lang="en-US" sz="1100" dirty="0">
                <a:solidFill>
                  <a:srgbClr val="5C6A62"/>
                </a:solidFill>
              </a:rPr>
              <a:t>Assistants that answer from your own data, with sources — never invented numbers.</a:t>
            </a:r>
            <a:endParaRPr lang="en-US" sz="950" dirty="0"/>
          </a:p>
          <a:p>
            <a:pPr indent="0" marL="0">
              <a:spcAft>
                <a:spcPts val="400"/>
              </a:spcAft>
              <a:buNone/>
            </a:pPr>
            <a:r>
              <a:rPr lang="en-US" sz="950" b="1" dirty="0">
                <a:solidFill>
                  <a:srgbClr val="4E6B31"/>
                </a:solidFill>
              </a:rPr>
              <a:t>Clario</a:t>
            </a:r>
            <a:endParaRPr lang="en-US" sz="950" dirty="0"/>
          </a:p>
        </p:txBody>
      </p:sp>
      <p:sp>
        <p:nvSpPr>
          <p:cNvPr id="14" name="Shape 11"/>
          <p:cNvSpPr/>
          <p:nvPr/>
        </p:nvSpPr>
        <p:spPr>
          <a:xfrm>
            <a:off x="4288536" y="4206240"/>
            <a:ext cx="3520440" cy="0"/>
          </a:xfrm>
          <a:prstGeom prst="line">
            <a:avLst/>
          </a:prstGeom>
          <a:noFill/>
          <a:ln w="9525">
            <a:solidFill>
              <a:srgbClr val="D3D5CC"/>
            </a:solidFill>
            <a:prstDash val="solid"/>
          </a:ln>
        </p:spPr>
      </p:sp>
      <p:sp>
        <p:nvSpPr>
          <p:cNvPr id="15" name="Text 12"/>
          <p:cNvSpPr txBox="1"/>
          <p:nvPr/>
        </p:nvSpPr>
        <p:spPr>
          <a:xfrm>
            <a:off x="4288536" y="4352544"/>
            <a:ext cx="3429000" cy="178308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05</a:t>
            </a:r>
            <a:endParaRPr lang="en-US" sz="950" dirty="0"/>
          </a:p>
          <a:p>
            <a:pPr indent="0" marL="0">
              <a:spcAft>
                <a:spcPts val="400"/>
              </a:spcAft>
              <a:buNone/>
            </a:pPr>
            <a:r>
              <a:rPr lang="en-US" sz="1600" b="1" dirty="0">
                <a:solidFill>
                  <a:srgbClr val="0D1813"/>
                </a:solidFill>
              </a:rPr>
              <a:t>Mobile-first apps</a:t>
            </a:r>
            <a:endParaRPr lang="en-US" sz="950" dirty="0"/>
          </a:p>
          <a:p>
            <a:pPr indent="0" marL="0">
              <a:spcAft>
                <a:spcPts val="400"/>
              </a:spcAft>
              <a:buNone/>
            </a:pPr>
            <a:r>
              <a:rPr lang="en-US" sz="1100" dirty="0">
                <a:solidFill>
                  <a:srgbClr val="5C6A62"/>
                </a:solidFill>
              </a:rPr>
              <a:t>Designed for one hand on the shop floor and in the field, packaged for Android.</a:t>
            </a:r>
            <a:endParaRPr lang="en-US" sz="950" dirty="0"/>
          </a:p>
          <a:p>
            <a:pPr indent="0" marL="0">
              <a:spcAft>
                <a:spcPts val="400"/>
              </a:spcAft>
              <a:buNone/>
            </a:pPr>
            <a:r>
              <a:rPr lang="en-US" sz="950" b="1" dirty="0">
                <a:solidFill>
                  <a:srgbClr val="4E6B31"/>
                </a:solidFill>
              </a:rPr>
              <a:t>SMC Task Management  ·  Veloce Scrap Flow  ·  City Threads</a:t>
            </a:r>
            <a:endParaRPr lang="en-US" sz="950" dirty="0"/>
          </a:p>
        </p:txBody>
      </p:sp>
      <p:sp>
        <p:nvSpPr>
          <p:cNvPr id="16" name="Shape 13"/>
          <p:cNvSpPr/>
          <p:nvPr/>
        </p:nvSpPr>
        <p:spPr>
          <a:xfrm>
            <a:off x="8028432" y="4206240"/>
            <a:ext cx="3520440" cy="0"/>
          </a:xfrm>
          <a:prstGeom prst="line">
            <a:avLst/>
          </a:prstGeom>
          <a:noFill/>
          <a:ln w="9525">
            <a:solidFill>
              <a:srgbClr val="D3D5CC"/>
            </a:solidFill>
            <a:prstDash val="solid"/>
          </a:ln>
        </p:spPr>
      </p:sp>
      <p:sp>
        <p:nvSpPr>
          <p:cNvPr id="17" name="Text 14"/>
          <p:cNvSpPr txBox="1"/>
          <p:nvPr/>
        </p:nvSpPr>
        <p:spPr>
          <a:xfrm>
            <a:off x="8028432" y="4352544"/>
            <a:ext cx="3429000" cy="178308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06</a:t>
            </a:r>
            <a:endParaRPr lang="en-US" sz="950" dirty="0"/>
          </a:p>
          <a:p>
            <a:pPr indent="0" marL="0">
              <a:spcAft>
                <a:spcPts val="400"/>
              </a:spcAft>
              <a:buNone/>
            </a:pPr>
            <a:r>
              <a:rPr lang="en-US" sz="1600" b="1" dirty="0">
                <a:solidFill>
                  <a:srgbClr val="0D1813"/>
                </a:solidFill>
              </a:rPr>
              <a:t>Multi-tenant foundations</a:t>
            </a:r>
            <a:endParaRPr lang="en-US" sz="950" dirty="0"/>
          </a:p>
          <a:p>
            <a:pPr indent="0" marL="0">
              <a:spcAft>
                <a:spcPts val="400"/>
              </a:spcAft>
              <a:buNone/>
            </a:pPr>
            <a:r>
              <a:rPr lang="en-US" sz="1100" dirty="0">
                <a:solidFill>
                  <a:srgbClr val="5C6A62"/>
                </a:solidFill>
              </a:rPr>
              <a:t>Workspaces, roles, data isolation and audit trails, ready to scale.</a:t>
            </a:r>
            <a:endParaRPr lang="en-US" sz="950" dirty="0"/>
          </a:p>
          <a:p>
            <a:pPr indent="0" marL="0">
              <a:spcAft>
                <a:spcPts val="400"/>
              </a:spcAft>
              <a:buNone/>
            </a:pPr>
            <a:r>
              <a:rPr lang="en-US" sz="950" b="1" dirty="0">
                <a:solidFill>
                  <a:srgbClr val="4E6B31"/>
                </a:solidFill>
              </a:rPr>
              <a:t>Veloce Scrap Flow  ·  Clario</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SELECTED WORK</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Four platforms, each built around how the business actually works.</a:t>
            </a:r>
            <a:endParaRPr lang="en-US" sz="2800" dirty="0"/>
          </a:p>
        </p:txBody>
      </p:sp>
      <p:sp>
        <p:nvSpPr>
          <p:cNvPr id="5" name="Shape 2"/>
          <p:cNvSpPr/>
          <p:nvPr/>
        </p:nvSpPr>
        <p:spPr>
          <a:xfrm>
            <a:off x="548640" y="1874520"/>
            <a:ext cx="2697480" cy="2011680"/>
          </a:xfrm>
          <a:prstGeom prst="roundRect">
            <a:avLst>
              <a:gd name="adj" fmla="val 5455"/>
            </a:avLst>
          </a:prstGeom>
          <a:solidFill>
            <a:srgbClr val="13213D"/>
          </a:solidFill>
          <a:ln/>
        </p:spPr>
      </p:sp>
      <p:pic>
        <p:nvPicPr>
          <p:cNvPr id="6" name="Image 1" descr="SMC Task Management screens">    </p:cNvPr>
          <p:cNvPicPr>
            <a:picLocks noChangeAspect="1"/>
          </p:cNvPicPr>
          <p:nvPr/>
        </p:nvPicPr>
        <p:blipFill>
          <a:blip r:embed="rId2"/>
          <a:stretch>
            <a:fillRect/>
          </a:stretch>
        </p:blipFill>
        <p:spPr>
          <a:xfrm>
            <a:off x="609234" y="1968947"/>
            <a:ext cx="2576292" cy="1643604"/>
          </a:xfrm>
          <a:prstGeom prst="rect">
            <a:avLst/>
          </a:prstGeom>
        </p:spPr>
      </p:pic>
      <p:sp>
        <p:nvSpPr>
          <p:cNvPr id="7" name="Text 3"/>
          <p:cNvSpPr txBox="1"/>
          <p:nvPr/>
        </p:nvSpPr>
        <p:spPr>
          <a:xfrm>
            <a:off x="3474720" y="1984248"/>
            <a:ext cx="2514600" cy="187452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01</a:t>
            </a:r>
            <a:endParaRPr lang="en-US" sz="950" dirty="0"/>
          </a:p>
          <a:p>
            <a:pPr indent="0" marL="0">
              <a:spcAft>
                <a:spcPts val="400"/>
              </a:spcAft>
              <a:buNone/>
            </a:pPr>
            <a:r>
              <a:rPr lang="en-US" sz="1800" b="1" dirty="0">
                <a:solidFill>
                  <a:srgbClr val="0D1813"/>
                </a:solidFill>
              </a:rPr>
              <a:t>SMC Task Management</a:t>
            </a:r>
            <a:endParaRPr lang="en-US" sz="950" dirty="0"/>
          </a:p>
          <a:p>
            <a:pPr indent="0" marL="0">
              <a:spcAft>
                <a:spcPts val="400"/>
              </a:spcAft>
              <a:buNone/>
            </a:pPr>
            <a:r>
              <a:rPr lang="en-US" sz="950" dirty="0">
                <a:solidFill>
                  <a:srgbClr val="5C6A62"/>
                </a:solidFill>
              </a:rPr>
              <a:t>Shaabi Management Consultancy · Audit &amp; consulting</a:t>
            </a:r>
            <a:endParaRPr lang="en-US" sz="950" dirty="0"/>
          </a:p>
          <a:p>
            <a:pPr indent="0" marL="0">
              <a:spcAft>
                <a:spcPts val="400"/>
              </a:spcAft>
              <a:buNone/>
            </a:pPr>
            <a:r>
              <a:rPr lang="en-US" sz="1150" dirty="0">
                <a:solidFill>
                  <a:srgbClr val="34433B"/>
                </a:solidFill>
              </a:rPr>
              <a:t>Field audits, planned, run and closed in one system.</a:t>
            </a:r>
            <a:endParaRPr lang="en-US" sz="950" dirty="0"/>
          </a:p>
          <a:p>
            <a:pPr indent="0" marL="0">
              <a:spcAft>
                <a:spcPts val="400"/>
              </a:spcAft>
              <a:buNone/>
            </a:pPr>
            <a:r>
              <a:rPr lang="en-US" sz="950" b="1" dirty="0">
                <a:solidFill>
                  <a:srgbClr val="4E6B31"/>
                </a:solidFill>
              </a:rPr>
              <a:t>Slide 5 →</a:t>
            </a:r>
            <a:endParaRPr lang="en-US" sz="950" dirty="0"/>
          </a:p>
        </p:txBody>
      </p:sp>
      <p:sp>
        <p:nvSpPr>
          <p:cNvPr id="8" name="Shape 4">
            <a:hlinkClick r:id="rId3" tooltip="Go to SMC Task Management" action="ppaction://hlinksldjump"/>
          </p:cNvPr>
          <p:cNvSpPr/>
          <p:nvPr/>
        </p:nvSpPr>
        <p:spPr>
          <a:xfrm>
            <a:off x="548640" y="1874520"/>
            <a:ext cx="5440680" cy="2011680"/>
          </a:xfrm>
          <a:prstGeom prst="rect">
            <a:avLst/>
          </a:prstGeom>
          <a:solidFill>
            <a:srgbClr val="FFFFFF">
              <a:alpha val="0"/>
            </a:srgbClr>
          </a:solidFill>
          <a:ln/>
        </p:spPr>
      </p:sp>
      <p:sp>
        <p:nvSpPr>
          <p:cNvPr id="9" name="Shape 5"/>
          <p:cNvSpPr/>
          <p:nvPr/>
        </p:nvSpPr>
        <p:spPr>
          <a:xfrm>
            <a:off x="6153912" y="1874520"/>
            <a:ext cx="2697480" cy="2011680"/>
          </a:xfrm>
          <a:prstGeom prst="roundRect">
            <a:avLst>
              <a:gd name="adj" fmla="val 5455"/>
            </a:avLst>
          </a:prstGeom>
          <a:solidFill>
            <a:srgbClr val="033F2D"/>
          </a:solidFill>
          <a:ln/>
        </p:spPr>
      </p:sp>
      <p:pic>
        <p:nvPicPr>
          <p:cNvPr id="10" name="Image 2" descr="Veloce Scrap Flow screens">    </p:cNvPr>
          <p:cNvPicPr>
            <a:picLocks noChangeAspect="1"/>
          </p:cNvPicPr>
          <p:nvPr/>
        </p:nvPicPr>
        <p:blipFill>
          <a:blip r:embed="rId4"/>
          <a:stretch>
            <a:fillRect/>
          </a:stretch>
        </p:blipFill>
        <p:spPr>
          <a:xfrm>
            <a:off x="6214506" y="1968947"/>
            <a:ext cx="2576292" cy="1644640"/>
          </a:xfrm>
          <a:prstGeom prst="rect">
            <a:avLst/>
          </a:prstGeom>
        </p:spPr>
      </p:pic>
      <p:sp>
        <p:nvSpPr>
          <p:cNvPr id="11" name="Text 6"/>
          <p:cNvSpPr txBox="1"/>
          <p:nvPr/>
        </p:nvSpPr>
        <p:spPr>
          <a:xfrm>
            <a:off x="9079992" y="1984248"/>
            <a:ext cx="2514600" cy="187452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02</a:t>
            </a:r>
            <a:endParaRPr lang="en-US" sz="950" dirty="0"/>
          </a:p>
          <a:p>
            <a:pPr indent="0" marL="0">
              <a:spcAft>
                <a:spcPts val="400"/>
              </a:spcAft>
              <a:buNone/>
            </a:pPr>
            <a:r>
              <a:rPr lang="en-US" sz="1800" b="1" dirty="0">
                <a:solidFill>
                  <a:srgbClr val="0D1813"/>
                </a:solidFill>
              </a:rPr>
              <a:t>Veloce Scrap Flow</a:t>
            </a:r>
            <a:endParaRPr lang="en-US" sz="950" dirty="0"/>
          </a:p>
          <a:p>
            <a:pPr indent="0" marL="0">
              <a:spcAft>
                <a:spcPts val="400"/>
              </a:spcAft>
              <a:buNone/>
            </a:pPr>
            <a:r>
              <a:rPr lang="en-US" sz="950" dirty="0">
                <a:solidFill>
                  <a:srgbClr val="5C6A62"/>
                </a:solidFill>
              </a:rPr>
              <a:t>Veloce · Scrap &amp; recycling</a:t>
            </a:r>
            <a:endParaRPr lang="en-US" sz="950" dirty="0"/>
          </a:p>
          <a:p>
            <a:pPr indent="0" marL="0">
              <a:spcAft>
                <a:spcPts val="400"/>
              </a:spcAft>
              <a:buNone/>
            </a:pPr>
            <a:r>
              <a:rPr lang="en-US" sz="1150" dirty="0">
                <a:solidFill>
                  <a:srgbClr val="34433B"/>
                </a:solidFill>
              </a:rPr>
              <a:t>Every kilogram, from weighbridge to dispatch.</a:t>
            </a:r>
            <a:endParaRPr lang="en-US" sz="950" dirty="0"/>
          </a:p>
          <a:p>
            <a:pPr indent="0" marL="0">
              <a:spcAft>
                <a:spcPts val="400"/>
              </a:spcAft>
              <a:buNone/>
            </a:pPr>
            <a:r>
              <a:rPr lang="en-US" sz="950" b="1" dirty="0">
                <a:solidFill>
                  <a:srgbClr val="4E6B31"/>
                </a:solidFill>
              </a:rPr>
              <a:t>Slide 13 →</a:t>
            </a:r>
            <a:endParaRPr lang="en-US" sz="950" dirty="0"/>
          </a:p>
        </p:txBody>
      </p:sp>
      <p:sp>
        <p:nvSpPr>
          <p:cNvPr id="12" name="Shape 7">
            <a:hlinkClick r:id="rId5" tooltip="Go to Veloce Scrap Flow" action="ppaction://hlinksldjump"/>
          </p:cNvPr>
          <p:cNvSpPr/>
          <p:nvPr/>
        </p:nvSpPr>
        <p:spPr>
          <a:xfrm>
            <a:off x="6153912" y="1874520"/>
            <a:ext cx="5440680" cy="2011680"/>
          </a:xfrm>
          <a:prstGeom prst="rect">
            <a:avLst/>
          </a:prstGeom>
          <a:solidFill>
            <a:srgbClr val="FFFFFF">
              <a:alpha val="0"/>
            </a:srgbClr>
          </a:solidFill>
          <a:ln/>
        </p:spPr>
      </p:sp>
      <p:sp>
        <p:nvSpPr>
          <p:cNvPr id="13" name="Shape 8"/>
          <p:cNvSpPr/>
          <p:nvPr/>
        </p:nvSpPr>
        <p:spPr>
          <a:xfrm>
            <a:off x="548640" y="4114800"/>
            <a:ext cx="2697480" cy="2011680"/>
          </a:xfrm>
          <a:prstGeom prst="roundRect">
            <a:avLst>
              <a:gd name="adj" fmla="val 5455"/>
            </a:avLst>
          </a:prstGeom>
          <a:solidFill>
            <a:srgbClr val="E2E9D6"/>
          </a:solidFill>
          <a:ln/>
        </p:spPr>
      </p:sp>
      <p:pic>
        <p:nvPicPr>
          <p:cNvPr id="14" name="Image 3" descr="Clario screens">    </p:cNvPr>
          <p:cNvPicPr>
            <a:picLocks noChangeAspect="1"/>
          </p:cNvPicPr>
          <p:nvPr/>
        </p:nvPicPr>
        <p:blipFill>
          <a:blip r:embed="rId6"/>
          <a:stretch>
            <a:fillRect/>
          </a:stretch>
        </p:blipFill>
        <p:spPr>
          <a:xfrm>
            <a:off x="609234" y="4209227"/>
            <a:ext cx="2576292" cy="1643604"/>
          </a:xfrm>
          <a:prstGeom prst="rect">
            <a:avLst/>
          </a:prstGeom>
        </p:spPr>
      </p:pic>
      <p:sp>
        <p:nvSpPr>
          <p:cNvPr id="15" name="Text 9"/>
          <p:cNvSpPr txBox="1"/>
          <p:nvPr/>
        </p:nvSpPr>
        <p:spPr>
          <a:xfrm>
            <a:off x="3474720" y="4224528"/>
            <a:ext cx="2514600" cy="187452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03</a:t>
            </a:r>
            <a:endParaRPr lang="en-US" sz="950" dirty="0"/>
          </a:p>
          <a:p>
            <a:pPr indent="0" marL="0">
              <a:spcAft>
                <a:spcPts val="400"/>
              </a:spcAft>
              <a:buNone/>
            </a:pPr>
            <a:r>
              <a:rPr lang="en-US" sz="1800" b="1" dirty="0">
                <a:solidFill>
                  <a:srgbClr val="0D1813"/>
                </a:solidFill>
              </a:rPr>
              <a:t>Clario</a:t>
            </a:r>
            <a:endParaRPr lang="en-US" sz="950" dirty="0"/>
          </a:p>
          <a:p>
            <a:pPr indent="0" marL="0">
              <a:spcAft>
                <a:spcPts val="400"/>
              </a:spcAft>
              <a:buNone/>
            </a:pPr>
            <a:r>
              <a:rPr lang="en-US" sz="950" dirty="0">
                <a:solidFill>
                  <a:srgbClr val="5C6A62"/>
                </a:solidFill>
              </a:rPr>
              <a:t>A Crita product · Business intelligence</a:t>
            </a:r>
            <a:endParaRPr lang="en-US" sz="950" dirty="0"/>
          </a:p>
          <a:p>
            <a:pPr indent="0" marL="0">
              <a:spcAft>
                <a:spcPts val="400"/>
              </a:spcAft>
              <a:buNone/>
            </a:pPr>
            <a:r>
              <a:rPr lang="en-US" sz="1150" dirty="0">
                <a:solidFill>
                  <a:srgbClr val="34433B"/>
                </a:solidFill>
              </a:rPr>
              <a:t>Understand your business, not just your numbers.</a:t>
            </a:r>
            <a:endParaRPr lang="en-US" sz="950" dirty="0"/>
          </a:p>
          <a:p>
            <a:pPr indent="0" marL="0">
              <a:spcAft>
                <a:spcPts val="400"/>
              </a:spcAft>
              <a:buNone/>
            </a:pPr>
            <a:r>
              <a:rPr lang="en-US" sz="950" b="1" dirty="0">
                <a:solidFill>
                  <a:srgbClr val="4E6B31"/>
                </a:solidFill>
              </a:rPr>
              <a:t>Slide 21 →</a:t>
            </a:r>
            <a:endParaRPr lang="en-US" sz="950" dirty="0"/>
          </a:p>
        </p:txBody>
      </p:sp>
      <p:sp>
        <p:nvSpPr>
          <p:cNvPr id="16" name="Shape 10">
            <a:hlinkClick r:id="rId7" tooltip="Go to Clario" action="ppaction://hlinksldjump"/>
          </p:cNvPr>
          <p:cNvSpPr/>
          <p:nvPr/>
        </p:nvSpPr>
        <p:spPr>
          <a:xfrm>
            <a:off x="548640" y="4114800"/>
            <a:ext cx="5440680" cy="2011680"/>
          </a:xfrm>
          <a:prstGeom prst="rect">
            <a:avLst/>
          </a:prstGeom>
          <a:solidFill>
            <a:srgbClr val="FFFFFF">
              <a:alpha val="0"/>
            </a:srgbClr>
          </a:solidFill>
          <a:ln/>
        </p:spPr>
      </p:sp>
      <p:sp>
        <p:nvSpPr>
          <p:cNvPr id="17" name="Shape 11"/>
          <p:cNvSpPr/>
          <p:nvPr/>
        </p:nvSpPr>
        <p:spPr>
          <a:xfrm>
            <a:off x="6153912" y="4114800"/>
            <a:ext cx="2697480" cy="2011680"/>
          </a:xfrm>
          <a:prstGeom prst="roundRect">
            <a:avLst>
              <a:gd name="adj" fmla="val 5455"/>
            </a:avLst>
          </a:prstGeom>
          <a:solidFill>
            <a:srgbClr val="DFE4EC"/>
          </a:solidFill>
          <a:ln/>
        </p:spPr>
      </p:sp>
      <p:pic>
        <p:nvPicPr>
          <p:cNvPr id="18" name="Image 4" descr="City Threads screens">    </p:cNvPr>
          <p:cNvPicPr>
            <a:picLocks noChangeAspect="1"/>
          </p:cNvPicPr>
          <p:nvPr/>
        </p:nvPicPr>
        <p:blipFill>
          <a:blip r:embed="rId8"/>
          <a:stretch>
            <a:fillRect/>
          </a:stretch>
        </p:blipFill>
        <p:spPr>
          <a:xfrm>
            <a:off x="6214506" y="4209227"/>
            <a:ext cx="2576292" cy="1645676"/>
          </a:xfrm>
          <a:prstGeom prst="rect">
            <a:avLst/>
          </a:prstGeom>
        </p:spPr>
      </p:pic>
      <p:sp>
        <p:nvSpPr>
          <p:cNvPr id="19" name="Text 12"/>
          <p:cNvSpPr txBox="1"/>
          <p:nvPr/>
        </p:nvSpPr>
        <p:spPr>
          <a:xfrm>
            <a:off x="9079992" y="4224528"/>
            <a:ext cx="2514600" cy="187452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04</a:t>
            </a:r>
            <a:endParaRPr lang="en-US" sz="950" dirty="0"/>
          </a:p>
          <a:p>
            <a:pPr indent="0" marL="0">
              <a:spcAft>
                <a:spcPts val="400"/>
              </a:spcAft>
              <a:buNone/>
            </a:pPr>
            <a:r>
              <a:rPr lang="en-US" sz="1800" b="1" dirty="0">
                <a:solidFill>
                  <a:srgbClr val="0D1813"/>
                </a:solidFill>
              </a:rPr>
              <a:t>City Threads</a:t>
            </a:r>
            <a:endParaRPr lang="en-US" sz="950" dirty="0"/>
          </a:p>
          <a:p>
            <a:pPr indent="0" marL="0">
              <a:spcAft>
                <a:spcPts val="400"/>
              </a:spcAft>
              <a:buNone/>
            </a:pPr>
            <a:r>
              <a:rPr lang="en-US" sz="950" dirty="0">
                <a:solidFill>
                  <a:srgbClr val="5C6A62"/>
                </a:solidFill>
              </a:rPr>
              <a:t>City Threads Textiles · Textile distribution</a:t>
            </a:r>
            <a:endParaRPr lang="en-US" sz="950" dirty="0"/>
          </a:p>
          <a:p>
            <a:pPr indent="0" marL="0">
              <a:spcAft>
                <a:spcPts val="400"/>
              </a:spcAft>
              <a:buNone/>
            </a:pPr>
            <a:r>
              <a:rPr lang="en-US" sz="1150" dirty="0">
                <a:solidFill>
                  <a:srgbClr val="34433B"/>
                </a:solidFill>
              </a:rPr>
              <a:t>Every lot, every bin, every dispatch — accounted for.</a:t>
            </a:r>
            <a:endParaRPr lang="en-US" sz="950" dirty="0"/>
          </a:p>
          <a:p>
            <a:pPr indent="0" marL="0">
              <a:spcAft>
                <a:spcPts val="400"/>
              </a:spcAft>
              <a:buNone/>
            </a:pPr>
            <a:r>
              <a:rPr lang="en-US" sz="950" b="1" dirty="0">
                <a:solidFill>
                  <a:srgbClr val="4E6B31"/>
                </a:solidFill>
              </a:rPr>
              <a:t>Slide 29 →</a:t>
            </a:r>
            <a:endParaRPr lang="en-US" sz="950" dirty="0"/>
          </a:p>
        </p:txBody>
      </p:sp>
      <p:sp>
        <p:nvSpPr>
          <p:cNvPr id="20" name="Shape 13">
            <a:hlinkClick r:id="rId9" tooltip="Go to City Threads" action="ppaction://hlinksldjump"/>
          </p:cNvPr>
          <p:cNvSpPr/>
          <p:nvPr/>
        </p:nvSpPr>
        <p:spPr>
          <a:xfrm>
            <a:off x="6153912" y="4114800"/>
            <a:ext cx="5440680" cy="2011680"/>
          </a:xfrm>
          <a:prstGeom prst="rect">
            <a:avLst/>
          </a:prstGeom>
          <a:solidFill>
            <a:srgbClr val="FFFFFF">
              <a:alpha val="0"/>
            </a:srgbClr>
          </a:solidFill>
          <a:ln/>
        </p:spPr>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13D"/>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89788"/>
            <a:ext cx="182880" cy="134417"/>
          </a:xfrm>
          <a:prstGeom prst="rect">
            <a:avLst/>
          </a:prstGeom>
        </p:spPr>
      </p:pic>
      <p:sp>
        <p:nvSpPr>
          <p:cNvPr id="3" name="Text 0"/>
          <p:cNvSpPr txBox="1"/>
          <p:nvPr/>
        </p:nvSpPr>
        <p:spPr>
          <a:xfrm>
            <a:off x="813816" y="548640"/>
            <a:ext cx="4754880" cy="219456"/>
          </a:xfrm>
          <a:prstGeom prst="rect">
            <a:avLst/>
          </a:prstGeom>
          <a:noFill/>
          <a:ln/>
        </p:spPr>
        <p:txBody>
          <a:bodyPr wrap="square" lIns="0" tIns="0" rIns="0" bIns="0" rtlCol="0" anchor="ctr"/>
          <a:lstStyle/>
          <a:p>
            <a:pPr indent="0" marL="0">
              <a:buNone/>
            </a:pPr>
            <a:r>
              <a:rPr lang="en-US" sz="900" b="1" spc="200" kern="0" dirty="0">
                <a:solidFill>
                  <a:srgbClr val="8C938B"/>
                </a:solidFill>
              </a:rPr>
              <a:t>01 — FIELD OPERATIONS PLATFORM</a:t>
            </a:r>
            <a:endParaRPr lang="en-US" sz="900" dirty="0"/>
          </a:p>
        </p:txBody>
      </p:sp>
      <p:sp>
        <p:nvSpPr>
          <p:cNvPr id="4" name="Text 1"/>
          <p:cNvSpPr/>
          <p:nvPr>
            <p:ph idx="101" type="title" hasCustomPrompt="1"/>
          </p:nvPr>
        </p:nvSpPr>
        <p:spPr>
          <a:xfrm>
            <a:off x="548640" y="896112"/>
            <a:ext cx="4800600" cy="1481328"/>
          </a:xfrm>
          <a:prstGeom prst="rect">
            <a:avLst/>
          </a:prstGeom>
          <a:noFill/>
          <a:ln/>
        </p:spPr>
        <p:txBody>
          <a:bodyPr wrap="square" lIns="0" tIns="0" rIns="0" bIns="0" rtlCol="0" anchor="t"/>
          <a:lstStyle/>
          <a:p>
            <a:pPr algn="l" indent="0" marL="0">
              <a:lnSpc>
                <a:spcPct val="92000"/>
              </a:lnSpc>
              <a:buNone/>
            </a:pPr>
            <a:r>
              <a:rPr lang="en-US" sz="4000" b="1" spc="-100" kern="0" dirty="0">
                <a:solidFill>
                  <a:srgbClr val="EEF0E6"/>
                </a:solidFill>
              </a:rPr>
              <a:t>SMC Task Management</a:t>
            </a:r>
            <a:endParaRPr lang="en-US" sz="4000" dirty="0"/>
          </a:p>
        </p:txBody>
      </p:sp>
      <p:sp>
        <p:nvSpPr>
          <p:cNvPr id="5" name="Text 2"/>
          <p:cNvSpPr txBox="1"/>
          <p:nvPr/>
        </p:nvSpPr>
        <p:spPr>
          <a:xfrm>
            <a:off x="548640" y="2450592"/>
            <a:ext cx="4572000" cy="777240"/>
          </a:xfrm>
          <a:prstGeom prst="rect">
            <a:avLst/>
          </a:prstGeom>
          <a:noFill/>
          <a:ln/>
        </p:spPr>
        <p:txBody>
          <a:bodyPr wrap="square" lIns="0" tIns="0" rIns="0" bIns="0" rtlCol="0" anchor="t"/>
          <a:lstStyle/>
          <a:p>
            <a:pPr indent="0" marL="0">
              <a:lnSpc>
                <a:spcPct val="108000"/>
              </a:lnSpc>
              <a:buNone/>
            </a:pPr>
            <a:r>
              <a:rPr lang="en-US" sz="1650" dirty="0">
                <a:solidFill>
                  <a:srgbClr val="EEF0E6"/>
                </a:solidFill>
                <a:latin typeface="Satoshi Medium" pitchFamily="34" charset="0"/>
                <a:ea typeface="Satoshi Medium" pitchFamily="34" charset="-122"/>
                <a:cs typeface="Satoshi Medium" pitchFamily="34" charset="-120"/>
              </a:rPr>
              <a:t>Field audits, planned, run and closed in one system.</a:t>
            </a:r>
            <a:endParaRPr lang="en-US" sz="1650" dirty="0"/>
          </a:p>
        </p:txBody>
      </p:sp>
      <p:sp>
        <p:nvSpPr>
          <p:cNvPr id="6" name="Text 3"/>
          <p:cNvSpPr txBox="1"/>
          <p:nvPr/>
        </p:nvSpPr>
        <p:spPr>
          <a:xfrm>
            <a:off x="548640" y="3273552"/>
            <a:ext cx="4572000" cy="1325880"/>
          </a:xfrm>
          <a:prstGeom prst="rect">
            <a:avLst/>
          </a:prstGeom>
          <a:noFill/>
          <a:ln/>
        </p:spPr>
        <p:txBody>
          <a:bodyPr wrap="square" lIns="0" tIns="0" rIns="0" bIns="0" rtlCol="0" anchor="t"/>
          <a:lstStyle/>
          <a:p>
            <a:pPr indent="0" marL="0">
              <a:lnSpc>
                <a:spcPct val="115000"/>
              </a:lnSpc>
              <a:buNone/>
            </a:pPr>
            <a:r>
              <a:rPr lang="en-US" sz="1100" dirty="0">
                <a:solidFill>
                  <a:srgbClr val="BFC4BA"/>
                </a:solidFill>
              </a:rPr>
              <a:t>A field-audit operations platform for an audit consultancy. Admins plan visits and define each client’s checklist; executives run every visit from their phone; nothing incomplete is lost between visits.</a:t>
            </a:r>
            <a:endParaRPr lang="en-US" sz="1100" dirty="0"/>
          </a:p>
        </p:txBody>
      </p:sp>
      <p:sp>
        <p:nvSpPr>
          <p:cNvPr id="7" name="Shape 4"/>
          <p:cNvSpPr/>
          <p:nvPr/>
        </p:nvSpPr>
        <p:spPr>
          <a:xfrm>
            <a:off x="548640" y="4754880"/>
            <a:ext cx="4572000" cy="0"/>
          </a:xfrm>
          <a:prstGeom prst="line">
            <a:avLst/>
          </a:prstGeom>
          <a:noFill/>
          <a:ln w="9525">
            <a:solidFill>
              <a:srgbClr val="2A3832"/>
            </a:solidFill>
            <a:prstDash val="solid"/>
          </a:ln>
        </p:spPr>
      </p:sp>
      <p:sp>
        <p:nvSpPr>
          <p:cNvPr id="8" name="Text 5"/>
          <p:cNvSpPr txBox="1"/>
          <p:nvPr/>
        </p:nvSpPr>
        <p:spPr>
          <a:xfrm>
            <a:off x="548640" y="4901184"/>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CLIENT</a:t>
            </a:r>
            <a:endParaRPr lang="en-US" sz="800" dirty="0"/>
          </a:p>
          <a:p>
            <a:pPr indent="0" marL="0">
              <a:spcAft>
                <a:spcPts val="200"/>
              </a:spcAft>
              <a:buNone/>
            </a:pPr>
            <a:r>
              <a:rPr lang="en-US" sz="1100" b="1" dirty="0">
                <a:solidFill>
                  <a:srgbClr val="EEF0E6"/>
                </a:solidFill>
              </a:rPr>
              <a:t>Shaabi Management Consultancy</a:t>
            </a:r>
            <a:endParaRPr lang="en-US" sz="800" dirty="0"/>
          </a:p>
        </p:txBody>
      </p:sp>
      <p:sp>
        <p:nvSpPr>
          <p:cNvPr id="9" name="Text 6"/>
          <p:cNvSpPr txBox="1"/>
          <p:nvPr/>
        </p:nvSpPr>
        <p:spPr>
          <a:xfrm>
            <a:off x="2926080" y="4901184"/>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SECTOR</a:t>
            </a:r>
            <a:endParaRPr lang="en-US" sz="800" dirty="0"/>
          </a:p>
          <a:p>
            <a:pPr indent="0" marL="0">
              <a:spcAft>
                <a:spcPts val="200"/>
              </a:spcAft>
              <a:buNone/>
            </a:pPr>
            <a:r>
              <a:rPr lang="en-US" sz="1100" b="1" dirty="0">
                <a:solidFill>
                  <a:srgbClr val="EEF0E6"/>
                </a:solidFill>
              </a:rPr>
              <a:t>Audit &amp; consulting</a:t>
            </a:r>
            <a:endParaRPr lang="en-US" sz="800" dirty="0"/>
          </a:p>
        </p:txBody>
      </p:sp>
      <p:sp>
        <p:nvSpPr>
          <p:cNvPr id="10" name="Text 7"/>
          <p:cNvSpPr txBox="1"/>
          <p:nvPr/>
        </p:nvSpPr>
        <p:spPr>
          <a:xfrm>
            <a:off x="548640" y="5596128"/>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PLATFORM</a:t>
            </a:r>
            <a:endParaRPr lang="en-US" sz="800" dirty="0"/>
          </a:p>
          <a:p>
            <a:pPr indent="0" marL="0">
              <a:spcAft>
                <a:spcPts val="200"/>
              </a:spcAft>
              <a:buNone/>
            </a:pPr>
            <a:r>
              <a:rPr lang="en-US" sz="1100" b="1" dirty="0">
                <a:solidFill>
                  <a:srgbClr val="EEF0E6"/>
                </a:solidFill>
              </a:rPr>
              <a:t>Web · Android</a:t>
            </a:r>
            <a:endParaRPr lang="en-US" sz="800" dirty="0"/>
          </a:p>
        </p:txBody>
      </p:sp>
      <p:sp>
        <p:nvSpPr>
          <p:cNvPr id="11" name="Text 8"/>
          <p:cNvSpPr txBox="1"/>
          <p:nvPr/>
        </p:nvSpPr>
        <p:spPr>
          <a:xfrm>
            <a:off x="2926080" y="5596128"/>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ROLES</a:t>
            </a:r>
            <a:endParaRPr lang="en-US" sz="800" dirty="0"/>
          </a:p>
          <a:p>
            <a:pPr indent="0" marL="0">
              <a:spcAft>
                <a:spcPts val="200"/>
              </a:spcAft>
              <a:buNone/>
            </a:pPr>
            <a:r>
              <a:rPr lang="en-US" sz="1100" b="1" dirty="0">
                <a:solidFill>
                  <a:srgbClr val="EEF0E6"/>
                </a:solidFill>
              </a:rPr>
              <a:t>Admin · Field Executive</a:t>
            </a:r>
            <a:endParaRPr lang="en-US" sz="800" dirty="0"/>
          </a:p>
        </p:txBody>
      </p:sp>
      <p:pic>
        <p:nvPicPr>
          <p:cNvPr id="12" name="Image 1" descr="SMC Task Management on desktop and mobile">    </p:cNvPr>
          <p:cNvPicPr>
            <a:picLocks noChangeAspect="1"/>
          </p:cNvPicPr>
          <p:nvPr/>
        </p:nvPicPr>
        <p:blipFill>
          <a:blip r:embed="rId2"/>
          <a:stretch>
            <a:fillRect/>
          </a:stretch>
        </p:blipFill>
        <p:spPr>
          <a:xfrm>
            <a:off x="5162702" y="1335938"/>
            <a:ext cx="6819595" cy="4350715"/>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8C93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89788"/>
            <a:ext cx="182880" cy="134417"/>
          </a:xfrm>
          <a:prstGeom prst="rect">
            <a:avLst/>
          </a:prstGeom>
        </p:spPr>
      </p:pic>
      <p:sp>
        <p:nvSpPr>
          <p:cNvPr id="3" name="Text 0"/>
          <p:cNvSpPr txBox="1"/>
          <p:nvPr/>
        </p:nvSpPr>
        <p:spPr>
          <a:xfrm>
            <a:off x="813816" y="548640"/>
            <a:ext cx="45720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THE CHALLENGE</a:t>
            </a:r>
            <a:endParaRPr lang="en-US" sz="900" dirty="0"/>
          </a:p>
        </p:txBody>
      </p:sp>
      <p:sp>
        <p:nvSpPr>
          <p:cNvPr id="4" name="Text 1"/>
          <p:cNvSpPr txBox="1"/>
          <p:nvPr/>
        </p:nvSpPr>
        <p:spPr>
          <a:xfrm>
            <a:off x="548640" y="841248"/>
            <a:ext cx="4800600" cy="868680"/>
          </a:xfrm>
          <a:prstGeom prst="rect">
            <a:avLst/>
          </a:prstGeom>
          <a:noFill/>
          <a:ln/>
        </p:spPr>
        <p:txBody>
          <a:bodyPr wrap="square" lIns="0" tIns="0" rIns="0" bIns="0" rtlCol="0" anchor="t"/>
          <a:lstStyle/>
          <a:p>
            <a:pPr indent="0" marL="0">
              <a:lnSpc>
                <a:spcPct val="100000"/>
              </a:lnSpc>
              <a:buNone/>
            </a:pPr>
            <a:r>
              <a:rPr lang="en-US" sz="1900" b="1" spc="-40" kern="0" dirty="0">
                <a:solidFill>
                  <a:srgbClr val="0D1813"/>
                </a:solidFill>
              </a:rPr>
              <a:t>Weekly audits, dozens of clients, no single view.</a:t>
            </a:r>
            <a:endParaRPr lang="en-US" sz="1900" dirty="0"/>
          </a:p>
        </p:txBody>
      </p:sp>
      <p:sp>
        <p:nvSpPr>
          <p:cNvPr id="5" name="Text 2"/>
          <p:cNvSpPr txBox="1"/>
          <p:nvPr/>
        </p:nvSpPr>
        <p:spPr>
          <a:xfrm>
            <a:off x="548640" y="1755648"/>
            <a:ext cx="4800600" cy="1600200"/>
          </a:xfrm>
          <a:prstGeom prst="rect">
            <a:avLst/>
          </a:prstGeom>
          <a:noFill/>
          <a:ln/>
        </p:spPr>
        <p:txBody>
          <a:bodyPr wrap="square" lIns="0" tIns="0" rIns="0" bIns="0" rtlCol="0" anchor="t"/>
          <a:lstStyle/>
          <a:p>
            <a:pPr indent="0" marL="0">
              <a:lnSpc>
                <a:spcPct val="115000"/>
              </a:lnSpc>
              <a:buNone/>
            </a:pPr>
            <a:r>
              <a:rPr lang="en-US" sz="1150" dirty="0">
                <a:solidFill>
                  <a:srgbClr val="5C6A62"/>
                </a:solidFill>
              </a:rPr>
              <a:t>SMC’s executives visit client sites every week to verify operations, stock, accounts and reports — and every client needs a different checklist. Tracking was manual: unfinished items relied on memory to reach the next visit, and management had no live view of progress across the team.</a:t>
            </a:r>
            <a:endParaRPr lang="en-US" sz="1150" dirty="0"/>
          </a:p>
        </p:txBody>
      </p:sp>
      <p:pic>
        <p:nvPicPr>
          <p:cNvPr id="6" name="Image 1" descr="F:\Office Project\Crita Portfolio\portfolio\ppt\brand\c.png">    </p:cNvPr>
          <p:cNvPicPr>
            <a:picLocks noChangeAspect="1"/>
          </p:cNvPicPr>
          <p:nvPr/>
        </p:nvPicPr>
        <p:blipFill>
          <a:blip r:embed="rId2"/>
          <a:stretch>
            <a:fillRect/>
          </a:stretch>
        </p:blipFill>
        <p:spPr>
          <a:xfrm>
            <a:off x="548640" y="3534156"/>
            <a:ext cx="182880" cy="134417"/>
          </a:xfrm>
          <a:prstGeom prst="rect">
            <a:avLst/>
          </a:prstGeom>
        </p:spPr>
      </p:pic>
      <p:sp>
        <p:nvSpPr>
          <p:cNvPr id="7" name="Text 3"/>
          <p:cNvSpPr txBox="1"/>
          <p:nvPr/>
        </p:nvSpPr>
        <p:spPr>
          <a:xfrm>
            <a:off x="813816" y="3493008"/>
            <a:ext cx="45720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WHAT WE BUILT</a:t>
            </a:r>
            <a:endParaRPr lang="en-US" sz="900" dirty="0"/>
          </a:p>
        </p:txBody>
      </p:sp>
      <p:sp>
        <p:nvSpPr>
          <p:cNvPr id="8" name="Text 4"/>
          <p:cNvSpPr txBox="1"/>
          <p:nvPr/>
        </p:nvSpPr>
        <p:spPr>
          <a:xfrm>
            <a:off x="548640" y="3785616"/>
            <a:ext cx="4800600" cy="868680"/>
          </a:xfrm>
          <a:prstGeom prst="rect">
            <a:avLst/>
          </a:prstGeom>
          <a:noFill/>
          <a:ln/>
        </p:spPr>
        <p:txBody>
          <a:bodyPr wrap="square" lIns="0" tIns="0" rIns="0" bIns="0" rtlCol="0" anchor="t"/>
          <a:lstStyle/>
          <a:p>
            <a:pPr indent="0" marL="0">
              <a:lnSpc>
                <a:spcPct val="100000"/>
              </a:lnSpc>
              <a:buNone/>
            </a:pPr>
            <a:r>
              <a:rPr lang="en-US" sz="1900" b="1" spc="-40" kern="0" dirty="0">
                <a:solidFill>
                  <a:srgbClr val="0D1813"/>
                </a:solidFill>
              </a:rPr>
              <a:t>One system, from the admin’s calendar to the executive’s phone.</a:t>
            </a:r>
            <a:endParaRPr lang="en-US" sz="1900" dirty="0"/>
          </a:p>
        </p:txBody>
      </p:sp>
      <p:sp>
        <p:nvSpPr>
          <p:cNvPr id="9" name="Text 5"/>
          <p:cNvSpPr txBox="1"/>
          <p:nvPr/>
        </p:nvSpPr>
        <p:spPr>
          <a:xfrm>
            <a:off x="548640" y="4681728"/>
            <a:ext cx="4800600" cy="1600200"/>
          </a:xfrm>
          <a:prstGeom prst="rect">
            <a:avLst/>
          </a:prstGeom>
          <a:noFill/>
          <a:ln/>
        </p:spPr>
        <p:txBody>
          <a:bodyPr wrap="square" lIns="0" tIns="0" rIns="0" bIns="0" rtlCol="0" anchor="t"/>
          <a:lstStyle/>
          <a:p>
            <a:pPr indent="0" marL="0">
              <a:lnSpc>
                <a:spcPct val="115000"/>
              </a:lnSpc>
              <a:buNone/>
            </a:pPr>
            <a:r>
              <a:rPr lang="en-US" sz="1150" dirty="0">
                <a:solidFill>
                  <a:srgbClr val="5C6A62"/>
                </a:solidFill>
              </a:rPr>
              <a:t>Crita built a role-based platform that turns each audit visit into a structured, trackable workflow. Admins schedule visits and configure checklists per client. Executives open the visit on their phone, complete each item or record why it couldn’t be done, and close it only when the rules are met. Unfinished work carries forward — with admin approval — into the next visit.</a:t>
            </a:r>
            <a:endParaRPr lang="en-US" sz="1150" dirty="0"/>
          </a:p>
        </p:txBody>
      </p:sp>
      <p:sp>
        <p:nvSpPr>
          <p:cNvPr id="10" name="Shape 6"/>
          <p:cNvSpPr/>
          <p:nvPr/>
        </p:nvSpPr>
        <p:spPr>
          <a:xfrm>
            <a:off x="5760720" y="502920"/>
            <a:ext cx="5879592" cy="5715000"/>
          </a:xfrm>
          <a:prstGeom prst="roundRect">
            <a:avLst>
              <a:gd name="adj" fmla="val 2560"/>
            </a:avLst>
          </a:prstGeom>
          <a:solidFill>
            <a:srgbClr val="E9EDF5"/>
          </a:solidFill>
          <a:ln/>
        </p:spPr>
      </p:sp>
      <p:pic>
        <p:nvPicPr>
          <p:cNvPr id="11" name="Image 2" descr="SMC Task Management screens">    </p:cNvPr>
          <p:cNvPicPr>
            <a:picLocks noChangeAspect="1"/>
          </p:cNvPicPr>
          <p:nvPr/>
        </p:nvPicPr>
        <p:blipFill>
          <a:blip r:embed="rId3"/>
          <a:stretch>
            <a:fillRect/>
          </a:stretch>
        </p:blipFill>
        <p:spPr>
          <a:xfrm>
            <a:off x="5865102" y="1335657"/>
            <a:ext cx="5689115" cy="4205677"/>
          </a:xfrm>
          <a:prstGeom prst="rect">
            <a:avLst/>
          </a:prstGeom>
        </p:spPr>
      </p:pic>
      <p:sp>
        <p:nvSpPr>
          <p:cNvPr id="13"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DF5"/>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PRODUCT EXPERIENCE · 1 OF 2</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Inside SMC Task Management.</a:t>
            </a:r>
            <a:endParaRPr lang="en-US" sz="2800" dirty="0"/>
          </a:p>
        </p:txBody>
      </p:sp>
      <p:pic>
        <p:nvPicPr>
          <p:cNvPr id="5" name="Image 1" descr="The week at a glance">    </p:cNvPr>
          <p:cNvPicPr>
            <a:picLocks noChangeAspect="1"/>
          </p:cNvPicPr>
          <p:nvPr/>
        </p:nvPicPr>
        <p:blipFill>
          <a:blip r:embed="rId2"/>
          <a:stretch>
            <a:fillRect/>
          </a:stretch>
        </p:blipFill>
        <p:spPr>
          <a:xfrm>
            <a:off x="265704" y="1353231"/>
            <a:ext cx="5960831" cy="4064203"/>
          </a:xfrm>
          <a:prstGeom prst="rect">
            <a:avLst/>
          </a:prstGeom>
        </p:spPr>
      </p:pic>
      <p:sp>
        <p:nvSpPr>
          <p:cNvPr id="6" name="Text 2"/>
          <p:cNvSpPr txBox="1"/>
          <p:nvPr/>
        </p:nvSpPr>
        <p:spPr>
          <a:xfrm>
            <a:off x="548640"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01</a:t>
            </a:r>
            <a:endParaRPr lang="en-US" sz="950" dirty="0"/>
          </a:p>
          <a:p>
            <a:pPr indent="0" marL="0">
              <a:spcAft>
                <a:spcPts val="300"/>
              </a:spcAft>
              <a:buNone/>
            </a:pPr>
            <a:r>
              <a:rPr lang="en-US" sz="1500" b="1" dirty="0">
                <a:solidFill>
                  <a:srgbClr val="0D1813"/>
                </a:solidFill>
              </a:rPr>
              <a:t>The week at a glance</a:t>
            </a:r>
            <a:endParaRPr lang="en-US" sz="950" dirty="0"/>
          </a:p>
          <a:p>
            <a:pPr indent="0" marL="0">
              <a:spcAft>
                <a:spcPts val="300"/>
              </a:spcAft>
              <a:buNone/>
            </a:pPr>
            <a:r>
              <a:rPr lang="en-US" sz="1100" dirty="0">
                <a:solidFill>
                  <a:srgbClr val="5C6A62"/>
                </a:solidFill>
              </a:rPr>
              <a:t>Admins plan visits across the team in a weekly calendar — done, in progress, planned and carried forward, colour-coded.</a:t>
            </a:r>
            <a:endParaRPr lang="en-US" sz="950" dirty="0"/>
          </a:p>
        </p:txBody>
      </p:sp>
      <p:pic>
        <p:nvPicPr>
          <p:cNvPr id="7" name="Image 2" descr="Live operational dashboard">    </p:cNvPr>
          <p:cNvPicPr>
            <a:picLocks noChangeAspect="1"/>
          </p:cNvPicPr>
          <p:nvPr/>
        </p:nvPicPr>
        <p:blipFill>
          <a:blip r:embed="rId3"/>
          <a:stretch>
            <a:fillRect/>
          </a:stretch>
        </p:blipFill>
        <p:spPr>
          <a:xfrm>
            <a:off x="5907552" y="1353231"/>
            <a:ext cx="5960831" cy="4066601"/>
          </a:xfrm>
          <a:prstGeom prst="rect">
            <a:avLst/>
          </a:prstGeom>
        </p:spPr>
      </p:pic>
      <p:sp>
        <p:nvSpPr>
          <p:cNvPr id="8" name="Text 3"/>
          <p:cNvSpPr txBox="1"/>
          <p:nvPr/>
        </p:nvSpPr>
        <p:spPr>
          <a:xfrm>
            <a:off x="6190488"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02</a:t>
            </a:r>
            <a:endParaRPr lang="en-US" sz="950" dirty="0"/>
          </a:p>
          <a:p>
            <a:pPr indent="0" marL="0">
              <a:spcAft>
                <a:spcPts val="300"/>
              </a:spcAft>
              <a:buNone/>
            </a:pPr>
            <a:r>
              <a:rPr lang="en-US" sz="1500" b="1" dirty="0">
                <a:solidFill>
                  <a:srgbClr val="0D1813"/>
                </a:solidFill>
              </a:rPr>
              <a:t>Live operational dashboard</a:t>
            </a:r>
            <a:endParaRPr lang="en-US" sz="950" dirty="0"/>
          </a:p>
          <a:p>
            <a:pPr indent="0" marL="0">
              <a:spcAft>
                <a:spcPts val="300"/>
              </a:spcAft>
              <a:buNone/>
            </a:pPr>
            <a:r>
              <a:rPr lang="en-US" sz="1100" dirty="0">
                <a:solidFill>
                  <a:srgbClr val="5C6A62"/>
                </a:solidFill>
              </a:rPr>
              <a:t>Completion rate, staff performance and task distribution, with every executive’s workload one click away.</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DF5"/>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PRODUCT EXPERIENCE · 2 OF 2</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Inside SMC Task Management.</a:t>
            </a:r>
            <a:endParaRPr lang="en-US" sz="2800" dirty="0"/>
          </a:p>
        </p:txBody>
      </p:sp>
      <p:pic>
        <p:nvPicPr>
          <p:cNvPr id="5" name="Image 1" descr="Carry-forward, under control">    </p:cNvPr>
          <p:cNvPicPr>
            <a:picLocks noChangeAspect="1"/>
          </p:cNvPicPr>
          <p:nvPr/>
        </p:nvPicPr>
        <p:blipFill>
          <a:blip r:embed="rId2"/>
          <a:stretch>
            <a:fillRect/>
          </a:stretch>
        </p:blipFill>
        <p:spPr>
          <a:xfrm>
            <a:off x="265704" y="1353231"/>
            <a:ext cx="5960831" cy="4064203"/>
          </a:xfrm>
          <a:prstGeom prst="rect">
            <a:avLst/>
          </a:prstGeom>
        </p:spPr>
      </p:pic>
      <p:sp>
        <p:nvSpPr>
          <p:cNvPr id="6" name="Text 2"/>
          <p:cNvSpPr txBox="1"/>
          <p:nvPr/>
        </p:nvSpPr>
        <p:spPr>
          <a:xfrm>
            <a:off x="548640"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03</a:t>
            </a:r>
            <a:endParaRPr lang="en-US" sz="950" dirty="0"/>
          </a:p>
          <a:p>
            <a:pPr indent="0" marL="0">
              <a:spcAft>
                <a:spcPts val="300"/>
              </a:spcAft>
              <a:buNone/>
            </a:pPr>
            <a:r>
              <a:rPr lang="en-US" sz="1500" b="1" dirty="0">
                <a:solidFill>
                  <a:srgbClr val="0D1813"/>
                </a:solidFill>
              </a:rPr>
              <a:t>Carry-forward, under control</a:t>
            </a:r>
            <a:endParaRPr lang="en-US" sz="950" dirty="0"/>
          </a:p>
          <a:p>
            <a:pPr indent="0" marL="0">
              <a:spcAft>
                <a:spcPts val="300"/>
              </a:spcAft>
              <a:buNone/>
            </a:pPr>
            <a:r>
              <a:rPr lang="en-US" sz="1100" dirty="0">
                <a:solidFill>
                  <a:srgbClr val="5C6A62"/>
                </a:solidFill>
              </a:rPr>
              <a:t>Nothing moves to the next visit until an admin reviews it, chooses the schedule date and approves.</a:t>
            </a:r>
            <a:endParaRPr lang="en-US" sz="950" dirty="0"/>
          </a:p>
        </p:txBody>
      </p:sp>
      <p:pic>
        <p:nvPicPr>
          <p:cNvPr id="7" name="Image 2" descr="A visit, start to finish">    </p:cNvPr>
          <p:cNvPicPr>
            <a:picLocks noChangeAspect="1"/>
          </p:cNvPicPr>
          <p:nvPr/>
        </p:nvPicPr>
        <p:blipFill>
          <a:blip r:embed="rId3"/>
          <a:stretch>
            <a:fillRect/>
          </a:stretch>
        </p:blipFill>
        <p:spPr>
          <a:xfrm>
            <a:off x="5907552" y="1353231"/>
            <a:ext cx="5960831" cy="4066601"/>
          </a:xfrm>
          <a:prstGeom prst="rect">
            <a:avLst/>
          </a:prstGeom>
        </p:spPr>
      </p:pic>
      <p:sp>
        <p:nvSpPr>
          <p:cNvPr id="8" name="Text 3"/>
          <p:cNvSpPr txBox="1"/>
          <p:nvPr/>
        </p:nvSpPr>
        <p:spPr>
          <a:xfrm>
            <a:off x="6190488"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04</a:t>
            </a:r>
            <a:endParaRPr lang="en-US" sz="950" dirty="0"/>
          </a:p>
          <a:p>
            <a:pPr indent="0" marL="0">
              <a:spcAft>
                <a:spcPts val="300"/>
              </a:spcAft>
              <a:buNone/>
            </a:pPr>
            <a:r>
              <a:rPr lang="en-US" sz="1500" b="1" dirty="0">
                <a:solidFill>
                  <a:srgbClr val="0D1813"/>
                </a:solidFill>
              </a:rPr>
              <a:t>A visit, start to finish</a:t>
            </a:r>
            <a:endParaRPr lang="en-US" sz="950" dirty="0"/>
          </a:p>
          <a:p>
            <a:pPr indent="0" marL="0">
              <a:spcAft>
                <a:spcPts val="300"/>
              </a:spcAft>
              <a:buNone/>
            </a:pPr>
            <a:r>
              <a:rPr lang="en-US" sz="1100" dirty="0">
                <a:solidFill>
                  <a:srgbClr val="5C6A62"/>
                </a:solidFill>
              </a:rPr>
              <a:t>Tasks, subtasks, carried items and an activity trail on one screen — then an automatic summary at closure.</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KEY CAPABILITIES</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What SMC Task Management does.</a:t>
            </a:r>
            <a:endParaRPr lang="en-US" sz="2800" dirty="0"/>
          </a:p>
        </p:txBody>
      </p:sp>
      <p:sp>
        <p:nvSpPr>
          <p:cNvPr id="5" name="Shape 2"/>
          <p:cNvSpPr/>
          <p:nvPr/>
        </p:nvSpPr>
        <p:spPr>
          <a:xfrm>
            <a:off x="548640" y="1691640"/>
            <a:ext cx="3611880" cy="0"/>
          </a:xfrm>
          <a:prstGeom prst="line">
            <a:avLst/>
          </a:prstGeom>
          <a:noFill/>
          <a:ln w="9525">
            <a:solidFill>
              <a:srgbClr val="D3D5CC"/>
            </a:solidFill>
            <a:prstDash val="solid"/>
          </a:ln>
        </p:spPr>
      </p:sp>
      <p:sp>
        <p:nvSpPr>
          <p:cNvPr id="6" name="Text 3"/>
          <p:cNvSpPr txBox="1"/>
          <p:nvPr/>
        </p:nvSpPr>
        <p:spPr>
          <a:xfrm>
            <a:off x="548640" y="1810512"/>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01</a:t>
            </a:r>
            <a:endParaRPr lang="en-US" sz="950" dirty="0"/>
          </a:p>
          <a:p>
            <a:pPr indent="0" marL="0">
              <a:spcAft>
                <a:spcPts val="300"/>
              </a:spcAft>
              <a:buNone/>
            </a:pPr>
            <a:r>
              <a:rPr lang="en-US" sz="1400" b="1" dirty="0">
                <a:solidFill>
                  <a:srgbClr val="0D1813"/>
                </a:solidFill>
              </a:rPr>
              <a:t>Visit planning &amp; calendar</a:t>
            </a:r>
            <a:endParaRPr lang="en-US" sz="950" dirty="0"/>
          </a:p>
          <a:p>
            <a:pPr indent="0" marL="0">
              <a:spcAft>
                <a:spcPts val="300"/>
              </a:spcAft>
              <a:buNone/>
            </a:pPr>
            <a:r>
              <a:rPr lang="en-US" sz="1050" dirty="0">
                <a:solidFill>
                  <a:srgbClr val="5C6A62"/>
                </a:solidFill>
              </a:rPr>
              <a:t>Schedule, reschedule and reassign visits across executives in a weekly calendar.</a:t>
            </a:r>
            <a:endParaRPr lang="en-US" sz="950" dirty="0"/>
          </a:p>
        </p:txBody>
      </p:sp>
      <p:sp>
        <p:nvSpPr>
          <p:cNvPr id="7" name="Shape 4"/>
          <p:cNvSpPr/>
          <p:nvPr/>
        </p:nvSpPr>
        <p:spPr>
          <a:xfrm>
            <a:off x="4389120" y="1691640"/>
            <a:ext cx="3611880" cy="0"/>
          </a:xfrm>
          <a:prstGeom prst="line">
            <a:avLst/>
          </a:prstGeom>
          <a:noFill/>
          <a:ln w="9525">
            <a:solidFill>
              <a:srgbClr val="D3D5CC"/>
            </a:solidFill>
            <a:prstDash val="solid"/>
          </a:ln>
        </p:spPr>
      </p:sp>
      <p:sp>
        <p:nvSpPr>
          <p:cNvPr id="8" name="Text 5"/>
          <p:cNvSpPr txBox="1"/>
          <p:nvPr/>
        </p:nvSpPr>
        <p:spPr>
          <a:xfrm>
            <a:off x="4389120" y="1810512"/>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02</a:t>
            </a:r>
            <a:endParaRPr lang="en-US" sz="950" dirty="0"/>
          </a:p>
          <a:p>
            <a:pPr indent="0" marL="0">
              <a:spcAft>
                <a:spcPts val="300"/>
              </a:spcAft>
              <a:buNone/>
            </a:pPr>
            <a:r>
              <a:rPr lang="en-US" sz="1400" b="1" dirty="0">
                <a:solidFill>
                  <a:srgbClr val="0D1813"/>
                </a:solidFill>
              </a:rPr>
              <a:t>Client-specific checklists</a:t>
            </a:r>
            <a:endParaRPr lang="en-US" sz="950" dirty="0"/>
          </a:p>
          <a:p>
            <a:pPr indent="0" marL="0">
              <a:spcAft>
                <a:spcPts val="300"/>
              </a:spcAft>
              <a:buNone/>
            </a:pPr>
            <a:r>
              <a:rPr lang="en-US" sz="1050" dirty="0">
                <a:solidFill>
                  <a:srgbClr val="5C6A62"/>
                </a:solidFill>
              </a:rPr>
              <a:t>Each client gets its own task and subtask template, applied to every new visit automatically.</a:t>
            </a:r>
            <a:endParaRPr lang="en-US" sz="950" dirty="0"/>
          </a:p>
        </p:txBody>
      </p:sp>
      <p:sp>
        <p:nvSpPr>
          <p:cNvPr id="9" name="Shape 6"/>
          <p:cNvSpPr/>
          <p:nvPr/>
        </p:nvSpPr>
        <p:spPr>
          <a:xfrm>
            <a:off x="548640" y="3227832"/>
            <a:ext cx="3611880" cy="0"/>
          </a:xfrm>
          <a:prstGeom prst="line">
            <a:avLst/>
          </a:prstGeom>
          <a:noFill/>
          <a:ln w="9525">
            <a:solidFill>
              <a:srgbClr val="D3D5CC"/>
            </a:solidFill>
            <a:prstDash val="solid"/>
          </a:ln>
        </p:spPr>
      </p:sp>
      <p:sp>
        <p:nvSpPr>
          <p:cNvPr id="10" name="Text 7"/>
          <p:cNvSpPr txBox="1"/>
          <p:nvPr/>
        </p:nvSpPr>
        <p:spPr>
          <a:xfrm>
            <a:off x="548640" y="3346704"/>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03</a:t>
            </a:r>
            <a:endParaRPr lang="en-US" sz="950" dirty="0"/>
          </a:p>
          <a:p>
            <a:pPr indent="0" marL="0">
              <a:spcAft>
                <a:spcPts val="300"/>
              </a:spcAft>
              <a:buNone/>
            </a:pPr>
            <a:r>
              <a:rPr lang="en-US" sz="1400" b="1" dirty="0">
                <a:solidFill>
                  <a:srgbClr val="0D1813"/>
                </a:solidFill>
              </a:rPr>
              <a:t>Rules that keep audits complete</a:t>
            </a:r>
            <a:endParaRPr lang="en-US" sz="950" dirty="0"/>
          </a:p>
          <a:p>
            <a:pPr indent="0" marL="0">
              <a:spcAft>
                <a:spcPts val="300"/>
              </a:spcAft>
              <a:buNone/>
            </a:pPr>
            <a:r>
              <a:rPr lang="en-US" sz="1050" dirty="0">
                <a:solidFill>
                  <a:srgbClr val="5C6A62"/>
                </a:solidFill>
              </a:rPr>
              <a:t>A visit closes only when required work is done. The MD meeting must be answered and every open item needs a reason.</a:t>
            </a:r>
            <a:endParaRPr lang="en-US" sz="950" dirty="0"/>
          </a:p>
        </p:txBody>
      </p:sp>
      <p:sp>
        <p:nvSpPr>
          <p:cNvPr id="11" name="Shape 8"/>
          <p:cNvSpPr/>
          <p:nvPr/>
        </p:nvSpPr>
        <p:spPr>
          <a:xfrm>
            <a:off x="4389120" y="3227832"/>
            <a:ext cx="3611880" cy="0"/>
          </a:xfrm>
          <a:prstGeom prst="line">
            <a:avLst/>
          </a:prstGeom>
          <a:noFill/>
          <a:ln w="9525">
            <a:solidFill>
              <a:srgbClr val="D3D5CC"/>
            </a:solidFill>
            <a:prstDash val="solid"/>
          </a:ln>
        </p:spPr>
      </p:sp>
      <p:sp>
        <p:nvSpPr>
          <p:cNvPr id="12" name="Text 9"/>
          <p:cNvSpPr txBox="1"/>
          <p:nvPr/>
        </p:nvSpPr>
        <p:spPr>
          <a:xfrm>
            <a:off x="4389120" y="3346704"/>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04</a:t>
            </a:r>
            <a:endParaRPr lang="en-US" sz="950" dirty="0"/>
          </a:p>
          <a:p>
            <a:pPr indent="0" marL="0">
              <a:spcAft>
                <a:spcPts val="300"/>
              </a:spcAft>
              <a:buNone/>
            </a:pPr>
            <a:r>
              <a:rPr lang="en-US" sz="1400" b="1" dirty="0">
                <a:solidFill>
                  <a:srgbClr val="0D1813"/>
                </a:solidFill>
              </a:rPr>
              <a:t>Carry-forward with approval</a:t>
            </a:r>
            <a:endParaRPr lang="en-US" sz="950" dirty="0"/>
          </a:p>
          <a:p>
            <a:pPr indent="0" marL="0">
              <a:spcAft>
                <a:spcPts val="300"/>
              </a:spcAft>
              <a:buNone/>
            </a:pPr>
            <a:r>
              <a:rPr lang="en-US" sz="1050" dirty="0">
                <a:solidFill>
                  <a:srgbClr val="5C6A62"/>
                </a:solidFill>
              </a:rPr>
              <a:t>Unfinished items move into the next visit with their history — after an admin reviews and approves them.</a:t>
            </a:r>
            <a:endParaRPr lang="en-US" sz="950" dirty="0"/>
          </a:p>
        </p:txBody>
      </p:sp>
      <p:sp>
        <p:nvSpPr>
          <p:cNvPr id="13" name="Shape 10"/>
          <p:cNvSpPr/>
          <p:nvPr/>
        </p:nvSpPr>
        <p:spPr>
          <a:xfrm>
            <a:off x="548640" y="4764024"/>
            <a:ext cx="3611880" cy="0"/>
          </a:xfrm>
          <a:prstGeom prst="line">
            <a:avLst/>
          </a:prstGeom>
          <a:noFill/>
          <a:ln w="9525">
            <a:solidFill>
              <a:srgbClr val="D3D5CC"/>
            </a:solidFill>
            <a:prstDash val="solid"/>
          </a:ln>
        </p:spPr>
      </p:sp>
      <p:sp>
        <p:nvSpPr>
          <p:cNvPr id="14" name="Text 11"/>
          <p:cNvSpPr txBox="1"/>
          <p:nvPr/>
        </p:nvSpPr>
        <p:spPr>
          <a:xfrm>
            <a:off x="548640" y="4882896"/>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05</a:t>
            </a:r>
            <a:endParaRPr lang="en-US" sz="950" dirty="0"/>
          </a:p>
          <a:p>
            <a:pPr indent="0" marL="0">
              <a:spcAft>
                <a:spcPts val="300"/>
              </a:spcAft>
              <a:buNone/>
            </a:pPr>
            <a:r>
              <a:rPr lang="en-US" sz="1400" b="1" dirty="0">
                <a:solidFill>
                  <a:srgbClr val="0D1813"/>
                </a:solidFill>
              </a:rPr>
              <a:t>Progress, trail and summary</a:t>
            </a:r>
            <a:endParaRPr lang="en-US" sz="950" dirty="0"/>
          </a:p>
          <a:p>
            <a:pPr indent="0" marL="0">
              <a:spcAft>
                <a:spcPts val="300"/>
              </a:spcAft>
              <a:buNone/>
            </a:pPr>
            <a:r>
              <a:rPr lang="en-US" sz="1050" dirty="0">
                <a:solidFill>
                  <a:srgbClr val="5C6A62"/>
                </a:solidFill>
              </a:rPr>
              <a:t>Live progress per visit, a full activity trail and an automatic summary with a rating when the visit closes.</a:t>
            </a:r>
            <a:endParaRPr lang="en-US" sz="950" dirty="0"/>
          </a:p>
        </p:txBody>
      </p:sp>
      <p:sp>
        <p:nvSpPr>
          <p:cNvPr id="15" name="Shape 12"/>
          <p:cNvSpPr/>
          <p:nvPr/>
        </p:nvSpPr>
        <p:spPr>
          <a:xfrm>
            <a:off x="4389120" y="4764024"/>
            <a:ext cx="3611880" cy="0"/>
          </a:xfrm>
          <a:prstGeom prst="line">
            <a:avLst/>
          </a:prstGeom>
          <a:noFill/>
          <a:ln w="9525">
            <a:solidFill>
              <a:srgbClr val="D3D5CC"/>
            </a:solidFill>
            <a:prstDash val="solid"/>
          </a:ln>
        </p:spPr>
      </p:sp>
      <p:sp>
        <p:nvSpPr>
          <p:cNvPr id="16" name="Text 13"/>
          <p:cNvSpPr txBox="1"/>
          <p:nvPr/>
        </p:nvSpPr>
        <p:spPr>
          <a:xfrm>
            <a:off x="4389120" y="4882896"/>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06</a:t>
            </a:r>
            <a:endParaRPr lang="en-US" sz="950" dirty="0"/>
          </a:p>
          <a:p>
            <a:pPr indent="0" marL="0">
              <a:spcAft>
                <a:spcPts val="300"/>
              </a:spcAft>
              <a:buNone/>
            </a:pPr>
            <a:r>
              <a:rPr lang="en-US" sz="1400" b="1" dirty="0">
                <a:solidFill>
                  <a:srgbClr val="0D1813"/>
                </a:solidFill>
              </a:rPr>
              <a:t>Attendance &amp; leave</a:t>
            </a:r>
            <a:endParaRPr lang="en-US" sz="950" dirty="0"/>
          </a:p>
          <a:p>
            <a:pPr indent="0" marL="0">
              <a:spcAft>
                <a:spcPts val="300"/>
              </a:spcAft>
              <a:buNone/>
            </a:pPr>
            <a:r>
              <a:rPr lang="en-US" sz="1050" dirty="0">
                <a:solidFill>
                  <a:srgbClr val="5C6A62"/>
                </a:solidFill>
              </a:rPr>
              <a:t>Executives punch in and request leave from the app; admins review attendance and approve requests.</a:t>
            </a:r>
            <a:endParaRPr lang="en-US" sz="950" dirty="0"/>
          </a:p>
        </p:txBody>
      </p:sp>
      <p:sp>
        <p:nvSpPr>
          <p:cNvPr id="17" name="Shape 14"/>
          <p:cNvSpPr/>
          <p:nvPr/>
        </p:nvSpPr>
        <p:spPr>
          <a:xfrm>
            <a:off x="8503920" y="502920"/>
            <a:ext cx="3136392" cy="5715000"/>
          </a:xfrm>
          <a:prstGeom prst="roundRect">
            <a:avLst>
              <a:gd name="adj" fmla="val 4665"/>
            </a:avLst>
          </a:prstGeom>
          <a:solidFill>
            <a:srgbClr val="13213D"/>
          </a:solidFill>
          <a:ln/>
        </p:spPr>
      </p:sp>
      <p:pic>
        <p:nvPicPr>
          <p:cNvPr id="18" name="Image 1" descr="SMC Task Management on a phone">    </p:cNvPr>
          <p:cNvPicPr>
            <a:picLocks noChangeAspect="1"/>
          </p:cNvPicPr>
          <p:nvPr/>
        </p:nvPicPr>
        <p:blipFill>
          <a:blip r:embed="rId2"/>
          <a:stretch>
            <a:fillRect/>
          </a:stretch>
        </p:blipFill>
        <p:spPr>
          <a:xfrm>
            <a:off x="8568870" y="489444"/>
            <a:ext cx="3006492" cy="5909601"/>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13D"/>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8C938B"/>
                </a:solidFill>
              </a:rPr>
              <a:t>ROLE-BASED EXPERIENCE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EEF0E6"/>
                </a:solidFill>
              </a:rPr>
              <a:t>Built for every role.</a:t>
            </a:r>
            <a:endParaRPr lang="en-US" sz="2800" dirty="0"/>
          </a:p>
        </p:txBody>
      </p:sp>
      <p:pic>
        <p:nvPicPr>
          <p:cNvPr id="5" name="Image 1" descr="Admin view">    </p:cNvPr>
          <p:cNvPicPr>
            <a:picLocks noChangeAspect="1"/>
          </p:cNvPicPr>
          <p:nvPr/>
        </p:nvPicPr>
        <p:blipFill>
          <a:blip r:embed="rId2"/>
          <a:stretch>
            <a:fillRect/>
          </a:stretch>
        </p:blipFill>
        <p:spPr>
          <a:xfrm>
            <a:off x="298008" y="1244268"/>
            <a:ext cx="4961664" cy="3262464"/>
          </a:xfrm>
          <a:prstGeom prst="rect">
            <a:avLst/>
          </a:prstGeom>
        </p:spPr>
      </p:pic>
      <p:sp>
        <p:nvSpPr>
          <p:cNvPr id="6" name="Shape 2"/>
          <p:cNvSpPr/>
          <p:nvPr/>
        </p:nvSpPr>
        <p:spPr>
          <a:xfrm>
            <a:off x="548640" y="4315968"/>
            <a:ext cx="5387188" cy="0"/>
          </a:xfrm>
          <a:prstGeom prst="line">
            <a:avLst/>
          </a:prstGeom>
          <a:noFill/>
          <a:ln w="9525">
            <a:solidFill>
              <a:srgbClr val="2A3832"/>
            </a:solidFill>
            <a:prstDash val="solid"/>
          </a:ln>
        </p:spPr>
      </p:sp>
      <p:sp>
        <p:nvSpPr>
          <p:cNvPr id="7" name="Text 3"/>
          <p:cNvSpPr txBox="1"/>
          <p:nvPr/>
        </p:nvSpPr>
        <p:spPr>
          <a:xfrm>
            <a:off x="548640" y="4443984"/>
            <a:ext cx="5387188" cy="8686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DESKTOP &amp; MOBILE</a:t>
            </a:r>
            <a:endParaRPr lang="en-US" sz="800" dirty="0"/>
          </a:p>
          <a:p>
            <a:pPr indent="0" marL="0">
              <a:spcAft>
                <a:spcPts val="200"/>
              </a:spcAft>
              <a:buNone/>
            </a:pPr>
            <a:r>
              <a:rPr lang="en-US" sz="1700" b="1" dirty="0">
                <a:solidFill>
                  <a:srgbClr val="EEF0E6"/>
                </a:solidFill>
              </a:rPr>
              <a:t>Admin</a:t>
            </a:r>
            <a:endParaRPr lang="en-US" sz="800" dirty="0"/>
          </a:p>
          <a:p>
            <a:pPr indent="0" marL="0">
              <a:spcAft>
                <a:spcPts val="200"/>
              </a:spcAft>
              <a:buNone/>
            </a:pPr>
            <a:r>
              <a:rPr lang="en-US" sz="1100" dirty="0">
                <a:solidFill>
                  <a:srgbClr val="EEF0E6"/>
                </a:solidFill>
              </a:rPr>
              <a:t>Plans the week and keeps every visit on track.</a:t>
            </a:r>
            <a:endParaRPr lang="en-US" sz="800" dirty="0"/>
          </a:p>
        </p:txBody>
      </p:sp>
      <p:sp>
        <p:nvSpPr>
          <p:cNvPr id="8" name="Text 4"/>
          <p:cNvSpPr txBox="1"/>
          <p:nvPr/>
        </p:nvSpPr>
        <p:spPr>
          <a:xfrm>
            <a:off x="548640" y="5303520"/>
            <a:ext cx="5387188" cy="1051560"/>
          </a:xfrm>
          <a:prstGeom prst="rect">
            <a:avLst/>
          </a:prstGeom>
          <a:noFill/>
          <a:ln/>
        </p:spPr>
        <p:txBody>
          <a:bodyPr wrap="square" lIns="0" tIns="0" rIns="0" bIns="0" rtlCol="0" anchor="t"/>
          <a:lstStyle/>
          <a:p>
            <a:pPr marL="165100" indent="-165100">
              <a:spcAft>
                <a:spcPts val="400"/>
              </a:spcAft>
              <a:buSzPct val="100000"/>
              <a:buChar char="•"/>
            </a:pPr>
            <a:r>
              <a:rPr lang="en-US" sz="1000" dirty="0">
                <a:solidFill>
                  <a:srgbClr val="BFC4BA"/>
                </a:solidFill>
              </a:rPr>
              <a:t>Dashboard of visits, completion rate and staff performance</a:t>
            </a:r>
            <a:endParaRPr lang="en-US" sz="1000" dirty="0"/>
          </a:p>
          <a:p>
            <a:pPr marL="165100" indent="-165100">
              <a:spcAft>
                <a:spcPts val="400"/>
              </a:spcAft>
              <a:buSzPct val="100000"/>
              <a:buChar char="•"/>
            </a:pPr>
            <a:r>
              <a:rPr lang="en-US" sz="1000" dirty="0">
                <a:solidFill>
                  <a:srgbClr val="BFC4BA"/>
                </a:solidFill>
              </a:rPr>
              <a:t>Weekly calendar for scheduling and reassignment</a:t>
            </a:r>
            <a:endParaRPr lang="en-US" sz="1000" dirty="0"/>
          </a:p>
          <a:p>
            <a:pPr marL="165100" indent="-165100">
              <a:spcAft>
                <a:spcPts val="400"/>
              </a:spcAft>
              <a:buSzPct val="100000"/>
              <a:buChar char="•"/>
            </a:pPr>
            <a:r>
              <a:rPr lang="en-US" sz="1000" dirty="0">
                <a:solidFill>
                  <a:srgbClr val="BFC4BA"/>
                </a:solidFill>
              </a:rPr>
              <a:t>Carry-forward approvals and client checklists</a:t>
            </a:r>
            <a:endParaRPr lang="en-US" sz="1000" dirty="0"/>
          </a:p>
          <a:p>
            <a:pPr marL="165100" indent="-165100">
              <a:spcAft>
                <a:spcPts val="400"/>
              </a:spcAft>
              <a:buSzPct val="100000"/>
              <a:buChar char="•"/>
            </a:pPr>
            <a:r>
              <a:rPr lang="en-US" sz="1000" dirty="0">
                <a:solidFill>
                  <a:srgbClr val="BFC4BA"/>
                </a:solidFill>
              </a:rPr>
              <a:t>Executive workload, attendance and leave</a:t>
            </a:r>
            <a:endParaRPr lang="en-US" sz="1000" dirty="0"/>
          </a:p>
        </p:txBody>
      </p:sp>
      <p:pic>
        <p:nvPicPr>
          <p:cNvPr id="9" name="Image 2" descr="Field Executive view">    </p:cNvPr>
          <p:cNvPicPr>
            <a:picLocks noChangeAspect="1"/>
          </p:cNvPicPr>
          <p:nvPr/>
        </p:nvPicPr>
        <p:blipFill>
          <a:blip r:embed="rId3"/>
          <a:stretch>
            <a:fillRect/>
          </a:stretch>
        </p:blipFill>
        <p:spPr>
          <a:xfrm>
            <a:off x="6026378" y="1262722"/>
            <a:ext cx="3667950" cy="3214805"/>
          </a:xfrm>
          <a:prstGeom prst="rect">
            <a:avLst/>
          </a:prstGeom>
        </p:spPr>
      </p:pic>
      <p:sp>
        <p:nvSpPr>
          <p:cNvPr id="10" name="Shape 5"/>
          <p:cNvSpPr/>
          <p:nvPr/>
        </p:nvSpPr>
        <p:spPr>
          <a:xfrm>
            <a:off x="6255868" y="4315968"/>
            <a:ext cx="5387188" cy="0"/>
          </a:xfrm>
          <a:prstGeom prst="line">
            <a:avLst/>
          </a:prstGeom>
          <a:noFill/>
          <a:ln w="9525">
            <a:solidFill>
              <a:srgbClr val="2A3832"/>
            </a:solidFill>
            <a:prstDash val="solid"/>
          </a:ln>
        </p:spPr>
      </p:sp>
      <p:sp>
        <p:nvSpPr>
          <p:cNvPr id="11" name="Text 6"/>
          <p:cNvSpPr txBox="1"/>
          <p:nvPr/>
        </p:nvSpPr>
        <p:spPr>
          <a:xfrm>
            <a:off x="6255868" y="4443984"/>
            <a:ext cx="5387188" cy="8686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MOBILE-FIRST</a:t>
            </a:r>
            <a:endParaRPr lang="en-US" sz="800" dirty="0"/>
          </a:p>
          <a:p>
            <a:pPr indent="0" marL="0">
              <a:spcAft>
                <a:spcPts val="200"/>
              </a:spcAft>
              <a:buNone/>
            </a:pPr>
            <a:r>
              <a:rPr lang="en-US" sz="1700" b="1" dirty="0">
                <a:solidFill>
                  <a:srgbClr val="EEF0E6"/>
                </a:solidFill>
              </a:rPr>
              <a:t>Field Executive</a:t>
            </a:r>
            <a:endParaRPr lang="en-US" sz="800" dirty="0"/>
          </a:p>
          <a:p>
            <a:pPr indent="0" marL="0">
              <a:spcAft>
                <a:spcPts val="200"/>
              </a:spcAft>
              <a:buNone/>
            </a:pPr>
            <a:r>
              <a:rPr lang="en-US" sz="1100" dirty="0">
                <a:solidFill>
                  <a:srgbClr val="EEF0E6"/>
                </a:solidFill>
              </a:rPr>
              <a:t>Runs each visit on site, from the phone.</a:t>
            </a:r>
            <a:endParaRPr lang="en-US" sz="800" dirty="0"/>
          </a:p>
        </p:txBody>
      </p:sp>
      <p:sp>
        <p:nvSpPr>
          <p:cNvPr id="12" name="Text 7"/>
          <p:cNvSpPr txBox="1"/>
          <p:nvPr/>
        </p:nvSpPr>
        <p:spPr>
          <a:xfrm>
            <a:off x="6255868" y="5303520"/>
            <a:ext cx="5387188" cy="1051560"/>
          </a:xfrm>
          <a:prstGeom prst="rect">
            <a:avLst/>
          </a:prstGeom>
          <a:noFill/>
          <a:ln/>
        </p:spPr>
        <p:txBody>
          <a:bodyPr wrap="square" lIns="0" tIns="0" rIns="0" bIns="0" rtlCol="0" anchor="t"/>
          <a:lstStyle/>
          <a:p>
            <a:pPr marL="165100" indent="-165100">
              <a:spcAft>
                <a:spcPts val="400"/>
              </a:spcAft>
              <a:buSzPct val="100000"/>
              <a:buChar char="•"/>
            </a:pPr>
            <a:r>
              <a:rPr lang="en-US" sz="1000" dirty="0">
                <a:solidFill>
                  <a:srgbClr val="BFC4BA"/>
                </a:solidFill>
              </a:rPr>
              <a:t>Pending visits and carried-forward items at a glance</a:t>
            </a:r>
            <a:endParaRPr lang="en-US" sz="1000" dirty="0"/>
          </a:p>
          <a:p>
            <a:pPr marL="165100" indent="-165100">
              <a:spcAft>
                <a:spcPts val="400"/>
              </a:spcAft>
              <a:buSzPct val="100000"/>
              <a:buChar char="•"/>
            </a:pPr>
            <a:r>
              <a:rPr lang="en-US" sz="1000" dirty="0">
                <a:solidFill>
                  <a:srgbClr val="BFC4BA"/>
                </a:solidFill>
              </a:rPr>
              <a:t>Checklist per task, with reasons for open items</a:t>
            </a:r>
            <a:endParaRPr lang="en-US" sz="1000" dirty="0"/>
          </a:p>
          <a:p>
            <a:pPr marL="165100" indent="-165100">
              <a:spcAft>
                <a:spcPts val="400"/>
              </a:spcAft>
              <a:buSzPct val="100000"/>
              <a:buChar char="•"/>
            </a:pPr>
            <a:r>
              <a:rPr lang="en-US" sz="1000" dirty="0">
                <a:solidFill>
                  <a:srgbClr val="BFC4BA"/>
                </a:solidFill>
              </a:rPr>
              <a:t>MD meeting confirmation before closing</a:t>
            </a:r>
            <a:endParaRPr lang="en-US" sz="1000" dirty="0"/>
          </a:p>
          <a:p>
            <a:pPr marL="165100" indent="-165100">
              <a:spcAft>
                <a:spcPts val="400"/>
              </a:spcAft>
              <a:buSzPct val="100000"/>
              <a:buChar char="•"/>
            </a:pPr>
            <a:r>
              <a:rPr lang="en-US" sz="1000" dirty="0">
                <a:solidFill>
                  <a:srgbClr val="BFC4BA"/>
                </a:solidFill>
              </a:rPr>
              <a:t>Punch in, punch out and leave requests</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8C93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13D"/>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8C938B"/>
                </a:solidFill>
              </a:rPr>
              <a:t>RESPONSIVE EXPERIENCE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EEF0E6"/>
                </a:solidFill>
              </a:rPr>
              <a:t>Planned at the desk. Run in the field.</a:t>
            </a:r>
            <a:endParaRPr lang="en-US" sz="2800" dirty="0"/>
          </a:p>
        </p:txBody>
      </p:sp>
      <p:sp>
        <p:nvSpPr>
          <p:cNvPr id="5" name="Text 2"/>
          <p:cNvSpPr txBox="1"/>
          <p:nvPr/>
        </p:nvSpPr>
        <p:spPr>
          <a:xfrm>
            <a:off x="548640" y="2514600"/>
            <a:ext cx="3749040" cy="1463040"/>
          </a:xfrm>
          <a:prstGeom prst="rect">
            <a:avLst/>
          </a:prstGeom>
          <a:noFill/>
          <a:ln/>
        </p:spPr>
        <p:txBody>
          <a:bodyPr wrap="square" lIns="0" tIns="0" rIns="0" bIns="0" rtlCol="0" anchor="t"/>
          <a:lstStyle/>
          <a:p>
            <a:pPr indent="0" marL="0">
              <a:lnSpc>
                <a:spcPct val="115000"/>
              </a:lnSpc>
              <a:buNone/>
            </a:pPr>
            <a:r>
              <a:rPr lang="en-US" sz="1300" dirty="0">
                <a:solidFill>
                  <a:srgbClr val="BFC4BA"/>
                </a:solidFill>
              </a:rPr>
              <a:t>Executives run every visit from their phone — checklists, reasons, summaries, attendance. Admins get the same live picture on desktop and mobile.</a:t>
            </a:r>
            <a:endParaRPr lang="en-US" sz="1300" dirty="0"/>
          </a:p>
        </p:txBody>
      </p:sp>
      <p:pic>
        <p:nvPicPr>
          <p:cNvPr id="6" name="Image 1" descr="SMC Task Management on phones">    </p:cNvPr>
          <p:cNvPicPr>
            <a:picLocks noChangeAspect="1"/>
          </p:cNvPicPr>
          <p:nvPr/>
        </p:nvPicPr>
        <p:blipFill>
          <a:blip r:embed="rId2"/>
          <a:stretch>
            <a:fillRect/>
          </a:stretch>
        </p:blipFill>
        <p:spPr>
          <a:xfrm>
            <a:off x="4303014" y="1317879"/>
            <a:ext cx="7670292" cy="4336542"/>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8C93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BUSINESS VALUE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What it changes for the business.</a:t>
            </a:r>
            <a:endParaRPr lang="en-US" sz="2800" dirty="0"/>
          </a:p>
        </p:txBody>
      </p:sp>
      <p:sp>
        <p:nvSpPr>
          <p:cNvPr id="5" name="Shape 2"/>
          <p:cNvSpPr/>
          <p:nvPr/>
        </p:nvSpPr>
        <p:spPr>
          <a:xfrm>
            <a:off x="548640" y="1691640"/>
            <a:ext cx="3291840" cy="0"/>
          </a:xfrm>
          <a:prstGeom prst="line">
            <a:avLst/>
          </a:prstGeom>
          <a:noFill/>
          <a:ln w="9525">
            <a:solidFill>
              <a:srgbClr val="D3D5CC"/>
            </a:solidFill>
            <a:prstDash val="solid"/>
          </a:ln>
        </p:spPr>
      </p:sp>
      <p:sp>
        <p:nvSpPr>
          <p:cNvPr id="6" name="Text 3"/>
          <p:cNvSpPr txBox="1"/>
          <p:nvPr/>
        </p:nvSpPr>
        <p:spPr>
          <a:xfrm>
            <a:off x="548640" y="181965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Live visibility</a:t>
            </a:r>
            <a:endParaRPr lang="en-US" sz="1450" dirty="0"/>
          </a:p>
          <a:p>
            <a:pPr indent="0" marL="0">
              <a:spcAft>
                <a:spcPts val="300"/>
              </a:spcAft>
              <a:buNone/>
            </a:pPr>
            <a:r>
              <a:rPr lang="en-US" sz="1050" dirty="0">
                <a:solidFill>
                  <a:srgbClr val="5C6A62"/>
                </a:solidFill>
              </a:rPr>
              <a:t>Management sees the status of every visit and executive without chasing calls.</a:t>
            </a:r>
            <a:endParaRPr lang="en-US" sz="1450" dirty="0"/>
          </a:p>
        </p:txBody>
      </p:sp>
      <p:sp>
        <p:nvSpPr>
          <p:cNvPr id="7" name="Shape 4"/>
          <p:cNvSpPr/>
          <p:nvPr/>
        </p:nvSpPr>
        <p:spPr>
          <a:xfrm>
            <a:off x="4041648" y="1691640"/>
            <a:ext cx="3291840" cy="0"/>
          </a:xfrm>
          <a:prstGeom prst="line">
            <a:avLst/>
          </a:prstGeom>
          <a:noFill/>
          <a:ln w="9525">
            <a:solidFill>
              <a:srgbClr val="D3D5CC"/>
            </a:solidFill>
            <a:prstDash val="solid"/>
          </a:ln>
        </p:spPr>
      </p:sp>
      <p:sp>
        <p:nvSpPr>
          <p:cNvPr id="8" name="Text 5"/>
          <p:cNvSpPr txBox="1"/>
          <p:nvPr/>
        </p:nvSpPr>
        <p:spPr>
          <a:xfrm>
            <a:off x="4041648" y="181965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Nothing slips between visits</a:t>
            </a:r>
            <a:endParaRPr lang="en-US" sz="1450" dirty="0"/>
          </a:p>
          <a:p>
            <a:pPr indent="0" marL="0">
              <a:spcAft>
                <a:spcPts val="300"/>
              </a:spcAft>
              <a:buNone/>
            </a:pPr>
            <a:r>
              <a:rPr lang="en-US" sz="1050" dirty="0">
                <a:solidFill>
                  <a:srgbClr val="5C6A62"/>
                </a:solidFill>
              </a:rPr>
              <a:t>Unfinished items carry forward with their reason, so follow-ups are never lost.</a:t>
            </a:r>
            <a:endParaRPr lang="en-US" sz="1450" dirty="0"/>
          </a:p>
        </p:txBody>
      </p:sp>
      <p:sp>
        <p:nvSpPr>
          <p:cNvPr id="9" name="Shape 6"/>
          <p:cNvSpPr/>
          <p:nvPr/>
        </p:nvSpPr>
        <p:spPr>
          <a:xfrm>
            <a:off x="548640" y="3017520"/>
            <a:ext cx="3291840" cy="0"/>
          </a:xfrm>
          <a:prstGeom prst="line">
            <a:avLst/>
          </a:prstGeom>
          <a:noFill/>
          <a:ln w="9525">
            <a:solidFill>
              <a:srgbClr val="D3D5CC"/>
            </a:solidFill>
            <a:prstDash val="solid"/>
          </a:ln>
        </p:spPr>
      </p:sp>
      <p:sp>
        <p:nvSpPr>
          <p:cNvPr id="10" name="Text 7"/>
          <p:cNvSpPr txBox="1"/>
          <p:nvPr/>
        </p:nvSpPr>
        <p:spPr>
          <a:xfrm>
            <a:off x="548640" y="314553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Consistent audits</a:t>
            </a:r>
            <a:endParaRPr lang="en-US" sz="1450" dirty="0"/>
          </a:p>
          <a:p>
            <a:pPr indent="0" marL="0">
              <a:spcAft>
                <a:spcPts val="300"/>
              </a:spcAft>
              <a:buNone/>
            </a:pPr>
            <a:r>
              <a:rPr lang="en-US" sz="1050" dirty="0">
                <a:solidFill>
                  <a:srgbClr val="5C6A62"/>
                </a:solidFill>
              </a:rPr>
              <a:t>Client-specific checklists and closing rules make every visit complete and comparable.</a:t>
            </a:r>
            <a:endParaRPr lang="en-US" sz="1450" dirty="0"/>
          </a:p>
        </p:txBody>
      </p:sp>
      <p:sp>
        <p:nvSpPr>
          <p:cNvPr id="11" name="Shape 8"/>
          <p:cNvSpPr/>
          <p:nvPr/>
        </p:nvSpPr>
        <p:spPr>
          <a:xfrm>
            <a:off x="4041648" y="3017520"/>
            <a:ext cx="3291840" cy="0"/>
          </a:xfrm>
          <a:prstGeom prst="line">
            <a:avLst/>
          </a:prstGeom>
          <a:noFill/>
          <a:ln w="9525">
            <a:solidFill>
              <a:srgbClr val="D3D5CC"/>
            </a:solidFill>
            <a:prstDash val="solid"/>
          </a:ln>
        </p:spPr>
      </p:sp>
      <p:sp>
        <p:nvSpPr>
          <p:cNvPr id="12" name="Text 9"/>
          <p:cNvSpPr txBox="1"/>
          <p:nvPr/>
        </p:nvSpPr>
        <p:spPr>
          <a:xfrm>
            <a:off x="4041648" y="314553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Less manual reporting</a:t>
            </a:r>
            <a:endParaRPr lang="en-US" sz="1450" dirty="0"/>
          </a:p>
          <a:p>
            <a:pPr indent="0" marL="0">
              <a:spcAft>
                <a:spcPts val="300"/>
              </a:spcAft>
              <a:buNone/>
            </a:pPr>
            <a:r>
              <a:rPr lang="en-US" sz="1050" dirty="0">
                <a:solidFill>
                  <a:srgbClr val="5C6A62"/>
                </a:solidFill>
              </a:rPr>
              <a:t>Progress and visit summaries are produced by the system, not compiled by hand.</a:t>
            </a:r>
            <a:endParaRPr lang="en-US" sz="1450" dirty="0"/>
          </a:p>
        </p:txBody>
      </p:sp>
      <p:pic>
        <p:nvPicPr>
          <p:cNvPr id="13" name="Image 1" descr="F:\Office Project\Crita Portfolio\portfolio\ppt\brand\c.png">    </p:cNvPr>
          <p:cNvPicPr>
            <a:picLocks noChangeAspect="1"/>
          </p:cNvPicPr>
          <p:nvPr/>
        </p:nvPicPr>
        <p:blipFill>
          <a:blip r:embed="rId2"/>
          <a:stretch>
            <a:fillRect/>
          </a:stretch>
        </p:blipFill>
        <p:spPr>
          <a:xfrm>
            <a:off x="548640" y="4567428"/>
            <a:ext cx="182880" cy="134417"/>
          </a:xfrm>
          <a:prstGeom prst="rect">
            <a:avLst/>
          </a:prstGeom>
        </p:spPr>
      </p:pic>
      <p:sp>
        <p:nvSpPr>
          <p:cNvPr id="14" name="Text 10"/>
          <p:cNvSpPr txBox="1"/>
          <p:nvPr/>
        </p:nvSpPr>
        <p:spPr>
          <a:xfrm>
            <a:off x="813816" y="4526280"/>
            <a:ext cx="54864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ENGINEERING HIGHLIGHTS</a:t>
            </a:r>
            <a:endParaRPr lang="en-US" sz="900" dirty="0"/>
          </a:p>
        </p:txBody>
      </p:sp>
      <p:sp>
        <p:nvSpPr>
          <p:cNvPr id="15" name="Text 11"/>
          <p:cNvSpPr txBox="1"/>
          <p:nvPr/>
        </p:nvSpPr>
        <p:spPr>
          <a:xfrm>
            <a:off x="548640" y="4892040"/>
            <a:ext cx="6675120" cy="1188720"/>
          </a:xfrm>
          <a:prstGeom prst="rect">
            <a:avLst/>
          </a:prstGeom>
          <a:noFill/>
          <a:ln/>
        </p:spPr>
        <p:txBody>
          <a:bodyPr wrap="square" lIns="0" tIns="0" rIns="0" bIns="0" rtlCol="0" anchor="t"/>
          <a:lstStyle/>
          <a:p>
            <a:pPr marL="165100" indent="-165100">
              <a:spcAft>
                <a:spcPts val="400"/>
              </a:spcAft>
              <a:buSzPct val="100000"/>
              <a:buChar char="•"/>
            </a:pPr>
            <a:r>
              <a:rPr lang="en-US" sz="1150" dirty="0">
                <a:solidFill>
                  <a:srgbClr val="34433B"/>
                </a:solidFill>
              </a:rPr>
              <a:t>Mobile-first web app with an Android build for field executives</a:t>
            </a:r>
            <a:endParaRPr lang="en-US" sz="1150" dirty="0"/>
          </a:p>
          <a:p>
            <a:pPr marL="165100" indent="-165100">
              <a:spcAft>
                <a:spcPts val="400"/>
              </a:spcAft>
              <a:buSzPct val="100000"/>
              <a:buChar char="•"/>
            </a:pPr>
            <a:r>
              <a:rPr lang="en-US" sz="1150" dirty="0">
                <a:solidFill>
                  <a:srgbClr val="34433B"/>
                </a:solidFill>
              </a:rPr>
              <a:t>Executives only ever see the visits assigned to them</a:t>
            </a:r>
            <a:endParaRPr lang="en-US" sz="1150" dirty="0"/>
          </a:p>
          <a:p>
            <a:pPr marL="165100" indent="-165100">
              <a:spcAft>
                <a:spcPts val="400"/>
              </a:spcAft>
              <a:buSzPct val="100000"/>
              <a:buChar char="•"/>
            </a:pPr>
            <a:r>
              <a:rPr lang="en-US" sz="1150" dirty="0">
                <a:solidFill>
                  <a:srgbClr val="34433B"/>
                </a:solidFill>
              </a:rPr>
              <a:t>Lean data and instant checklist feedback on mobile networks</a:t>
            </a:r>
            <a:endParaRPr lang="en-US" sz="1150" dirty="0"/>
          </a:p>
        </p:txBody>
      </p:sp>
      <p:pic>
        <p:nvPicPr>
          <p:cNvPr id="16" name="Image 2" descr="F:\Office Project\Crita Portfolio\portfolio\ppt\brand\c.png">    </p:cNvPr>
          <p:cNvPicPr>
            <a:picLocks noChangeAspect="1"/>
          </p:cNvPicPr>
          <p:nvPr/>
        </p:nvPicPr>
        <p:blipFill>
          <a:blip r:embed="rId3"/>
          <a:stretch>
            <a:fillRect/>
          </a:stretch>
        </p:blipFill>
        <p:spPr>
          <a:xfrm>
            <a:off x="7818120" y="544068"/>
            <a:ext cx="182880" cy="134417"/>
          </a:xfrm>
          <a:prstGeom prst="rect">
            <a:avLst/>
          </a:prstGeom>
        </p:spPr>
      </p:pic>
      <p:sp>
        <p:nvSpPr>
          <p:cNvPr id="17" name="Text 12"/>
          <p:cNvSpPr txBox="1"/>
          <p:nvPr/>
        </p:nvSpPr>
        <p:spPr>
          <a:xfrm>
            <a:off x="8083296" y="502920"/>
            <a:ext cx="3824935" cy="219456"/>
          </a:xfrm>
          <a:prstGeom prst="rect">
            <a:avLst/>
          </a:prstGeom>
          <a:noFill/>
          <a:ln/>
        </p:spPr>
        <p:txBody>
          <a:bodyPr wrap="square" lIns="0" tIns="0" rIns="0" bIns="0" rtlCol="0" anchor="ctr"/>
          <a:lstStyle/>
          <a:p>
            <a:pPr indent="0" marL="0">
              <a:buNone/>
            </a:pPr>
            <a:r>
              <a:rPr lang="en-US" sz="900" b="1" spc="200" kern="0" dirty="0">
                <a:solidFill>
                  <a:srgbClr val="5C6A62"/>
                </a:solidFill>
              </a:rPr>
              <a:t>TECHNOLOGY &amp; DELIVERY</a:t>
            </a:r>
            <a:endParaRPr lang="en-US" sz="900" dirty="0"/>
          </a:p>
        </p:txBody>
      </p:sp>
      <p:sp>
        <p:nvSpPr>
          <p:cNvPr id="18" name="Text 13"/>
          <p:cNvSpPr txBox="1"/>
          <p:nvPr/>
        </p:nvSpPr>
        <p:spPr>
          <a:xfrm>
            <a:off x="7818120" y="896112"/>
            <a:ext cx="709574"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Next.js</a:t>
            </a:r>
            <a:endParaRPr lang="en-US" sz="950" dirty="0"/>
          </a:p>
        </p:txBody>
      </p:sp>
      <p:sp>
        <p:nvSpPr>
          <p:cNvPr id="19" name="Text 14"/>
          <p:cNvSpPr txBox="1"/>
          <p:nvPr/>
        </p:nvSpPr>
        <p:spPr>
          <a:xfrm>
            <a:off x="8609990" y="896112"/>
            <a:ext cx="896112"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TypeScript</a:t>
            </a:r>
            <a:endParaRPr lang="en-US" sz="950" dirty="0"/>
          </a:p>
        </p:txBody>
      </p:sp>
      <p:sp>
        <p:nvSpPr>
          <p:cNvPr id="20" name="Text 15"/>
          <p:cNvSpPr txBox="1"/>
          <p:nvPr/>
        </p:nvSpPr>
        <p:spPr>
          <a:xfrm>
            <a:off x="9588398" y="896112"/>
            <a:ext cx="896112"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PostgreSQL</a:t>
            </a:r>
            <a:endParaRPr lang="en-US" sz="950" dirty="0"/>
          </a:p>
        </p:txBody>
      </p:sp>
      <p:sp>
        <p:nvSpPr>
          <p:cNvPr id="21" name="Text 16"/>
          <p:cNvSpPr txBox="1"/>
          <p:nvPr/>
        </p:nvSpPr>
        <p:spPr>
          <a:xfrm>
            <a:off x="10566806" y="896112"/>
            <a:ext cx="647395"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Prisma</a:t>
            </a:r>
            <a:endParaRPr lang="en-US" sz="950" dirty="0"/>
          </a:p>
        </p:txBody>
      </p:sp>
      <p:sp>
        <p:nvSpPr>
          <p:cNvPr id="22" name="Text 17"/>
          <p:cNvSpPr txBox="1"/>
          <p:nvPr/>
        </p:nvSpPr>
        <p:spPr>
          <a:xfrm>
            <a:off x="7818120" y="1261872"/>
            <a:ext cx="1331366"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Role-based access</a:t>
            </a:r>
            <a:endParaRPr lang="en-US" sz="950" dirty="0"/>
          </a:p>
        </p:txBody>
      </p:sp>
      <p:sp>
        <p:nvSpPr>
          <p:cNvPr id="23" name="Text 18"/>
          <p:cNvSpPr txBox="1"/>
          <p:nvPr/>
        </p:nvSpPr>
        <p:spPr>
          <a:xfrm>
            <a:off x="9231782" y="1261872"/>
            <a:ext cx="958291"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Android app</a:t>
            </a:r>
            <a:endParaRPr lang="en-US" sz="950" dirty="0"/>
          </a:p>
        </p:txBody>
      </p:sp>
      <p:sp>
        <p:nvSpPr>
          <p:cNvPr id="24" name="Shape 19"/>
          <p:cNvSpPr/>
          <p:nvPr/>
        </p:nvSpPr>
        <p:spPr>
          <a:xfrm>
            <a:off x="7818120" y="3931920"/>
            <a:ext cx="3824935" cy="2286000"/>
          </a:xfrm>
          <a:prstGeom prst="roundRect">
            <a:avLst>
              <a:gd name="adj" fmla="val 5600"/>
            </a:avLst>
          </a:prstGeom>
          <a:solidFill>
            <a:srgbClr val="06120D"/>
          </a:solidFill>
          <a:ln/>
        </p:spPr>
      </p:sp>
      <p:pic>
        <p:nvPicPr>
          <p:cNvPr id="25" name="Image 3" descr="F:\Office Project\Crita Portfolio\portfolio\ppt\brand\c.png">    </p:cNvPr>
          <p:cNvPicPr>
            <a:picLocks noChangeAspect="1"/>
          </p:cNvPicPr>
          <p:nvPr/>
        </p:nvPicPr>
        <p:blipFill>
          <a:blip r:embed="rId4"/>
          <a:stretch>
            <a:fillRect/>
          </a:stretch>
        </p:blipFill>
        <p:spPr>
          <a:xfrm>
            <a:off x="8092440" y="4201668"/>
            <a:ext cx="182880" cy="134417"/>
          </a:xfrm>
          <a:prstGeom prst="rect">
            <a:avLst/>
          </a:prstGeom>
        </p:spPr>
      </p:pic>
      <p:sp>
        <p:nvSpPr>
          <p:cNvPr id="26" name="Text 20"/>
          <p:cNvSpPr txBox="1"/>
          <p:nvPr/>
        </p:nvSpPr>
        <p:spPr>
          <a:xfrm>
            <a:off x="8357616" y="4160520"/>
            <a:ext cx="3276295" cy="219456"/>
          </a:xfrm>
          <a:prstGeom prst="rect">
            <a:avLst/>
          </a:prstGeom>
          <a:noFill/>
          <a:ln/>
        </p:spPr>
        <p:txBody>
          <a:bodyPr wrap="square" lIns="0" tIns="0" rIns="0" bIns="0" rtlCol="0" anchor="ctr"/>
          <a:lstStyle/>
          <a:p>
            <a:pPr indent="0" marL="0">
              <a:buNone/>
            </a:pPr>
            <a:r>
              <a:rPr lang="en-US" sz="900" b="1" spc="200" kern="0" dirty="0">
                <a:solidFill>
                  <a:srgbClr val="8C938B"/>
                </a:solidFill>
              </a:rPr>
              <a:t>LIVE PRODUCT</a:t>
            </a:r>
            <a:endParaRPr lang="en-US" sz="900" dirty="0"/>
          </a:p>
        </p:txBody>
      </p:sp>
      <p:sp>
        <p:nvSpPr>
          <p:cNvPr id="27" name="Text 21">
            <a:hlinkClick r:id="rId5" tooltip="SMC Task Management"/>
          </p:cNvPr>
          <p:cNvSpPr txBox="1"/>
          <p:nvPr/>
        </p:nvSpPr>
        <p:spPr>
          <a:xfrm>
            <a:off x="8092440" y="4498848"/>
            <a:ext cx="3276295" cy="365760"/>
          </a:xfrm>
          <a:prstGeom prst="rect">
            <a:avLst/>
          </a:prstGeom>
          <a:noFill/>
          <a:ln/>
        </p:spPr>
        <p:txBody>
          <a:bodyPr wrap="square" lIns="0" tIns="0" rIns="0" bIns="0" rtlCol="0" anchor="t"/>
          <a:lstStyle/>
          <a:p>
            <a:pPr indent="0" marL="0">
              <a:buNone/>
            </a:pPr>
            <a:r>
              <a:rPr lang="en-US" sz="1600" b="1" u="sng" dirty="0">
                <a:solidFill>
                  <a:srgbClr val="D6E151"/>
                </a:solidFill>
                <a:hlinkClick r:id="rId5" invalidUrl="" action="" tgtFrame="" tooltip="SMC Task Management" history="1" highlightClick="0" endSnd="0">
                  <a:extLst>
                    <a:ext uri="{A12FA001-AC4F-418D-AE19-62706E023703}">
                      <ahyp:hlinkClr xmlns:ahyp="http://schemas.microsoft.com/office/drawing/2018/hyperlinkcolor" val="tx"/>
                    </a:ext>
                  </a:extLst>
                </a:hlinkClick>
              </a:rPr>
              <a:t>View live project →</a:t>
            </a:r>
            <a:endParaRPr lang="en-US" sz="1600" dirty="0"/>
          </a:p>
        </p:txBody>
      </p:sp>
      <p:sp>
        <p:nvSpPr>
          <p:cNvPr id="28" name="Text 22"/>
          <p:cNvSpPr txBox="1"/>
          <p:nvPr/>
        </p:nvSpPr>
        <p:spPr>
          <a:xfrm>
            <a:off x="8092440" y="4873752"/>
            <a:ext cx="3276295" cy="228600"/>
          </a:xfrm>
          <a:prstGeom prst="rect">
            <a:avLst/>
          </a:prstGeom>
          <a:noFill/>
          <a:ln/>
        </p:spPr>
        <p:txBody>
          <a:bodyPr wrap="square" lIns="0" tIns="0" rIns="0" bIns="0" rtlCol="0" anchor="t"/>
          <a:lstStyle/>
          <a:p>
            <a:pPr indent="0" marL="0">
              <a:buNone/>
            </a:pPr>
            <a:r>
              <a:rPr lang="en-US" sz="900" dirty="0">
                <a:solidFill>
                  <a:srgbClr val="8C938B"/>
                </a:solidFill>
              </a:rPr>
              <a:t>SMC Task Management</a:t>
            </a:r>
            <a:endParaRPr lang="en-US" sz="900" dirty="0"/>
          </a:p>
        </p:txBody>
      </p:sp>
      <p:sp>
        <p:nvSpPr>
          <p:cNvPr id="29" name="Shape 23">
            <a:hlinkClick r:id="rId6" tooltip="SMC Task Management"/>
          </p:cNvPr>
          <p:cNvSpPr/>
          <p:nvPr/>
        </p:nvSpPr>
        <p:spPr>
          <a:xfrm>
            <a:off x="8092440" y="4873752"/>
            <a:ext cx="1353312" cy="228600"/>
          </a:xfrm>
          <a:prstGeom prst="rect">
            <a:avLst/>
          </a:prstGeom>
          <a:solidFill>
            <a:srgbClr val="FFFFFF">
              <a:alpha val="0"/>
            </a:srgbClr>
          </a:solidFill>
          <a:ln/>
        </p:spPr>
      </p:sp>
      <p:sp>
        <p:nvSpPr>
          <p:cNvPr id="30" name="Text 24"/>
          <p:cNvSpPr txBox="1"/>
          <p:nvPr/>
        </p:nvSpPr>
        <p:spPr>
          <a:xfrm>
            <a:off x="8092440" y="5257800"/>
            <a:ext cx="3276295" cy="731520"/>
          </a:xfrm>
          <a:prstGeom prst="rect">
            <a:avLst/>
          </a:prstGeom>
          <a:noFill/>
          <a:ln/>
        </p:spPr>
        <p:txBody>
          <a:bodyPr wrap="square" lIns="0" tIns="0" rIns="0" bIns="0" rtlCol="0" anchor="t"/>
          <a:lstStyle/>
          <a:p>
            <a:pPr indent="0" marL="0">
              <a:buNone/>
            </a:pPr>
            <a:r>
              <a:rPr lang="en-US" sz="1050" dirty="0">
                <a:solidFill>
                  <a:srgbClr val="BFC4BA"/>
                </a:solidFill>
              </a:rPr>
              <a:t>Live demo: Admin and Field Executive views.</a:t>
            </a:r>
            <a:endParaRPr lang="en-US" sz="1050" dirty="0"/>
          </a:p>
        </p:txBody>
      </p:sp>
      <p:sp>
        <p:nvSpPr>
          <p:cNvPr id="31" name="Text 25"/>
          <p:cNvSpPr txBox="1"/>
          <p:nvPr/>
        </p:nvSpPr>
        <p:spPr>
          <a:xfrm>
            <a:off x="7818120" y="6272784"/>
            <a:ext cx="3824935" cy="274320"/>
          </a:xfrm>
          <a:prstGeom prst="rect">
            <a:avLst/>
          </a:prstGeom>
          <a:noFill/>
          <a:ln/>
        </p:spPr>
        <p:txBody>
          <a:bodyPr wrap="square" lIns="0" tIns="0" rIns="0" bIns="0" rtlCol="0" anchor="t"/>
          <a:lstStyle/>
          <a:p>
            <a:pPr indent="0" marL="0">
              <a:buNone/>
            </a:pPr>
            <a:r>
              <a:rPr lang="en-US" sz="800" dirty="0">
                <a:solidFill>
                  <a:srgbClr val="5C6A62"/>
                </a:solidFill>
              </a:rPr>
              <a:t>Client, contact and staff names in these screens are anonymised to protect SMC’s confidentiality.</a:t>
            </a:r>
            <a:endParaRPr lang="en-US" sz="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33F2D"/>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89788"/>
            <a:ext cx="182880" cy="134417"/>
          </a:xfrm>
          <a:prstGeom prst="rect">
            <a:avLst/>
          </a:prstGeom>
        </p:spPr>
      </p:pic>
      <p:sp>
        <p:nvSpPr>
          <p:cNvPr id="3" name="Text 0"/>
          <p:cNvSpPr txBox="1"/>
          <p:nvPr/>
        </p:nvSpPr>
        <p:spPr>
          <a:xfrm>
            <a:off x="813816" y="548640"/>
            <a:ext cx="4754880" cy="219456"/>
          </a:xfrm>
          <a:prstGeom prst="rect">
            <a:avLst/>
          </a:prstGeom>
          <a:noFill/>
          <a:ln/>
        </p:spPr>
        <p:txBody>
          <a:bodyPr wrap="square" lIns="0" tIns="0" rIns="0" bIns="0" rtlCol="0" anchor="ctr"/>
          <a:lstStyle/>
          <a:p>
            <a:pPr indent="0" marL="0">
              <a:buNone/>
            </a:pPr>
            <a:r>
              <a:rPr lang="en-US" sz="900" b="1" spc="200" kern="0" dirty="0">
                <a:solidFill>
                  <a:srgbClr val="8C938B"/>
                </a:solidFill>
              </a:rPr>
              <a:t>02 — YARD OPERATIONS &amp; INVENTORY PLATFORM</a:t>
            </a:r>
            <a:endParaRPr lang="en-US" sz="900" dirty="0"/>
          </a:p>
        </p:txBody>
      </p:sp>
      <p:sp>
        <p:nvSpPr>
          <p:cNvPr id="4" name="Text 1"/>
          <p:cNvSpPr/>
          <p:nvPr>
            <p:ph idx="101" type="title" hasCustomPrompt="1"/>
          </p:nvPr>
        </p:nvSpPr>
        <p:spPr>
          <a:xfrm>
            <a:off x="548640" y="896112"/>
            <a:ext cx="4800600" cy="1481328"/>
          </a:xfrm>
          <a:prstGeom prst="rect">
            <a:avLst/>
          </a:prstGeom>
          <a:noFill/>
          <a:ln/>
        </p:spPr>
        <p:txBody>
          <a:bodyPr wrap="square" lIns="0" tIns="0" rIns="0" bIns="0" rtlCol="0" anchor="t"/>
          <a:lstStyle/>
          <a:p>
            <a:pPr algn="l" indent="0" marL="0">
              <a:lnSpc>
                <a:spcPct val="92000"/>
              </a:lnSpc>
              <a:buNone/>
            </a:pPr>
            <a:r>
              <a:rPr lang="en-US" sz="4000" b="1" spc="-100" kern="0" dirty="0">
                <a:solidFill>
                  <a:srgbClr val="EEF0E6"/>
                </a:solidFill>
              </a:rPr>
              <a:t>Veloce Scrap Flow</a:t>
            </a:r>
            <a:endParaRPr lang="en-US" sz="4000" dirty="0"/>
          </a:p>
        </p:txBody>
      </p:sp>
      <p:sp>
        <p:nvSpPr>
          <p:cNvPr id="5" name="Text 2"/>
          <p:cNvSpPr txBox="1"/>
          <p:nvPr/>
        </p:nvSpPr>
        <p:spPr>
          <a:xfrm>
            <a:off x="548640" y="1883664"/>
            <a:ext cx="4572000" cy="777240"/>
          </a:xfrm>
          <a:prstGeom prst="rect">
            <a:avLst/>
          </a:prstGeom>
          <a:noFill/>
          <a:ln/>
        </p:spPr>
        <p:txBody>
          <a:bodyPr wrap="square" lIns="0" tIns="0" rIns="0" bIns="0" rtlCol="0" anchor="t"/>
          <a:lstStyle/>
          <a:p>
            <a:pPr indent="0" marL="0">
              <a:lnSpc>
                <a:spcPct val="108000"/>
              </a:lnSpc>
              <a:buNone/>
            </a:pPr>
            <a:r>
              <a:rPr lang="en-US" sz="1650" dirty="0">
                <a:solidFill>
                  <a:srgbClr val="EEF0E6"/>
                </a:solidFill>
                <a:latin typeface="Satoshi Medium" pitchFamily="34" charset="0"/>
                <a:ea typeface="Satoshi Medium" pitchFamily="34" charset="-122"/>
                <a:cs typeface="Satoshi Medium" pitchFamily="34" charset="-120"/>
              </a:rPr>
              <a:t>Every kilogram, from weighbridge to dispatch.</a:t>
            </a:r>
            <a:endParaRPr lang="en-US" sz="1650" dirty="0"/>
          </a:p>
        </p:txBody>
      </p:sp>
      <p:sp>
        <p:nvSpPr>
          <p:cNvPr id="6" name="Text 3"/>
          <p:cNvSpPr txBox="1"/>
          <p:nvPr/>
        </p:nvSpPr>
        <p:spPr>
          <a:xfrm>
            <a:off x="548640" y="2706624"/>
            <a:ext cx="4572000" cy="1325880"/>
          </a:xfrm>
          <a:prstGeom prst="rect">
            <a:avLst/>
          </a:prstGeom>
          <a:noFill/>
          <a:ln/>
        </p:spPr>
        <p:txBody>
          <a:bodyPr wrap="square" lIns="0" tIns="0" rIns="0" bIns="0" rtlCol="0" anchor="t"/>
          <a:lstStyle/>
          <a:p>
            <a:pPr indent="0" marL="0">
              <a:lnSpc>
                <a:spcPct val="115000"/>
              </a:lnSpc>
              <a:buNone/>
            </a:pPr>
            <a:r>
              <a:rPr lang="en-US" sz="1100" dirty="0">
                <a:solidFill>
                  <a:srgbClr val="BFC4BA"/>
                </a:solidFill>
              </a:rPr>
              <a:t>A yard operating system for a scrap business: a calculator-fast mobile app for the weighbridge and the sorting floor, and a desktop console that gives management live control across yards and warehouses.</a:t>
            </a:r>
            <a:endParaRPr lang="en-US" sz="1100" dirty="0"/>
          </a:p>
        </p:txBody>
      </p:sp>
      <p:sp>
        <p:nvSpPr>
          <p:cNvPr id="7" name="Shape 4"/>
          <p:cNvSpPr/>
          <p:nvPr/>
        </p:nvSpPr>
        <p:spPr>
          <a:xfrm>
            <a:off x="548640" y="4754880"/>
            <a:ext cx="4572000" cy="0"/>
          </a:xfrm>
          <a:prstGeom prst="line">
            <a:avLst/>
          </a:prstGeom>
          <a:noFill/>
          <a:ln w="9525">
            <a:solidFill>
              <a:srgbClr val="2A3832"/>
            </a:solidFill>
            <a:prstDash val="solid"/>
          </a:ln>
        </p:spPr>
      </p:sp>
      <p:sp>
        <p:nvSpPr>
          <p:cNvPr id="8" name="Text 5"/>
          <p:cNvSpPr txBox="1"/>
          <p:nvPr/>
        </p:nvSpPr>
        <p:spPr>
          <a:xfrm>
            <a:off x="548640" y="4901184"/>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CLIENT</a:t>
            </a:r>
            <a:endParaRPr lang="en-US" sz="800" dirty="0"/>
          </a:p>
          <a:p>
            <a:pPr indent="0" marL="0">
              <a:spcAft>
                <a:spcPts val="200"/>
              </a:spcAft>
              <a:buNone/>
            </a:pPr>
            <a:r>
              <a:rPr lang="en-US" sz="1100" b="1" dirty="0">
                <a:solidFill>
                  <a:srgbClr val="EEF0E6"/>
                </a:solidFill>
              </a:rPr>
              <a:t>Veloce</a:t>
            </a:r>
            <a:endParaRPr lang="en-US" sz="800" dirty="0"/>
          </a:p>
        </p:txBody>
      </p:sp>
      <p:sp>
        <p:nvSpPr>
          <p:cNvPr id="9" name="Text 6"/>
          <p:cNvSpPr txBox="1"/>
          <p:nvPr/>
        </p:nvSpPr>
        <p:spPr>
          <a:xfrm>
            <a:off x="2926080" y="4901184"/>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SECTOR</a:t>
            </a:r>
            <a:endParaRPr lang="en-US" sz="800" dirty="0"/>
          </a:p>
          <a:p>
            <a:pPr indent="0" marL="0">
              <a:spcAft>
                <a:spcPts val="200"/>
              </a:spcAft>
              <a:buNone/>
            </a:pPr>
            <a:r>
              <a:rPr lang="en-US" sz="1100" b="1" dirty="0">
                <a:solidFill>
                  <a:srgbClr val="EEF0E6"/>
                </a:solidFill>
              </a:rPr>
              <a:t>Scrap &amp; recycling</a:t>
            </a:r>
            <a:endParaRPr lang="en-US" sz="800" dirty="0"/>
          </a:p>
        </p:txBody>
      </p:sp>
      <p:sp>
        <p:nvSpPr>
          <p:cNvPr id="10" name="Text 7"/>
          <p:cNvSpPr txBox="1"/>
          <p:nvPr/>
        </p:nvSpPr>
        <p:spPr>
          <a:xfrm>
            <a:off x="548640" y="5596128"/>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PLATFORM</a:t>
            </a:r>
            <a:endParaRPr lang="en-US" sz="800" dirty="0"/>
          </a:p>
          <a:p>
            <a:pPr indent="0" marL="0">
              <a:spcAft>
                <a:spcPts val="200"/>
              </a:spcAft>
              <a:buNone/>
            </a:pPr>
            <a:r>
              <a:rPr lang="en-US" sz="1100" b="1" dirty="0">
                <a:solidFill>
                  <a:srgbClr val="EEF0E6"/>
                </a:solidFill>
              </a:rPr>
              <a:t>Web · Android</a:t>
            </a:r>
            <a:endParaRPr lang="en-US" sz="800" dirty="0"/>
          </a:p>
        </p:txBody>
      </p:sp>
      <p:sp>
        <p:nvSpPr>
          <p:cNvPr id="11" name="Text 8"/>
          <p:cNvSpPr txBox="1"/>
          <p:nvPr/>
        </p:nvSpPr>
        <p:spPr>
          <a:xfrm>
            <a:off x="2926080" y="5596128"/>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ROLES</a:t>
            </a:r>
            <a:endParaRPr lang="en-US" sz="800" dirty="0"/>
          </a:p>
          <a:p>
            <a:pPr indent="0" marL="0">
              <a:spcAft>
                <a:spcPts val="200"/>
              </a:spcAft>
              <a:buNone/>
            </a:pPr>
            <a:r>
              <a:rPr lang="en-US" sz="1100" b="1" dirty="0">
                <a:solidFill>
                  <a:srgbClr val="EEF0E6"/>
                </a:solidFill>
              </a:rPr>
              <a:t>Admin · Owner · Supervisor</a:t>
            </a:r>
            <a:endParaRPr lang="en-US" sz="800" dirty="0"/>
          </a:p>
        </p:txBody>
      </p:sp>
      <p:pic>
        <p:nvPicPr>
          <p:cNvPr id="12" name="Image 1" descr="Veloce Scrap Flow on desktop and mobile">    </p:cNvPr>
          <p:cNvPicPr>
            <a:picLocks noChangeAspect="1"/>
          </p:cNvPicPr>
          <p:nvPr/>
        </p:nvPicPr>
        <p:blipFill>
          <a:blip r:embed="rId2"/>
          <a:stretch>
            <a:fillRect/>
          </a:stretch>
        </p:blipFill>
        <p:spPr>
          <a:xfrm>
            <a:off x="5162702" y="1334567"/>
            <a:ext cx="6819595" cy="4353458"/>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8C93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89788"/>
            <a:ext cx="182880" cy="134417"/>
          </a:xfrm>
          <a:prstGeom prst="rect">
            <a:avLst/>
          </a:prstGeom>
        </p:spPr>
      </p:pic>
      <p:sp>
        <p:nvSpPr>
          <p:cNvPr id="3" name="Text 0"/>
          <p:cNvSpPr txBox="1"/>
          <p:nvPr/>
        </p:nvSpPr>
        <p:spPr>
          <a:xfrm>
            <a:off x="813816" y="548640"/>
            <a:ext cx="45720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THE CHALLENGE</a:t>
            </a:r>
            <a:endParaRPr lang="en-US" sz="900" dirty="0"/>
          </a:p>
        </p:txBody>
      </p:sp>
      <p:sp>
        <p:nvSpPr>
          <p:cNvPr id="4" name="Text 1"/>
          <p:cNvSpPr txBox="1"/>
          <p:nvPr/>
        </p:nvSpPr>
        <p:spPr>
          <a:xfrm>
            <a:off x="548640" y="841248"/>
            <a:ext cx="4800600" cy="868680"/>
          </a:xfrm>
          <a:prstGeom prst="rect">
            <a:avLst/>
          </a:prstGeom>
          <a:noFill/>
          <a:ln/>
        </p:spPr>
        <p:txBody>
          <a:bodyPr wrap="square" lIns="0" tIns="0" rIns="0" bIns="0" rtlCol="0" anchor="t"/>
          <a:lstStyle/>
          <a:p>
            <a:pPr indent="0" marL="0">
              <a:lnSpc>
                <a:spcPct val="100000"/>
              </a:lnSpc>
              <a:buNone/>
            </a:pPr>
            <a:r>
              <a:rPr lang="en-US" sz="1900" b="1" spc="-40" kern="0" dirty="0">
                <a:solidFill>
                  <a:srgbClr val="0D1813"/>
                </a:solidFill>
              </a:rPr>
              <a:t>Mixed loads in. Graded material out. No reliable trail in between.</a:t>
            </a:r>
            <a:endParaRPr lang="en-US" sz="1900" dirty="0"/>
          </a:p>
        </p:txBody>
      </p:sp>
      <p:sp>
        <p:nvSpPr>
          <p:cNvPr id="5" name="Text 2"/>
          <p:cNvSpPr txBox="1"/>
          <p:nvPr/>
        </p:nvSpPr>
        <p:spPr>
          <a:xfrm>
            <a:off x="548640" y="1755648"/>
            <a:ext cx="4800600" cy="1600200"/>
          </a:xfrm>
          <a:prstGeom prst="rect">
            <a:avLst/>
          </a:prstGeom>
          <a:noFill/>
          <a:ln/>
        </p:spPr>
        <p:txBody>
          <a:bodyPr wrap="square" lIns="0" tIns="0" rIns="0" bIns="0" rtlCol="0" anchor="t"/>
          <a:lstStyle/>
          <a:p>
            <a:pPr indent="0" marL="0">
              <a:lnSpc>
                <a:spcPct val="115000"/>
              </a:lnSpc>
              <a:buNone/>
            </a:pPr>
            <a:r>
              <a:rPr lang="en-US" sz="1150" dirty="0">
                <a:solidFill>
                  <a:srgbClr val="5C6A62"/>
                </a:solidFill>
              </a:rPr>
              <a:t>A scrap yard buys mixed material by weight, sorts it into sellable grades and sells it by the truckload. Every step changes the numbers. Without one system, it is hard to know what is in stock, what is waiting to be sorted and what has actually left the yard — and impossible to see it across several yards.</a:t>
            </a:r>
            <a:endParaRPr lang="en-US" sz="1150" dirty="0"/>
          </a:p>
        </p:txBody>
      </p:sp>
      <p:pic>
        <p:nvPicPr>
          <p:cNvPr id="6" name="Image 1" descr="F:\Office Project\Crita Portfolio\portfolio\ppt\brand\c.png">    </p:cNvPr>
          <p:cNvPicPr>
            <a:picLocks noChangeAspect="1"/>
          </p:cNvPicPr>
          <p:nvPr/>
        </p:nvPicPr>
        <p:blipFill>
          <a:blip r:embed="rId2"/>
          <a:stretch>
            <a:fillRect/>
          </a:stretch>
        </p:blipFill>
        <p:spPr>
          <a:xfrm>
            <a:off x="548640" y="3534156"/>
            <a:ext cx="182880" cy="134417"/>
          </a:xfrm>
          <a:prstGeom prst="rect">
            <a:avLst/>
          </a:prstGeom>
        </p:spPr>
      </p:pic>
      <p:sp>
        <p:nvSpPr>
          <p:cNvPr id="7" name="Text 3"/>
          <p:cNvSpPr txBox="1"/>
          <p:nvPr/>
        </p:nvSpPr>
        <p:spPr>
          <a:xfrm>
            <a:off x="813816" y="3493008"/>
            <a:ext cx="45720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WHAT WE BUILT</a:t>
            </a:r>
            <a:endParaRPr lang="en-US" sz="900" dirty="0"/>
          </a:p>
        </p:txBody>
      </p:sp>
      <p:sp>
        <p:nvSpPr>
          <p:cNvPr id="8" name="Text 4"/>
          <p:cNvSpPr txBox="1"/>
          <p:nvPr/>
        </p:nvSpPr>
        <p:spPr>
          <a:xfrm>
            <a:off x="548640" y="3785616"/>
            <a:ext cx="4800600" cy="868680"/>
          </a:xfrm>
          <a:prstGeom prst="rect">
            <a:avLst/>
          </a:prstGeom>
          <a:noFill/>
          <a:ln/>
        </p:spPr>
        <p:txBody>
          <a:bodyPr wrap="square" lIns="0" tIns="0" rIns="0" bIns="0" rtlCol="0" anchor="t"/>
          <a:lstStyle/>
          <a:p>
            <a:pPr indent="0" marL="0">
              <a:lnSpc>
                <a:spcPct val="100000"/>
              </a:lnSpc>
              <a:buNone/>
            </a:pPr>
            <a:r>
              <a:rPr lang="en-US" sz="1900" b="1" spc="-40" kern="0" dirty="0">
                <a:solidFill>
                  <a:srgbClr val="0D1813"/>
                </a:solidFill>
              </a:rPr>
              <a:t>Built for the yard floor. Controlled from one console.</a:t>
            </a:r>
            <a:endParaRPr lang="en-US" sz="1900" dirty="0"/>
          </a:p>
        </p:txBody>
      </p:sp>
      <p:sp>
        <p:nvSpPr>
          <p:cNvPr id="9" name="Text 5"/>
          <p:cNvSpPr txBox="1"/>
          <p:nvPr/>
        </p:nvSpPr>
        <p:spPr>
          <a:xfrm>
            <a:off x="548640" y="4681728"/>
            <a:ext cx="4800600" cy="1600200"/>
          </a:xfrm>
          <a:prstGeom prst="rect">
            <a:avLst/>
          </a:prstGeom>
          <a:noFill/>
          <a:ln/>
        </p:spPr>
        <p:txBody>
          <a:bodyPr wrap="square" lIns="0" tIns="0" rIns="0" bIns="0" rtlCol="0" anchor="t"/>
          <a:lstStyle/>
          <a:p>
            <a:pPr indent="0" marL="0">
              <a:lnSpc>
                <a:spcPct val="115000"/>
              </a:lnSpc>
              <a:buNone/>
            </a:pPr>
            <a:r>
              <a:rPr lang="en-US" sz="1150" dirty="0">
                <a:solidFill>
                  <a:srgbClr val="5C6A62"/>
                </a:solidFill>
              </a:rPr>
              <a:t>Crita built Scrap Flow as a multi-yard platform. Owners and supervisors work in a mobile app designed like a calculator — big keys, live rates, clear steps — while the platform admin manages yards, warehouses, users and analytics from a desktop console. Every action writes to one inventory ledger, updated in real time.</a:t>
            </a:r>
            <a:endParaRPr lang="en-US" sz="1150" dirty="0"/>
          </a:p>
        </p:txBody>
      </p:sp>
      <p:sp>
        <p:nvSpPr>
          <p:cNvPr id="10" name="Shape 6"/>
          <p:cNvSpPr/>
          <p:nvPr/>
        </p:nvSpPr>
        <p:spPr>
          <a:xfrm>
            <a:off x="5760720" y="502920"/>
            <a:ext cx="5879592" cy="5715000"/>
          </a:xfrm>
          <a:prstGeom prst="roundRect">
            <a:avLst>
              <a:gd name="adj" fmla="val 2560"/>
            </a:avLst>
          </a:prstGeom>
          <a:solidFill>
            <a:srgbClr val="EEF0E8"/>
          </a:solidFill>
          <a:ln/>
        </p:spPr>
      </p:sp>
      <p:pic>
        <p:nvPicPr>
          <p:cNvPr id="11" name="Image 2" descr="Veloce Scrap Flow screens">    </p:cNvPr>
          <p:cNvPicPr>
            <a:picLocks noChangeAspect="1"/>
          </p:cNvPicPr>
          <p:nvPr/>
        </p:nvPicPr>
        <p:blipFill>
          <a:blip r:embed="rId3"/>
          <a:stretch>
            <a:fillRect/>
          </a:stretch>
        </p:blipFill>
        <p:spPr>
          <a:xfrm>
            <a:off x="5865102" y="1334356"/>
            <a:ext cx="5689115" cy="4208280"/>
          </a:xfrm>
          <a:prstGeom prst="rect">
            <a:avLst/>
          </a:prstGeom>
        </p:spPr>
      </p:pic>
      <p:sp>
        <p:nvSpPr>
          <p:cNvPr id="13"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0E8"/>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PRODUCT EXPERIENCE · 1 OF 2</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Inside Veloce Scrap Flow.</a:t>
            </a:r>
            <a:endParaRPr lang="en-US" sz="2800" dirty="0"/>
          </a:p>
        </p:txBody>
      </p:sp>
      <p:pic>
        <p:nvPicPr>
          <p:cNvPr id="5" name="Image 1" descr="Weight entry, calculator-fast">    </p:cNvPr>
          <p:cNvPicPr>
            <a:picLocks noChangeAspect="1"/>
          </p:cNvPicPr>
          <p:nvPr/>
        </p:nvPicPr>
        <p:blipFill>
          <a:blip r:embed="rId2"/>
          <a:stretch>
            <a:fillRect/>
          </a:stretch>
        </p:blipFill>
        <p:spPr>
          <a:xfrm>
            <a:off x="273581" y="1360107"/>
            <a:ext cx="2648021" cy="5237767"/>
          </a:xfrm>
          <a:prstGeom prst="rect">
            <a:avLst/>
          </a:prstGeom>
        </p:spPr>
      </p:pic>
      <p:sp>
        <p:nvSpPr>
          <p:cNvPr id="6" name="Text 2"/>
          <p:cNvSpPr txBox="1"/>
          <p:nvPr/>
        </p:nvSpPr>
        <p:spPr>
          <a:xfrm>
            <a:off x="2926080" y="2926080"/>
            <a:ext cx="2926080" cy="182880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01</a:t>
            </a:r>
            <a:endParaRPr lang="en-US" sz="950" dirty="0"/>
          </a:p>
          <a:p>
            <a:pPr indent="0" marL="0">
              <a:spcAft>
                <a:spcPts val="400"/>
              </a:spcAft>
              <a:buNone/>
            </a:pPr>
            <a:r>
              <a:rPr lang="en-US" sz="1500" b="1" dirty="0">
                <a:solidFill>
                  <a:srgbClr val="0D1813"/>
                </a:solidFill>
              </a:rPr>
              <a:t>Weight entry, calculator-fast</a:t>
            </a:r>
            <a:endParaRPr lang="en-US" sz="950" dirty="0"/>
          </a:p>
          <a:p>
            <a:pPr indent="0" marL="0">
              <a:spcAft>
                <a:spcPts val="400"/>
              </a:spcAft>
              <a:buNone/>
            </a:pPr>
            <a:r>
              <a:rPr lang="en-US" sz="1100" dirty="0">
                <a:solidFill>
                  <a:srgbClr val="5C6A62"/>
                </a:solidFill>
              </a:rPr>
              <a:t>Big keys, a live LED display and kg / ton / tonne switching — built for gloved hands at the weighbridge.</a:t>
            </a:r>
            <a:endParaRPr lang="en-US" sz="950" dirty="0"/>
          </a:p>
        </p:txBody>
      </p:sp>
      <p:pic>
        <p:nvPicPr>
          <p:cNvPr id="7" name="Image 2" descr="Segregation that balances">    </p:cNvPr>
          <p:cNvPicPr>
            <a:picLocks noChangeAspect="1"/>
          </p:cNvPicPr>
          <p:nvPr/>
        </p:nvPicPr>
        <p:blipFill>
          <a:blip r:embed="rId3"/>
          <a:stretch>
            <a:fillRect/>
          </a:stretch>
        </p:blipFill>
        <p:spPr>
          <a:xfrm>
            <a:off x="5915429" y="1360107"/>
            <a:ext cx="2648021" cy="5237767"/>
          </a:xfrm>
          <a:prstGeom prst="rect">
            <a:avLst/>
          </a:prstGeom>
        </p:spPr>
      </p:pic>
      <p:sp>
        <p:nvSpPr>
          <p:cNvPr id="8" name="Text 3"/>
          <p:cNvSpPr txBox="1"/>
          <p:nvPr/>
        </p:nvSpPr>
        <p:spPr>
          <a:xfrm>
            <a:off x="8567928" y="2926080"/>
            <a:ext cx="2926080" cy="1828800"/>
          </a:xfrm>
          <a:prstGeom prst="rect">
            <a:avLst/>
          </a:prstGeom>
          <a:noFill/>
          <a:ln/>
        </p:spPr>
        <p:txBody>
          <a:bodyPr wrap="square" lIns="0" tIns="0" rIns="0" bIns="0" rtlCol="0" anchor="t"/>
          <a:lstStyle/>
          <a:p>
            <a:pPr indent="0" marL="0">
              <a:spcAft>
                <a:spcPts val="400"/>
              </a:spcAft>
              <a:buNone/>
            </a:pPr>
            <a:r>
              <a:rPr lang="en-US" sz="950" b="1" dirty="0">
                <a:solidFill>
                  <a:srgbClr val="7FA53F"/>
                </a:solidFill>
              </a:rPr>
              <a:t>02</a:t>
            </a:r>
            <a:endParaRPr lang="en-US" sz="950" dirty="0"/>
          </a:p>
          <a:p>
            <a:pPr indent="0" marL="0">
              <a:spcAft>
                <a:spcPts val="400"/>
              </a:spcAft>
              <a:buNone/>
            </a:pPr>
            <a:r>
              <a:rPr lang="en-US" sz="1500" b="1" dirty="0">
                <a:solidFill>
                  <a:srgbClr val="0D1813"/>
                </a:solidFill>
              </a:rPr>
              <a:t>Segregation that balances</a:t>
            </a:r>
            <a:endParaRPr lang="en-US" sz="950" dirty="0"/>
          </a:p>
          <a:p>
            <a:pPr indent="0" marL="0">
              <a:spcAft>
                <a:spcPts val="400"/>
              </a:spcAft>
              <a:buNone/>
            </a:pPr>
            <a:r>
              <a:rPr lang="en-US" sz="1100" dirty="0">
                <a:solidFill>
                  <a:srgbClr val="5C6A62"/>
                </a:solidFill>
              </a:rPr>
              <a:t>Pick a mixed lot and split it into grades and wastage. Vendor, vehicle and lot history stay attached.</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0E8"/>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PRODUCT EXPERIENCE · 2 OF 2</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Inside Veloce Scrap Flow.</a:t>
            </a:r>
            <a:endParaRPr lang="en-US" sz="2800" dirty="0"/>
          </a:p>
        </p:txBody>
      </p:sp>
      <p:pic>
        <p:nvPicPr>
          <p:cNvPr id="5" name="Image 1" descr="One console for every yard">    </p:cNvPr>
          <p:cNvPicPr>
            <a:picLocks noChangeAspect="1"/>
          </p:cNvPicPr>
          <p:nvPr/>
        </p:nvPicPr>
        <p:blipFill>
          <a:blip r:embed="rId2"/>
          <a:stretch>
            <a:fillRect/>
          </a:stretch>
        </p:blipFill>
        <p:spPr>
          <a:xfrm>
            <a:off x="265704" y="1353231"/>
            <a:ext cx="5960831" cy="4066601"/>
          </a:xfrm>
          <a:prstGeom prst="rect">
            <a:avLst/>
          </a:prstGeom>
        </p:spPr>
      </p:pic>
      <p:sp>
        <p:nvSpPr>
          <p:cNvPr id="6" name="Text 2"/>
          <p:cNvSpPr txBox="1"/>
          <p:nvPr/>
        </p:nvSpPr>
        <p:spPr>
          <a:xfrm>
            <a:off x="548640"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03</a:t>
            </a:r>
            <a:endParaRPr lang="en-US" sz="950" dirty="0"/>
          </a:p>
          <a:p>
            <a:pPr indent="0" marL="0">
              <a:spcAft>
                <a:spcPts val="300"/>
              </a:spcAft>
              <a:buNone/>
            </a:pPr>
            <a:r>
              <a:rPr lang="en-US" sz="1500" b="1" dirty="0">
                <a:solidFill>
                  <a:srgbClr val="0D1813"/>
                </a:solidFill>
              </a:rPr>
              <a:t>One console for every yard</a:t>
            </a:r>
            <a:endParaRPr lang="en-US" sz="950" dirty="0"/>
          </a:p>
          <a:p>
            <a:pPr indent="0" marL="0">
              <a:spcAft>
                <a:spcPts val="300"/>
              </a:spcAft>
              <a:buNone/>
            </a:pPr>
            <a:r>
              <a:rPr lang="en-US" sz="1100" dirty="0">
                <a:solidFill>
                  <a:srgbClr val="5C6A62"/>
                </a:solidFill>
              </a:rPr>
              <a:t>Warehouses, supervisors, stock and records for each yard — with the admin able to step inside any yard.</a:t>
            </a:r>
            <a:endParaRPr lang="en-US" sz="950" dirty="0"/>
          </a:p>
        </p:txBody>
      </p:sp>
      <p:pic>
        <p:nvPicPr>
          <p:cNvPr id="7" name="Image 2" descr="Platform overview">    </p:cNvPr>
          <p:cNvPicPr>
            <a:picLocks noChangeAspect="1"/>
          </p:cNvPicPr>
          <p:nvPr/>
        </p:nvPicPr>
        <p:blipFill>
          <a:blip r:embed="rId3"/>
          <a:stretch>
            <a:fillRect/>
          </a:stretch>
        </p:blipFill>
        <p:spPr>
          <a:xfrm>
            <a:off x="5907552" y="1353231"/>
            <a:ext cx="5960831" cy="4064203"/>
          </a:xfrm>
          <a:prstGeom prst="rect">
            <a:avLst/>
          </a:prstGeom>
        </p:spPr>
      </p:pic>
      <p:sp>
        <p:nvSpPr>
          <p:cNvPr id="8" name="Text 3"/>
          <p:cNvSpPr txBox="1"/>
          <p:nvPr/>
        </p:nvSpPr>
        <p:spPr>
          <a:xfrm>
            <a:off x="6190488"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04</a:t>
            </a:r>
            <a:endParaRPr lang="en-US" sz="950" dirty="0"/>
          </a:p>
          <a:p>
            <a:pPr indent="0" marL="0">
              <a:spcAft>
                <a:spcPts val="300"/>
              </a:spcAft>
              <a:buNone/>
            </a:pPr>
            <a:r>
              <a:rPr lang="en-US" sz="1500" b="1" dirty="0">
                <a:solidFill>
                  <a:srgbClr val="0D1813"/>
                </a:solidFill>
              </a:rPr>
              <a:t>Platform overview</a:t>
            </a:r>
            <a:endParaRPr lang="en-US" sz="950" dirty="0"/>
          </a:p>
          <a:p>
            <a:pPr indent="0" marL="0">
              <a:spcAft>
                <a:spcPts val="300"/>
              </a:spcAft>
              <a:buNone/>
            </a:pPr>
            <a:r>
              <a:rPr lang="en-US" sz="1100" dirty="0">
                <a:solidFill>
                  <a:srgbClr val="5C6A62"/>
                </a:solidFill>
              </a:rPr>
              <a:t>Headline numbers, alerts and pending actions computed by the system, so nothing waits to be noticed.</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KEY CAPABILITIES</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What Veloce Scrap Flow does.</a:t>
            </a:r>
            <a:endParaRPr lang="en-US" sz="2800" dirty="0"/>
          </a:p>
        </p:txBody>
      </p:sp>
      <p:sp>
        <p:nvSpPr>
          <p:cNvPr id="5" name="Shape 2"/>
          <p:cNvSpPr/>
          <p:nvPr/>
        </p:nvSpPr>
        <p:spPr>
          <a:xfrm>
            <a:off x="548640" y="1691640"/>
            <a:ext cx="3611880" cy="0"/>
          </a:xfrm>
          <a:prstGeom prst="line">
            <a:avLst/>
          </a:prstGeom>
          <a:noFill/>
          <a:ln w="9525">
            <a:solidFill>
              <a:srgbClr val="D3D5CC"/>
            </a:solidFill>
            <a:prstDash val="solid"/>
          </a:ln>
        </p:spPr>
      </p:sp>
      <p:sp>
        <p:nvSpPr>
          <p:cNvPr id="6" name="Text 3"/>
          <p:cNvSpPr txBox="1"/>
          <p:nvPr/>
        </p:nvSpPr>
        <p:spPr>
          <a:xfrm>
            <a:off x="548640" y="1810512"/>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01</a:t>
            </a:r>
            <a:endParaRPr lang="en-US" sz="950" dirty="0"/>
          </a:p>
          <a:p>
            <a:pPr indent="0" marL="0">
              <a:spcAft>
                <a:spcPts val="300"/>
              </a:spcAft>
              <a:buNone/>
            </a:pPr>
            <a:r>
              <a:rPr lang="en-US" sz="1400" b="1" dirty="0">
                <a:solidFill>
                  <a:srgbClr val="0D1813"/>
                </a:solidFill>
              </a:rPr>
              <a:t>Inward at the weighbridge</a:t>
            </a:r>
            <a:endParaRPr lang="en-US" sz="950" dirty="0"/>
          </a:p>
          <a:p>
            <a:pPr indent="0" marL="0">
              <a:spcAft>
                <a:spcPts val="300"/>
              </a:spcAft>
              <a:buNone/>
            </a:pPr>
            <a:r>
              <a:rPr lang="en-US" sz="1050" dirty="0">
                <a:solidFill>
                  <a:srgbClr val="5C6A62"/>
                </a:solidFill>
              </a:rPr>
              <a:t>Vendor, vehicle and multiple weighments on an LED-style keypad, with photo evidence. Each load becomes a traceable lot.</a:t>
            </a:r>
            <a:endParaRPr lang="en-US" sz="950" dirty="0"/>
          </a:p>
        </p:txBody>
      </p:sp>
      <p:sp>
        <p:nvSpPr>
          <p:cNvPr id="7" name="Shape 4"/>
          <p:cNvSpPr/>
          <p:nvPr/>
        </p:nvSpPr>
        <p:spPr>
          <a:xfrm>
            <a:off x="4389120" y="1691640"/>
            <a:ext cx="3611880" cy="0"/>
          </a:xfrm>
          <a:prstGeom prst="line">
            <a:avLst/>
          </a:prstGeom>
          <a:noFill/>
          <a:ln w="9525">
            <a:solidFill>
              <a:srgbClr val="D3D5CC"/>
            </a:solidFill>
            <a:prstDash val="solid"/>
          </a:ln>
        </p:spPr>
      </p:sp>
      <p:sp>
        <p:nvSpPr>
          <p:cNvPr id="8" name="Text 5"/>
          <p:cNvSpPr txBox="1"/>
          <p:nvPr/>
        </p:nvSpPr>
        <p:spPr>
          <a:xfrm>
            <a:off x="4389120" y="1810512"/>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02</a:t>
            </a:r>
            <a:endParaRPr lang="en-US" sz="950" dirty="0"/>
          </a:p>
          <a:p>
            <a:pPr indent="0" marL="0">
              <a:spcAft>
                <a:spcPts val="300"/>
              </a:spcAft>
              <a:buNone/>
            </a:pPr>
            <a:r>
              <a:rPr lang="en-US" sz="1400" b="1" dirty="0">
                <a:solidFill>
                  <a:srgbClr val="0D1813"/>
                </a:solidFill>
              </a:rPr>
              <a:t>Sorting that balances</a:t>
            </a:r>
            <a:endParaRPr lang="en-US" sz="950" dirty="0"/>
          </a:p>
          <a:p>
            <a:pPr indent="0" marL="0">
              <a:spcAft>
                <a:spcPts val="300"/>
              </a:spcAft>
              <a:buNone/>
            </a:pPr>
            <a:r>
              <a:rPr lang="en-US" sz="1050" dirty="0">
                <a:solidFill>
                  <a:srgbClr val="5C6A62"/>
                </a:solidFill>
              </a:rPr>
              <a:t>Mixed lots are split into finished grades and wastage; a run can’t close until every kilogram is accounted for.</a:t>
            </a:r>
            <a:endParaRPr lang="en-US" sz="950" dirty="0"/>
          </a:p>
        </p:txBody>
      </p:sp>
      <p:sp>
        <p:nvSpPr>
          <p:cNvPr id="9" name="Shape 6"/>
          <p:cNvSpPr/>
          <p:nvPr/>
        </p:nvSpPr>
        <p:spPr>
          <a:xfrm>
            <a:off x="548640" y="3227832"/>
            <a:ext cx="3611880" cy="0"/>
          </a:xfrm>
          <a:prstGeom prst="line">
            <a:avLst/>
          </a:prstGeom>
          <a:noFill/>
          <a:ln w="9525">
            <a:solidFill>
              <a:srgbClr val="D3D5CC"/>
            </a:solidFill>
            <a:prstDash val="solid"/>
          </a:ln>
        </p:spPr>
      </p:sp>
      <p:sp>
        <p:nvSpPr>
          <p:cNvPr id="10" name="Text 7"/>
          <p:cNvSpPr txBox="1"/>
          <p:nvPr/>
        </p:nvSpPr>
        <p:spPr>
          <a:xfrm>
            <a:off x="548640" y="3346704"/>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03</a:t>
            </a:r>
            <a:endParaRPr lang="en-US" sz="950" dirty="0"/>
          </a:p>
          <a:p>
            <a:pPr indent="0" marL="0">
              <a:spcAft>
                <a:spcPts val="300"/>
              </a:spcAft>
              <a:buNone/>
            </a:pPr>
            <a:r>
              <a:rPr lang="en-US" sz="1400" b="1" dirty="0">
                <a:solidFill>
                  <a:srgbClr val="0D1813"/>
                </a:solidFill>
              </a:rPr>
              <a:t>Sell, allocate, dispatch</a:t>
            </a:r>
            <a:endParaRPr lang="en-US" sz="950" dirty="0"/>
          </a:p>
          <a:p>
            <a:pPr indent="0" marL="0">
              <a:spcAft>
                <a:spcPts val="300"/>
              </a:spcAft>
              <a:buNone/>
            </a:pPr>
            <a:r>
              <a:rPr lang="en-US" sz="1050" dirty="0">
                <a:solidFill>
                  <a:srgbClr val="5C6A62"/>
                </a:solidFill>
              </a:rPr>
              <a:t>A sale reserves stock; supervisors load vehicles against it. The same kilograms can’t be sold twice or over-dispatched.</a:t>
            </a:r>
            <a:endParaRPr lang="en-US" sz="950" dirty="0"/>
          </a:p>
        </p:txBody>
      </p:sp>
      <p:sp>
        <p:nvSpPr>
          <p:cNvPr id="11" name="Shape 8"/>
          <p:cNvSpPr/>
          <p:nvPr/>
        </p:nvSpPr>
        <p:spPr>
          <a:xfrm>
            <a:off x="4389120" y="3227832"/>
            <a:ext cx="3611880" cy="0"/>
          </a:xfrm>
          <a:prstGeom prst="line">
            <a:avLst/>
          </a:prstGeom>
          <a:noFill/>
          <a:ln w="9525">
            <a:solidFill>
              <a:srgbClr val="D3D5CC"/>
            </a:solidFill>
            <a:prstDash val="solid"/>
          </a:ln>
        </p:spPr>
      </p:sp>
      <p:sp>
        <p:nvSpPr>
          <p:cNvPr id="12" name="Text 9"/>
          <p:cNvSpPr txBox="1"/>
          <p:nvPr/>
        </p:nvSpPr>
        <p:spPr>
          <a:xfrm>
            <a:off x="4389120" y="3346704"/>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04</a:t>
            </a:r>
            <a:endParaRPr lang="en-US" sz="950" dirty="0"/>
          </a:p>
          <a:p>
            <a:pPr indent="0" marL="0">
              <a:spcAft>
                <a:spcPts val="300"/>
              </a:spcAft>
              <a:buNone/>
            </a:pPr>
            <a:r>
              <a:rPr lang="en-US" sz="1400" b="1" dirty="0">
                <a:solidFill>
                  <a:srgbClr val="0D1813"/>
                </a:solidFill>
              </a:rPr>
              <a:t>Live stock across warehouses</a:t>
            </a:r>
            <a:endParaRPr lang="en-US" sz="950" dirty="0"/>
          </a:p>
          <a:p>
            <a:pPr indent="0" marL="0">
              <a:spcAft>
                <a:spcPts val="300"/>
              </a:spcAft>
              <a:buNone/>
            </a:pPr>
            <a:r>
              <a:rPr lang="en-US" sz="1050" dirty="0">
                <a:solidFill>
                  <a:srgbClr val="5C6A62"/>
                </a:solidFill>
              </a:rPr>
              <a:t>Stock on hand, sale thresholds and pending work per yard and warehouse, updated as it happens.</a:t>
            </a:r>
            <a:endParaRPr lang="en-US" sz="950" dirty="0"/>
          </a:p>
        </p:txBody>
      </p:sp>
      <p:sp>
        <p:nvSpPr>
          <p:cNvPr id="13" name="Shape 10"/>
          <p:cNvSpPr/>
          <p:nvPr/>
        </p:nvSpPr>
        <p:spPr>
          <a:xfrm>
            <a:off x="548640" y="4764024"/>
            <a:ext cx="3611880" cy="0"/>
          </a:xfrm>
          <a:prstGeom prst="line">
            <a:avLst/>
          </a:prstGeom>
          <a:noFill/>
          <a:ln w="9525">
            <a:solidFill>
              <a:srgbClr val="D3D5CC"/>
            </a:solidFill>
            <a:prstDash val="solid"/>
          </a:ln>
        </p:spPr>
      </p:sp>
      <p:sp>
        <p:nvSpPr>
          <p:cNvPr id="14" name="Text 11"/>
          <p:cNvSpPr txBox="1"/>
          <p:nvPr/>
        </p:nvSpPr>
        <p:spPr>
          <a:xfrm>
            <a:off x="548640" y="4882896"/>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05</a:t>
            </a:r>
            <a:endParaRPr lang="en-US" sz="950" dirty="0"/>
          </a:p>
          <a:p>
            <a:pPr indent="0" marL="0">
              <a:spcAft>
                <a:spcPts val="300"/>
              </a:spcAft>
              <a:buNone/>
            </a:pPr>
            <a:r>
              <a:rPr lang="en-US" sz="1400" b="1" dirty="0">
                <a:solidFill>
                  <a:srgbClr val="0D1813"/>
                </a:solidFill>
              </a:rPr>
              <a:t>Admin console &amp; analytics</a:t>
            </a:r>
            <a:endParaRPr lang="en-US" sz="950" dirty="0"/>
          </a:p>
          <a:p>
            <a:pPr indent="0" marL="0">
              <a:spcAft>
                <a:spcPts val="300"/>
              </a:spcAft>
              <a:buNone/>
            </a:pPr>
            <a:r>
              <a:rPr lang="en-US" sz="1050" dirty="0">
                <a:solidFill>
                  <a:srgbClr val="5C6A62"/>
                </a:solidFill>
              </a:rPr>
              <a:t>Yards, warehouses, users and permissions, with analytics for inward, sorting, dispatch and materials.</a:t>
            </a:r>
            <a:endParaRPr lang="en-US" sz="950" dirty="0"/>
          </a:p>
        </p:txBody>
      </p:sp>
      <p:sp>
        <p:nvSpPr>
          <p:cNvPr id="15" name="Shape 12"/>
          <p:cNvSpPr/>
          <p:nvPr/>
        </p:nvSpPr>
        <p:spPr>
          <a:xfrm>
            <a:off x="4389120" y="4764024"/>
            <a:ext cx="3611880" cy="0"/>
          </a:xfrm>
          <a:prstGeom prst="line">
            <a:avLst/>
          </a:prstGeom>
          <a:noFill/>
          <a:ln w="9525">
            <a:solidFill>
              <a:srgbClr val="D3D5CC"/>
            </a:solidFill>
            <a:prstDash val="solid"/>
          </a:ln>
        </p:spPr>
      </p:sp>
      <p:sp>
        <p:nvSpPr>
          <p:cNvPr id="16" name="Text 13"/>
          <p:cNvSpPr txBox="1"/>
          <p:nvPr/>
        </p:nvSpPr>
        <p:spPr>
          <a:xfrm>
            <a:off x="4389120" y="4882896"/>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06</a:t>
            </a:r>
            <a:endParaRPr lang="en-US" sz="950" dirty="0"/>
          </a:p>
          <a:p>
            <a:pPr indent="0" marL="0">
              <a:spcAft>
                <a:spcPts val="300"/>
              </a:spcAft>
              <a:buNone/>
            </a:pPr>
            <a:r>
              <a:rPr lang="en-US" sz="1400" b="1" dirty="0">
                <a:solidFill>
                  <a:srgbClr val="0D1813"/>
                </a:solidFill>
              </a:rPr>
              <a:t>Governance built in</a:t>
            </a:r>
            <a:endParaRPr lang="en-US" sz="950" dirty="0"/>
          </a:p>
          <a:p>
            <a:pPr indent="0" marL="0">
              <a:spcAft>
                <a:spcPts val="300"/>
              </a:spcAft>
              <a:buNone/>
            </a:pPr>
            <a:r>
              <a:rPr lang="en-US" sz="1050" dirty="0">
                <a:solidFill>
                  <a:srgbClr val="5C6A62"/>
                </a:solidFill>
              </a:rPr>
              <a:t>Every privileged action is recorded in an audit log with before-and-after values.</a:t>
            </a:r>
            <a:endParaRPr lang="en-US" sz="950" dirty="0"/>
          </a:p>
        </p:txBody>
      </p:sp>
      <p:sp>
        <p:nvSpPr>
          <p:cNvPr id="17" name="Shape 14"/>
          <p:cNvSpPr/>
          <p:nvPr/>
        </p:nvSpPr>
        <p:spPr>
          <a:xfrm>
            <a:off x="8503920" y="502920"/>
            <a:ext cx="3136392" cy="5715000"/>
          </a:xfrm>
          <a:prstGeom prst="roundRect">
            <a:avLst>
              <a:gd name="adj" fmla="val 4665"/>
            </a:avLst>
          </a:prstGeom>
          <a:solidFill>
            <a:srgbClr val="033F2D"/>
          </a:solidFill>
          <a:ln/>
        </p:spPr>
      </p:sp>
      <p:pic>
        <p:nvPicPr>
          <p:cNvPr id="18" name="Image 1" descr="Veloce Scrap Flow on a phone">    </p:cNvPr>
          <p:cNvPicPr>
            <a:picLocks noChangeAspect="1"/>
          </p:cNvPicPr>
          <p:nvPr/>
        </p:nvPicPr>
        <p:blipFill>
          <a:blip r:embed="rId2"/>
          <a:stretch>
            <a:fillRect/>
          </a:stretch>
        </p:blipFill>
        <p:spPr>
          <a:xfrm>
            <a:off x="8568057" y="489288"/>
            <a:ext cx="3008119" cy="5910003"/>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33F2D"/>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8C938B"/>
                </a:solidFill>
              </a:rPr>
              <a:t>ROLE-BASED EXPERIENCE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EEF0E6"/>
                </a:solidFill>
              </a:rPr>
              <a:t>Built for every role.</a:t>
            </a:r>
            <a:endParaRPr lang="en-US" sz="2800" dirty="0"/>
          </a:p>
        </p:txBody>
      </p:sp>
      <p:pic>
        <p:nvPicPr>
          <p:cNvPr id="5" name="Image 1" descr="Admin view">    </p:cNvPr>
          <p:cNvPicPr>
            <a:picLocks noChangeAspect="1"/>
          </p:cNvPicPr>
          <p:nvPr/>
        </p:nvPicPr>
        <p:blipFill>
          <a:blip r:embed="rId2"/>
          <a:stretch>
            <a:fillRect/>
          </a:stretch>
        </p:blipFill>
        <p:spPr>
          <a:xfrm>
            <a:off x="352829" y="1883798"/>
            <a:ext cx="3876401" cy="2547207"/>
          </a:xfrm>
          <a:prstGeom prst="rect">
            <a:avLst/>
          </a:prstGeom>
        </p:spPr>
      </p:pic>
      <p:sp>
        <p:nvSpPr>
          <p:cNvPr id="6" name="Shape 2"/>
          <p:cNvSpPr/>
          <p:nvPr/>
        </p:nvSpPr>
        <p:spPr>
          <a:xfrm>
            <a:off x="548640" y="4315968"/>
            <a:ext cx="3484778" cy="0"/>
          </a:xfrm>
          <a:prstGeom prst="line">
            <a:avLst/>
          </a:prstGeom>
          <a:noFill/>
          <a:ln w="9525">
            <a:solidFill>
              <a:srgbClr val="2A3832"/>
            </a:solidFill>
            <a:prstDash val="solid"/>
          </a:ln>
        </p:spPr>
      </p:sp>
      <p:sp>
        <p:nvSpPr>
          <p:cNvPr id="7" name="Text 3"/>
          <p:cNvSpPr txBox="1"/>
          <p:nvPr/>
        </p:nvSpPr>
        <p:spPr>
          <a:xfrm>
            <a:off x="548640" y="4443984"/>
            <a:ext cx="3484778" cy="8686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DESKTOP CONSOLE</a:t>
            </a:r>
            <a:endParaRPr lang="en-US" sz="800" dirty="0"/>
          </a:p>
          <a:p>
            <a:pPr indent="0" marL="0">
              <a:spcAft>
                <a:spcPts val="200"/>
              </a:spcAft>
              <a:buNone/>
            </a:pPr>
            <a:r>
              <a:rPr lang="en-US" sz="1700" b="1" dirty="0">
                <a:solidFill>
                  <a:srgbClr val="EEF0E6"/>
                </a:solidFill>
              </a:rPr>
              <a:t>Admin</a:t>
            </a:r>
            <a:endParaRPr lang="en-US" sz="800" dirty="0"/>
          </a:p>
          <a:p>
            <a:pPr indent="0" marL="0">
              <a:spcAft>
                <a:spcPts val="200"/>
              </a:spcAft>
              <a:buNone/>
            </a:pPr>
            <a:r>
              <a:rPr lang="en-US" sz="1100" dirty="0">
                <a:solidFill>
                  <a:srgbClr val="EEF0E6"/>
                </a:solidFill>
              </a:rPr>
              <a:t>Runs the platform across yards.</a:t>
            </a:r>
            <a:endParaRPr lang="en-US" sz="800" dirty="0"/>
          </a:p>
        </p:txBody>
      </p:sp>
      <p:sp>
        <p:nvSpPr>
          <p:cNvPr id="8" name="Text 4"/>
          <p:cNvSpPr txBox="1"/>
          <p:nvPr/>
        </p:nvSpPr>
        <p:spPr>
          <a:xfrm>
            <a:off x="548640" y="5303520"/>
            <a:ext cx="3484778" cy="1051560"/>
          </a:xfrm>
          <a:prstGeom prst="rect">
            <a:avLst/>
          </a:prstGeom>
          <a:noFill/>
          <a:ln/>
        </p:spPr>
        <p:txBody>
          <a:bodyPr wrap="square" lIns="0" tIns="0" rIns="0" bIns="0" rtlCol="0" anchor="t"/>
          <a:lstStyle/>
          <a:p>
            <a:pPr marL="165100" indent="-165100">
              <a:spcAft>
                <a:spcPts val="400"/>
              </a:spcAft>
              <a:buSzPct val="100000"/>
              <a:buChar char="•"/>
            </a:pPr>
            <a:r>
              <a:rPr lang="en-US" sz="1000" dirty="0">
                <a:solidFill>
                  <a:srgbClr val="BFC4BA"/>
                </a:solidFill>
              </a:rPr>
              <a:t>Platform overview with alerts and pending actions</a:t>
            </a:r>
            <a:endParaRPr lang="en-US" sz="1000" dirty="0"/>
          </a:p>
          <a:p>
            <a:pPr marL="165100" indent="-165100">
              <a:spcAft>
                <a:spcPts val="400"/>
              </a:spcAft>
              <a:buSzPct val="100000"/>
              <a:buChar char="•"/>
            </a:pPr>
            <a:r>
              <a:rPr lang="en-US" sz="1000" dirty="0">
                <a:solidFill>
                  <a:srgbClr val="BFC4BA"/>
                </a:solidFill>
              </a:rPr>
              <a:t>Yards, warehouses and supervisor assignments</a:t>
            </a:r>
            <a:endParaRPr lang="en-US" sz="1000" dirty="0"/>
          </a:p>
          <a:p>
            <a:pPr marL="165100" indent="-165100">
              <a:spcAft>
                <a:spcPts val="400"/>
              </a:spcAft>
              <a:buSzPct val="100000"/>
              <a:buChar char="•"/>
            </a:pPr>
            <a:r>
              <a:rPr lang="en-US" sz="1000" dirty="0">
                <a:solidFill>
                  <a:srgbClr val="BFC4BA"/>
                </a:solidFill>
              </a:rPr>
              <a:t>Users, roles and access</a:t>
            </a:r>
            <a:endParaRPr lang="en-US" sz="1000" dirty="0"/>
          </a:p>
          <a:p>
            <a:pPr marL="165100" indent="-165100">
              <a:spcAft>
                <a:spcPts val="400"/>
              </a:spcAft>
              <a:buSzPct val="100000"/>
              <a:buChar char="•"/>
            </a:pPr>
            <a:r>
              <a:rPr lang="en-US" sz="1000" dirty="0">
                <a:solidFill>
                  <a:srgbClr val="BFC4BA"/>
                </a:solidFill>
              </a:rPr>
              <a:t>Analytics and a full audit log</a:t>
            </a:r>
            <a:endParaRPr lang="en-US" sz="1000" dirty="0"/>
          </a:p>
        </p:txBody>
      </p:sp>
      <p:pic>
        <p:nvPicPr>
          <p:cNvPr id="9" name="Image 2" descr="Owner view">    </p:cNvPr>
          <p:cNvPicPr>
            <a:picLocks noChangeAspect="1"/>
          </p:cNvPicPr>
          <p:nvPr/>
        </p:nvPicPr>
        <p:blipFill>
          <a:blip r:embed="rId3"/>
          <a:stretch>
            <a:fillRect/>
          </a:stretch>
        </p:blipFill>
        <p:spPr>
          <a:xfrm>
            <a:off x="4123803" y="1262578"/>
            <a:ext cx="3670597" cy="3215178"/>
          </a:xfrm>
          <a:prstGeom prst="rect">
            <a:avLst/>
          </a:prstGeom>
        </p:spPr>
      </p:pic>
      <p:sp>
        <p:nvSpPr>
          <p:cNvPr id="10" name="Shape 5"/>
          <p:cNvSpPr/>
          <p:nvPr/>
        </p:nvSpPr>
        <p:spPr>
          <a:xfrm>
            <a:off x="4353458" y="4315968"/>
            <a:ext cx="3484778" cy="0"/>
          </a:xfrm>
          <a:prstGeom prst="line">
            <a:avLst/>
          </a:prstGeom>
          <a:noFill/>
          <a:ln w="9525">
            <a:solidFill>
              <a:srgbClr val="2A3832"/>
            </a:solidFill>
            <a:prstDash val="solid"/>
          </a:ln>
        </p:spPr>
      </p:sp>
      <p:sp>
        <p:nvSpPr>
          <p:cNvPr id="11" name="Text 6"/>
          <p:cNvSpPr txBox="1"/>
          <p:nvPr/>
        </p:nvSpPr>
        <p:spPr>
          <a:xfrm>
            <a:off x="4353458" y="4443984"/>
            <a:ext cx="3484778" cy="8686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MOBILE APP</a:t>
            </a:r>
            <a:endParaRPr lang="en-US" sz="800" dirty="0"/>
          </a:p>
          <a:p>
            <a:pPr indent="0" marL="0">
              <a:spcAft>
                <a:spcPts val="200"/>
              </a:spcAft>
              <a:buNone/>
            </a:pPr>
            <a:r>
              <a:rPr lang="en-US" sz="1700" b="1" dirty="0">
                <a:solidFill>
                  <a:srgbClr val="EEF0E6"/>
                </a:solidFill>
              </a:rPr>
              <a:t>Owner</a:t>
            </a:r>
            <a:endParaRPr lang="en-US" sz="800" dirty="0"/>
          </a:p>
          <a:p>
            <a:pPr indent="0" marL="0">
              <a:spcAft>
                <a:spcPts val="200"/>
              </a:spcAft>
              <a:buNone/>
            </a:pPr>
            <a:r>
              <a:rPr lang="en-US" sz="1100" dirty="0">
                <a:solidFill>
                  <a:srgbClr val="EEF0E6"/>
                </a:solidFill>
              </a:rPr>
              <a:t>Runs the yard and the trade.</a:t>
            </a:r>
            <a:endParaRPr lang="en-US" sz="800" dirty="0"/>
          </a:p>
        </p:txBody>
      </p:sp>
      <p:sp>
        <p:nvSpPr>
          <p:cNvPr id="12" name="Text 7"/>
          <p:cNvSpPr txBox="1"/>
          <p:nvPr/>
        </p:nvSpPr>
        <p:spPr>
          <a:xfrm>
            <a:off x="4353458" y="5303520"/>
            <a:ext cx="3484778" cy="1051560"/>
          </a:xfrm>
          <a:prstGeom prst="rect">
            <a:avLst/>
          </a:prstGeom>
          <a:noFill/>
          <a:ln/>
        </p:spPr>
        <p:txBody>
          <a:bodyPr wrap="square" lIns="0" tIns="0" rIns="0" bIns="0" rtlCol="0" anchor="t"/>
          <a:lstStyle/>
          <a:p>
            <a:pPr marL="165100" indent="-165100">
              <a:spcAft>
                <a:spcPts val="400"/>
              </a:spcAft>
              <a:buSzPct val="100000"/>
              <a:buChar char="•"/>
            </a:pPr>
            <a:r>
              <a:rPr lang="en-US" sz="1000" dirty="0">
                <a:solidFill>
                  <a:srgbClr val="BFC4BA"/>
                </a:solidFill>
              </a:rPr>
              <a:t>Yard dashboard: stock, ready-to-sell and pending lots</a:t>
            </a:r>
            <a:endParaRPr lang="en-US" sz="1000" dirty="0"/>
          </a:p>
          <a:p>
            <a:pPr marL="165100" indent="-165100">
              <a:spcAft>
                <a:spcPts val="400"/>
              </a:spcAft>
              <a:buSzPct val="100000"/>
              <a:buChar char="•"/>
            </a:pPr>
            <a:r>
              <a:rPr lang="en-US" sz="1000" dirty="0">
                <a:solidFill>
                  <a:srgbClr val="BFC4BA"/>
                </a:solidFill>
              </a:rPr>
              <a:t>Inward, sorting and materials</a:t>
            </a:r>
            <a:endParaRPr lang="en-US" sz="1000" dirty="0"/>
          </a:p>
          <a:p>
            <a:pPr marL="165100" indent="-165100">
              <a:spcAft>
                <a:spcPts val="400"/>
              </a:spcAft>
              <a:buSzPct val="100000"/>
              <a:buChar char="•"/>
            </a:pPr>
            <a:r>
              <a:rPr lang="en-US" sz="1000" dirty="0">
                <a:solidFill>
                  <a:srgbClr val="BFC4BA"/>
                </a:solidFill>
              </a:rPr>
              <a:t>Sales, invoices and receivables</a:t>
            </a:r>
            <a:endParaRPr lang="en-US" sz="1000" dirty="0"/>
          </a:p>
          <a:p>
            <a:pPr marL="165100" indent="-165100">
              <a:spcAft>
                <a:spcPts val="400"/>
              </a:spcAft>
              <a:buSzPct val="100000"/>
              <a:buChar char="•"/>
            </a:pPr>
            <a:r>
              <a:rPr lang="en-US" sz="1000" dirty="0">
                <a:solidFill>
                  <a:srgbClr val="BFC4BA"/>
                </a:solidFill>
              </a:rPr>
              <a:t>Dispatch status per invoice</a:t>
            </a:r>
            <a:endParaRPr lang="en-US" sz="1000" dirty="0"/>
          </a:p>
        </p:txBody>
      </p:sp>
      <p:pic>
        <p:nvPicPr>
          <p:cNvPr id="13" name="Image 3" descr="Supervisor view">    </p:cNvPr>
          <p:cNvPicPr>
            <a:picLocks noChangeAspect="1"/>
          </p:cNvPicPr>
          <p:nvPr/>
        </p:nvPicPr>
        <p:blipFill>
          <a:blip r:embed="rId4"/>
          <a:stretch>
            <a:fillRect/>
          </a:stretch>
        </p:blipFill>
        <p:spPr>
          <a:xfrm>
            <a:off x="7928621" y="1262578"/>
            <a:ext cx="3670597" cy="3215178"/>
          </a:xfrm>
          <a:prstGeom prst="rect">
            <a:avLst/>
          </a:prstGeom>
        </p:spPr>
      </p:pic>
      <p:sp>
        <p:nvSpPr>
          <p:cNvPr id="14" name="Shape 8"/>
          <p:cNvSpPr/>
          <p:nvPr/>
        </p:nvSpPr>
        <p:spPr>
          <a:xfrm>
            <a:off x="8158277" y="4315968"/>
            <a:ext cx="3484778" cy="0"/>
          </a:xfrm>
          <a:prstGeom prst="line">
            <a:avLst/>
          </a:prstGeom>
          <a:noFill/>
          <a:ln w="9525">
            <a:solidFill>
              <a:srgbClr val="2A3832"/>
            </a:solidFill>
            <a:prstDash val="solid"/>
          </a:ln>
        </p:spPr>
      </p:sp>
      <p:sp>
        <p:nvSpPr>
          <p:cNvPr id="15" name="Text 9"/>
          <p:cNvSpPr txBox="1"/>
          <p:nvPr/>
        </p:nvSpPr>
        <p:spPr>
          <a:xfrm>
            <a:off x="8158277" y="4443984"/>
            <a:ext cx="3484778" cy="868680"/>
          </a:xfrm>
          <a:prstGeom prst="rect">
            <a:avLst/>
          </a:prstGeom>
          <a:noFill/>
          <a:ln/>
        </p:spPr>
        <p:txBody>
          <a:bodyPr wrap="square" lIns="0" tIns="0" rIns="0" bIns="0" rtlCol="0" anchor="t"/>
          <a:lstStyle/>
          <a:p>
            <a:pPr indent="0" marL="0">
              <a:spcAft>
                <a:spcPts val="200"/>
              </a:spcAft>
              <a:buNone/>
            </a:pPr>
            <a:r>
              <a:rPr lang="en-US" sz="800" b="1" spc="160" kern="0" dirty="0">
                <a:solidFill>
                  <a:srgbClr val="8C938B"/>
                </a:solidFill>
              </a:rPr>
              <a:t>MOBILE APP</a:t>
            </a:r>
            <a:endParaRPr lang="en-US" sz="800" dirty="0"/>
          </a:p>
          <a:p>
            <a:pPr indent="0" marL="0">
              <a:spcAft>
                <a:spcPts val="200"/>
              </a:spcAft>
              <a:buNone/>
            </a:pPr>
            <a:r>
              <a:rPr lang="en-US" sz="1700" b="1" dirty="0">
                <a:solidFill>
                  <a:srgbClr val="EEF0E6"/>
                </a:solidFill>
              </a:rPr>
              <a:t>Supervisor</a:t>
            </a:r>
            <a:endParaRPr lang="en-US" sz="800" dirty="0"/>
          </a:p>
          <a:p>
            <a:pPr indent="0" marL="0">
              <a:spcAft>
                <a:spcPts val="200"/>
              </a:spcAft>
              <a:buNone/>
            </a:pPr>
            <a:r>
              <a:rPr lang="en-US" sz="1100" dirty="0">
                <a:solidFill>
                  <a:srgbClr val="EEF0E6"/>
                </a:solidFill>
              </a:rPr>
              <a:t>Runs the floor in an assigned warehouse.</a:t>
            </a:r>
            <a:endParaRPr lang="en-US" sz="800" dirty="0"/>
          </a:p>
        </p:txBody>
      </p:sp>
      <p:sp>
        <p:nvSpPr>
          <p:cNvPr id="16" name="Text 10"/>
          <p:cNvSpPr txBox="1"/>
          <p:nvPr/>
        </p:nvSpPr>
        <p:spPr>
          <a:xfrm>
            <a:off x="8158277" y="5303520"/>
            <a:ext cx="3484778" cy="1051560"/>
          </a:xfrm>
          <a:prstGeom prst="rect">
            <a:avLst/>
          </a:prstGeom>
          <a:noFill/>
          <a:ln/>
        </p:spPr>
        <p:txBody>
          <a:bodyPr wrap="square" lIns="0" tIns="0" rIns="0" bIns="0" rtlCol="0" anchor="t"/>
          <a:lstStyle/>
          <a:p>
            <a:pPr marL="165100" indent="-165100">
              <a:spcAft>
                <a:spcPts val="400"/>
              </a:spcAft>
              <a:buSzPct val="100000"/>
              <a:buChar char="•"/>
            </a:pPr>
            <a:r>
              <a:rPr lang="en-US" sz="1000" dirty="0">
                <a:solidFill>
                  <a:srgbClr val="BFC4BA"/>
                </a:solidFill>
              </a:rPr>
              <a:t>Materials on hand by category</a:t>
            </a:r>
            <a:endParaRPr lang="en-US" sz="1000" dirty="0"/>
          </a:p>
          <a:p>
            <a:pPr marL="165100" indent="-165100">
              <a:spcAft>
                <a:spcPts val="400"/>
              </a:spcAft>
              <a:buSzPct val="100000"/>
              <a:buChar char="•"/>
            </a:pPr>
            <a:r>
              <a:rPr lang="en-US" sz="1000" dirty="0">
                <a:solidFill>
                  <a:srgbClr val="BFC4BA"/>
                </a:solidFill>
              </a:rPr>
              <a:t>Inward and sorting</a:t>
            </a:r>
            <a:endParaRPr lang="en-US" sz="1000" dirty="0"/>
          </a:p>
          <a:p>
            <a:pPr marL="165100" indent="-165100">
              <a:spcAft>
                <a:spcPts val="400"/>
              </a:spcAft>
              <a:buSzPct val="100000"/>
              <a:buChar char="•"/>
            </a:pPr>
            <a:r>
              <a:rPr lang="en-US" sz="1000" dirty="0">
                <a:solidFill>
                  <a:srgbClr val="BFC4BA"/>
                </a:solidFill>
              </a:rPr>
              <a:t>Loading vehicles against allocations</a:t>
            </a:r>
            <a:endParaRPr lang="en-US" sz="1000" dirty="0"/>
          </a:p>
          <a:p>
            <a:pPr marL="165100" indent="-165100">
              <a:spcAft>
                <a:spcPts val="400"/>
              </a:spcAft>
              <a:buSzPct val="100000"/>
              <a:buChar char="•"/>
            </a:pPr>
            <a:r>
              <a:rPr lang="en-US" sz="1000" dirty="0">
                <a:solidFill>
                  <a:srgbClr val="BFC4BA"/>
                </a:solidFill>
              </a:rPr>
              <a:t>Dispatch history</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8C93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33F2D"/>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8C938B"/>
                </a:solidFill>
              </a:rPr>
              <a:t>RESPONSIVE EXPERIENCE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EEF0E6"/>
                </a:solidFill>
              </a:rPr>
              <a:t>Designed like a calculator, for the yard floor.</a:t>
            </a:r>
            <a:endParaRPr lang="en-US" sz="2800" dirty="0"/>
          </a:p>
        </p:txBody>
      </p:sp>
      <p:sp>
        <p:nvSpPr>
          <p:cNvPr id="5" name="Text 2"/>
          <p:cNvSpPr txBox="1"/>
          <p:nvPr/>
        </p:nvSpPr>
        <p:spPr>
          <a:xfrm>
            <a:off x="548640" y="2514600"/>
            <a:ext cx="3749040" cy="1463040"/>
          </a:xfrm>
          <a:prstGeom prst="rect">
            <a:avLst/>
          </a:prstGeom>
          <a:noFill/>
          <a:ln/>
        </p:spPr>
        <p:txBody>
          <a:bodyPr wrap="square" lIns="0" tIns="0" rIns="0" bIns="0" rtlCol="0" anchor="t"/>
          <a:lstStyle/>
          <a:p>
            <a:pPr indent="0" marL="0">
              <a:lnSpc>
                <a:spcPct val="115000"/>
              </a:lnSpc>
              <a:buNone/>
            </a:pPr>
            <a:r>
              <a:rPr lang="en-US" sz="1300" dirty="0">
                <a:solidFill>
                  <a:srgbClr val="BFC4BA"/>
                </a:solidFill>
              </a:rPr>
              <a:t>Big keys, high contrast, live rates and one clear step at a time — so weighments, sorting and dispatch are recorded where they happen.</a:t>
            </a:r>
            <a:endParaRPr lang="en-US" sz="1300" dirty="0"/>
          </a:p>
        </p:txBody>
      </p:sp>
      <p:pic>
        <p:nvPicPr>
          <p:cNvPr id="6" name="Image 1" descr="Veloce Scrap Flow on phones">    </p:cNvPr>
          <p:cNvPicPr>
            <a:picLocks noChangeAspect="1"/>
          </p:cNvPicPr>
          <p:nvPr/>
        </p:nvPicPr>
        <p:blipFill>
          <a:blip r:embed="rId2"/>
          <a:stretch>
            <a:fillRect/>
          </a:stretch>
        </p:blipFill>
        <p:spPr>
          <a:xfrm>
            <a:off x="4303014" y="1320546"/>
            <a:ext cx="7670292" cy="4331208"/>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8C93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BUSINESS VALUE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What it changes for the business.</a:t>
            </a:r>
            <a:endParaRPr lang="en-US" sz="2800" dirty="0"/>
          </a:p>
        </p:txBody>
      </p:sp>
      <p:sp>
        <p:nvSpPr>
          <p:cNvPr id="5" name="Shape 2"/>
          <p:cNvSpPr/>
          <p:nvPr/>
        </p:nvSpPr>
        <p:spPr>
          <a:xfrm>
            <a:off x="548640" y="1691640"/>
            <a:ext cx="3291840" cy="0"/>
          </a:xfrm>
          <a:prstGeom prst="line">
            <a:avLst/>
          </a:prstGeom>
          <a:noFill/>
          <a:ln w="9525">
            <a:solidFill>
              <a:srgbClr val="D3D5CC"/>
            </a:solidFill>
            <a:prstDash val="solid"/>
          </a:ln>
        </p:spPr>
      </p:sp>
      <p:sp>
        <p:nvSpPr>
          <p:cNvPr id="6" name="Text 3"/>
          <p:cNvSpPr txBox="1"/>
          <p:nvPr/>
        </p:nvSpPr>
        <p:spPr>
          <a:xfrm>
            <a:off x="548640" y="181965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Control without being on site</a:t>
            </a:r>
            <a:endParaRPr lang="en-US" sz="1450" dirty="0"/>
          </a:p>
          <a:p>
            <a:pPr indent="0" marL="0">
              <a:spcAft>
                <a:spcPts val="300"/>
              </a:spcAft>
              <a:buNone/>
            </a:pPr>
            <a:r>
              <a:rPr lang="en-US" sz="1050" dirty="0">
                <a:solidFill>
                  <a:srgbClr val="5C6A62"/>
                </a:solidFill>
              </a:rPr>
              <a:t>Owners and admins see stock, pending sorting and dispatch status the moment they change.</a:t>
            </a:r>
            <a:endParaRPr lang="en-US" sz="1450" dirty="0"/>
          </a:p>
        </p:txBody>
      </p:sp>
      <p:sp>
        <p:nvSpPr>
          <p:cNvPr id="7" name="Shape 4"/>
          <p:cNvSpPr/>
          <p:nvPr/>
        </p:nvSpPr>
        <p:spPr>
          <a:xfrm>
            <a:off x="4041648" y="1691640"/>
            <a:ext cx="3291840" cy="0"/>
          </a:xfrm>
          <a:prstGeom prst="line">
            <a:avLst/>
          </a:prstGeom>
          <a:noFill/>
          <a:ln w="9525">
            <a:solidFill>
              <a:srgbClr val="D3D5CC"/>
            </a:solidFill>
            <a:prstDash val="solid"/>
          </a:ln>
        </p:spPr>
      </p:sp>
      <p:sp>
        <p:nvSpPr>
          <p:cNvPr id="8" name="Text 5"/>
          <p:cNvSpPr txBox="1"/>
          <p:nvPr/>
        </p:nvSpPr>
        <p:spPr>
          <a:xfrm>
            <a:off x="4041648" y="181965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Traceable from vendor to buyer</a:t>
            </a:r>
            <a:endParaRPr lang="en-US" sz="1450" dirty="0"/>
          </a:p>
          <a:p>
            <a:pPr indent="0" marL="0">
              <a:spcAft>
                <a:spcPts val="300"/>
              </a:spcAft>
              <a:buNone/>
            </a:pPr>
            <a:r>
              <a:rPr lang="en-US" sz="1050" dirty="0">
                <a:solidFill>
                  <a:srgbClr val="5C6A62"/>
                </a:solidFill>
              </a:rPr>
              <a:t>Lots keep their vendor through sorting and dispatch, so every kilogram has a history.</a:t>
            </a:r>
            <a:endParaRPr lang="en-US" sz="1450" dirty="0"/>
          </a:p>
        </p:txBody>
      </p:sp>
      <p:sp>
        <p:nvSpPr>
          <p:cNvPr id="9" name="Shape 6"/>
          <p:cNvSpPr/>
          <p:nvPr/>
        </p:nvSpPr>
        <p:spPr>
          <a:xfrm>
            <a:off x="548640" y="3017520"/>
            <a:ext cx="3291840" cy="0"/>
          </a:xfrm>
          <a:prstGeom prst="line">
            <a:avLst/>
          </a:prstGeom>
          <a:noFill/>
          <a:ln w="9525">
            <a:solidFill>
              <a:srgbClr val="D3D5CC"/>
            </a:solidFill>
            <a:prstDash val="solid"/>
          </a:ln>
        </p:spPr>
      </p:sp>
      <p:sp>
        <p:nvSpPr>
          <p:cNvPr id="10" name="Text 7"/>
          <p:cNvSpPr txBox="1"/>
          <p:nvPr/>
        </p:nvSpPr>
        <p:spPr>
          <a:xfrm>
            <a:off x="548640" y="314553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Mistakes prevented, not corrected</a:t>
            </a:r>
            <a:endParaRPr lang="en-US" sz="1450" dirty="0"/>
          </a:p>
          <a:p>
            <a:pPr indent="0" marL="0">
              <a:spcAft>
                <a:spcPts val="300"/>
              </a:spcAft>
              <a:buNone/>
            </a:pPr>
            <a:r>
              <a:rPr lang="en-US" sz="1050" dirty="0">
                <a:solidFill>
                  <a:srgbClr val="5C6A62"/>
                </a:solidFill>
              </a:rPr>
              <a:t>Rules block double-selling, over-dispatch and unbalanced sorting before they happen.</a:t>
            </a:r>
            <a:endParaRPr lang="en-US" sz="1450" dirty="0"/>
          </a:p>
        </p:txBody>
      </p:sp>
      <p:sp>
        <p:nvSpPr>
          <p:cNvPr id="11" name="Shape 8"/>
          <p:cNvSpPr/>
          <p:nvPr/>
        </p:nvSpPr>
        <p:spPr>
          <a:xfrm>
            <a:off x="4041648" y="3017520"/>
            <a:ext cx="3291840" cy="0"/>
          </a:xfrm>
          <a:prstGeom prst="line">
            <a:avLst/>
          </a:prstGeom>
          <a:noFill/>
          <a:ln w="9525">
            <a:solidFill>
              <a:srgbClr val="D3D5CC"/>
            </a:solidFill>
            <a:prstDash val="solid"/>
          </a:ln>
        </p:spPr>
      </p:sp>
      <p:sp>
        <p:nvSpPr>
          <p:cNvPr id="12" name="Text 9"/>
          <p:cNvSpPr txBox="1"/>
          <p:nvPr/>
        </p:nvSpPr>
        <p:spPr>
          <a:xfrm>
            <a:off x="4041648" y="314553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Ready for more yards</a:t>
            </a:r>
            <a:endParaRPr lang="en-US" sz="1450" dirty="0"/>
          </a:p>
          <a:p>
            <a:pPr indent="0" marL="0">
              <a:spcAft>
                <a:spcPts val="300"/>
              </a:spcAft>
              <a:buNone/>
            </a:pPr>
            <a:r>
              <a:rPr lang="en-US" sz="1050" dirty="0">
                <a:solidFill>
                  <a:srgbClr val="5C6A62"/>
                </a:solidFill>
              </a:rPr>
              <a:t>A multi-yard architecture with strict data isolation between yards.</a:t>
            </a:r>
            <a:endParaRPr lang="en-US" sz="1450" dirty="0"/>
          </a:p>
        </p:txBody>
      </p:sp>
      <p:sp>
        <p:nvSpPr>
          <p:cNvPr id="13" name="Shape 10"/>
          <p:cNvSpPr/>
          <p:nvPr/>
        </p:nvSpPr>
        <p:spPr>
          <a:xfrm>
            <a:off x="548640" y="4434840"/>
            <a:ext cx="6784848" cy="1783080"/>
          </a:xfrm>
          <a:prstGeom prst="roundRect">
            <a:avLst>
              <a:gd name="adj" fmla="val 7179"/>
            </a:avLst>
          </a:prstGeom>
          <a:solidFill>
            <a:srgbClr val="033F2D"/>
          </a:solidFill>
          <a:ln/>
        </p:spPr>
      </p:sp>
      <p:sp>
        <p:nvSpPr>
          <p:cNvPr id="14" name="Text 11"/>
          <p:cNvSpPr txBox="1"/>
          <p:nvPr/>
        </p:nvSpPr>
        <p:spPr>
          <a:xfrm>
            <a:off x="868680" y="4645152"/>
            <a:ext cx="6172200" cy="1463040"/>
          </a:xfrm>
          <a:prstGeom prst="rect">
            <a:avLst/>
          </a:prstGeom>
          <a:noFill/>
          <a:ln/>
        </p:spPr>
        <p:txBody>
          <a:bodyPr wrap="square" lIns="0" tIns="0" rIns="0" bIns="0" rtlCol="0" anchor="t"/>
          <a:lstStyle/>
          <a:p>
            <a:pPr indent="0" marL="0">
              <a:lnSpc>
                <a:spcPct val="112000"/>
              </a:lnSpc>
              <a:spcAft>
                <a:spcPts val="800"/>
              </a:spcAft>
              <a:buNone/>
            </a:pPr>
            <a:r>
              <a:rPr lang="en-US" sz="1250" dirty="0">
                <a:solidFill>
                  <a:srgbClr val="EEF0E6"/>
                </a:solidFill>
                <a:latin typeface="Satoshi Medium" pitchFamily="34" charset="0"/>
                <a:ea typeface="Satoshi Medium" pitchFamily="34" charset="-122"/>
                <a:cs typeface="Satoshi Medium" pitchFamily="34" charset="-120"/>
              </a:rPr>
              <a:t>“We didn’t need another digital tool; we needed a technology partner who understood how our business worked. CRITA helped us simplify processes, connect different parts of the business, and introduce technology where it could create real value.”</a:t>
            </a:r>
            <a:endParaRPr lang="en-US" sz="1250" dirty="0"/>
          </a:p>
          <a:p>
            <a:pPr indent="0" marL="0">
              <a:lnSpc>
                <a:spcPct val="112000"/>
              </a:lnSpc>
              <a:spcAft>
                <a:spcPts val="800"/>
              </a:spcAft>
              <a:buNone/>
            </a:pPr>
            <a:r>
              <a:rPr lang="en-US" sz="1000" b="1" dirty="0">
                <a:solidFill>
                  <a:srgbClr val="BFC4BA"/>
                </a:solidFill>
              </a:rPr>
              <a:t>Abhirup · Veloce</a:t>
            </a:r>
            <a:endParaRPr lang="en-US" sz="1250" dirty="0"/>
          </a:p>
        </p:txBody>
      </p:sp>
      <p:pic>
        <p:nvPicPr>
          <p:cNvPr id="15" name="Image 1" descr="F:\Office Project\Crita Portfolio\portfolio\ppt\brand\c.png">    </p:cNvPr>
          <p:cNvPicPr>
            <a:picLocks noChangeAspect="1"/>
          </p:cNvPicPr>
          <p:nvPr/>
        </p:nvPicPr>
        <p:blipFill>
          <a:blip r:embed="rId2"/>
          <a:stretch>
            <a:fillRect/>
          </a:stretch>
        </p:blipFill>
        <p:spPr>
          <a:xfrm>
            <a:off x="7818120" y="544068"/>
            <a:ext cx="182880" cy="134417"/>
          </a:xfrm>
          <a:prstGeom prst="rect">
            <a:avLst/>
          </a:prstGeom>
        </p:spPr>
      </p:pic>
      <p:sp>
        <p:nvSpPr>
          <p:cNvPr id="16" name="Text 12"/>
          <p:cNvSpPr txBox="1"/>
          <p:nvPr/>
        </p:nvSpPr>
        <p:spPr>
          <a:xfrm>
            <a:off x="8083296" y="502920"/>
            <a:ext cx="3824935" cy="219456"/>
          </a:xfrm>
          <a:prstGeom prst="rect">
            <a:avLst/>
          </a:prstGeom>
          <a:noFill/>
          <a:ln/>
        </p:spPr>
        <p:txBody>
          <a:bodyPr wrap="square" lIns="0" tIns="0" rIns="0" bIns="0" rtlCol="0" anchor="ctr"/>
          <a:lstStyle/>
          <a:p>
            <a:pPr indent="0" marL="0">
              <a:buNone/>
            </a:pPr>
            <a:r>
              <a:rPr lang="en-US" sz="900" b="1" spc="200" kern="0" dirty="0">
                <a:solidFill>
                  <a:srgbClr val="5C6A62"/>
                </a:solidFill>
              </a:rPr>
              <a:t>TECHNOLOGY &amp; DELIVERY</a:t>
            </a:r>
            <a:endParaRPr lang="en-US" sz="900" dirty="0"/>
          </a:p>
        </p:txBody>
      </p:sp>
      <p:sp>
        <p:nvSpPr>
          <p:cNvPr id="17" name="Text 13"/>
          <p:cNvSpPr txBox="1"/>
          <p:nvPr/>
        </p:nvSpPr>
        <p:spPr>
          <a:xfrm>
            <a:off x="7818120" y="896112"/>
            <a:ext cx="709574"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Next.js</a:t>
            </a:r>
            <a:endParaRPr lang="en-US" sz="950" dirty="0"/>
          </a:p>
        </p:txBody>
      </p:sp>
      <p:sp>
        <p:nvSpPr>
          <p:cNvPr id="18" name="Text 14"/>
          <p:cNvSpPr txBox="1"/>
          <p:nvPr/>
        </p:nvSpPr>
        <p:spPr>
          <a:xfrm>
            <a:off x="8609990" y="896112"/>
            <a:ext cx="896112"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TypeScript</a:t>
            </a:r>
            <a:endParaRPr lang="en-US" sz="950" dirty="0"/>
          </a:p>
        </p:txBody>
      </p:sp>
      <p:sp>
        <p:nvSpPr>
          <p:cNvPr id="19" name="Text 15"/>
          <p:cNvSpPr txBox="1"/>
          <p:nvPr/>
        </p:nvSpPr>
        <p:spPr>
          <a:xfrm>
            <a:off x="9588398" y="896112"/>
            <a:ext cx="896112"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PostgreSQL</a:t>
            </a:r>
            <a:endParaRPr lang="en-US" sz="950" dirty="0"/>
          </a:p>
        </p:txBody>
      </p:sp>
      <p:sp>
        <p:nvSpPr>
          <p:cNvPr id="20" name="Text 16"/>
          <p:cNvSpPr txBox="1"/>
          <p:nvPr/>
        </p:nvSpPr>
        <p:spPr>
          <a:xfrm>
            <a:off x="7818120" y="1261872"/>
            <a:ext cx="1331366"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Real-time updates</a:t>
            </a:r>
            <a:endParaRPr lang="en-US" sz="950" dirty="0"/>
          </a:p>
        </p:txBody>
      </p:sp>
      <p:sp>
        <p:nvSpPr>
          <p:cNvPr id="21" name="Text 17"/>
          <p:cNvSpPr txBox="1"/>
          <p:nvPr/>
        </p:nvSpPr>
        <p:spPr>
          <a:xfrm>
            <a:off x="9231782" y="1261872"/>
            <a:ext cx="1828800"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Multi-tenant architecture</a:t>
            </a:r>
            <a:endParaRPr lang="en-US" sz="950" dirty="0"/>
          </a:p>
        </p:txBody>
      </p:sp>
      <p:sp>
        <p:nvSpPr>
          <p:cNvPr id="22" name="Text 18"/>
          <p:cNvSpPr txBox="1"/>
          <p:nvPr/>
        </p:nvSpPr>
        <p:spPr>
          <a:xfrm>
            <a:off x="7818120" y="1627632"/>
            <a:ext cx="958291"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Android app</a:t>
            </a:r>
            <a:endParaRPr lang="en-US" sz="950" dirty="0"/>
          </a:p>
        </p:txBody>
      </p:sp>
      <p:sp>
        <p:nvSpPr>
          <p:cNvPr id="23" name="Text 19"/>
          <p:cNvSpPr txBox="1"/>
          <p:nvPr/>
        </p:nvSpPr>
        <p:spPr>
          <a:xfrm>
            <a:off x="7818120" y="2103120"/>
            <a:ext cx="3824935" cy="1508760"/>
          </a:xfrm>
          <a:prstGeom prst="rect">
            <a:avLst/>
          </a:prstGeom>
          <a:noFill/>
          <a:ln/>
        </p:spPr>
        <p:txBody>
          <a:bodyPr wrap="square" lIns="0" tIns="0" rIns="0" bIns="0" rtlCol="0" anchor="t"/>
          <a:lstStyle/>
          <a:p>
            <a:pPr marL="165100" indent="-165100">
              <a:spcAft>
                <a:spcPts val="400"/>
              </a:spcAft>
              <a:buSzPct val="100000"/>
              <a:buChar char="•"/>
            </a:pPr>
            <a:r>
              <a:rPr lang="en-US" sz="1000" dirty="0">
                <a:solidFill>
                  <a:srgbClr val="34433B"/>
                </a:solidFill>
              </a:rPr>
              <a:t>2,500+ automated checks across 36 test suites</a:t>
            </a:r>
            <a:endParaRPr lang="en-US" sz="1000" dirty="0"/>
          </a:p>
          <a:p>
            <a:pPr marL="165100" indent="-165100">
              <a:spcAft>
                <a:spcPts val="400"/>
              </a:spcAft>
              <a:buSzPct val="100000"/>
              <a:buChar char="•"/>
            </a:pPr>
            <a:r>
              <a:rPr lang="en-US" sz="1000" dirty="0">
                <a:solidFill>
                  <a:srgbClr val="34433B"/>
                </a:solidFill>
              </a:rPr>
              <a:t>Yard data isolated at session, query and database level</a:t>
            </a:r>
            <a:endParaRPr lang="en-US" sz="1000" dirty="0"/>
          </a:p>
          <a:p>
            <a:pPr marL="165100" indent="-165100">
              <a:spcAft>
                <a:spcPts val="400"/>
              </a:spcAft>
              <a:buSzPct val="100000"/>
              <a:buChar char="•"/>
            </a:pPr>
            <a:r>
              <a:rPr lang="en-US" sz="1000" dirty="0">
                <a:solidFill>
                  <a:srgbClr val="34433B"/>
                </a:solidFill>
              </a:rPr>
              <a:t>Number-plate recognition built as a separate computer-vision service (YOLOv8 + PaddleOCR)</a:t>
            </a:r>
            <a:endParaRPr lang="en-US" sz="1000" dirty="0"/>
          </a:p>
        </p:txBody>
      </p:sp>
      <p:sp>
        <p:nvSpPr>
          <p:cNvPr id="24" name="Shape 20"/>
          <p:cNvSpPr/>
          <p:nvPr/>
        </p:nvSpPr>
        <p:spPr>
          <a:xfrm>
            <a:off x="7818120" y="3931920"/>
            <a:ext cx="3824935" cy="2286000"/>
          </a:xfrm>
          <a:prstGeom prst="roundRect">
            <a:avLst>
              <a:gd name="adj" fmla="val 5600"/>
            </a:avLst>
          </a:prstGeom>
          <a:solidFill>
            <a:srgbClr val="06120D"/>
          </a:solidFill>
          <a:ln/>
        </p:spPr>
      </p:sp>
      <p:pic>
        <p:nvPicPr>
          <p:cNvPr id="25" name="Image 2" descr="F:\Office Project\Crita Portfolio\portfolio\ppt\brand\c.png">    </p:cNvPr>
          <p:cNvPicPr>
            <a:picLocks noChangeAspect="1"/>
          </p:cNvPicPr>
          <p:nvPr/>
        </p:nvPicPr>
        <p:blipFill>
          <a:blip r:embed="rId3"/>
          <a:stretch>
            <a:fillRect/>
          </a:stretch>
        </p:blipFill>
        <p:spPr>
          <a:xfrm>
            <a:off x="8092440" y="4201668"/>
            <a:ext cx="182880" cy="134417"/>
          </a:xfrm>
          <a:prstGeom prst="rect">
            <a:avLst/>
          </a:prstGeom>
        </p:spPr>
      </p:pic>
      <p:sp>
        <p:nvSpPr>
          <p:cNvPr id="26" name="Text 21"/>
          <p:cNvSpPr txBox="1"/>
          <p:nvPr/>
        </p:nvSpPr>
        <p:spPr>
          <a:xfrm>
            <a:off x="8357616" y="4160520"/>
            <a:ext cx="3276295" cy="219456"/>
          </a:xfrm>
          <a:prstGeom prst="rect">
            <a:avLst/>
          </a:prstGeom>
          <a:noFill/>
          <a:ln/>
        </p:spPr>
        <p:txBody>
          <a:bodyPr wrap="square" lIns="0" tIns="0" rIns="0" bIns="0" rtlCol="0" anchor="ctr"/>
          <a:lstStyle/>
          <a:p>
            <a:pPr indent="0" marL="0">
              <a:buNone/>
            </a:pPr>
            <a:r>
              <a:rPr lang="en-US" sz="900" b="1" spc="200" kern="0" dirty="0">
                <a:solidFill>
                  <a:srgbClr val="8C938B"/>
                </a:solidFill>
              </a:rPr>
              <a:t>LIVE PRODUCT</a:t>
            </a:r>
            <a:endParaRPr lang="en-US" sz="900" dirty="0"/>
          </a:p>
        </p:txBody>
      </p:sp>
      <p:sp>
        <p:nvSpPr>
          <p:cNvPr id="27" name="Text 22">
            <a:hlinkClick r:id="rId4" tooltip="Veloce Scrap Management"/>
          </p:cNvPr>
          <p:cNvSpPr txBox="1"/>
          <p:nvPr/>
        </p:nvSpPr>
        <p:spPr>
          <a:xfrm>
            <a:off x="8092440" y="4498848"/>
            <a:ext cx="3276295" cy="365760"/>
          </a:xfrm>
          <a:prstGeom prst="rect">
            <a:avLst/>
          </a:prstGeom>
          <a:noFill/>
          <a:ln/>
        </p:spPr>
        <p:txBody>
          <a:bodyPr wrap="square" lIns="0" tIns="0" rIns="0" bIns="0" rtlCol="0" anchor="t"/>
          <a:lstStyle/>
          <a:p>
            <a:pPr indent="0" marL="0">
              <a:buNone/>
            </a:pPr>
            <a:r>
              <a:rPr lang="en-US" sz="1600" b="1" u="sng" dirty="0">
                <a:solidFill>
                  <a:srgbClr val="D6E151"/>
                </a:solidFill>
                <a:hlinkClick r:id="rId4" invalidUrl="" action="" tgtFrame="" tooltip="Veloce Scrap Management" history="1" highlightClick="0" endSnd="0">
                  <a:extLst>
                    <a:ext uri="{A12FA001-AC4F-418D-AE19-62706E023703}">
                      <ahyp:hlinkClr xmlns:ahyp="http://schemas.microsoft.com/office/drawing/2018/hyperlinkcolor" val="tx"/>
                    </a:ext>
                  </a:extLst>
                </a:hlinkClick>
              </a:rPr>
              <a:t>View live project →</a:t>
            </a:r>
            <a:endParaRPr lang="en-US" sz="1600" dirty="0"/>
          </a:p>
        </p:txBody>
      </p:sp>
      <p:sp>
        <p:nvSpPr>
          <p:cNvPr id="28" name="Text 23"/>
          <p:cNvSpPr txBox="1"/>
          <p:nvPr/>
        </p:nvSpPr>
        <p:spPr>
          <a:xfrm>
            <a:off x="8092440" y="4873752"/>
            <a:ext cx="3276295" cy="228600"/>
          </a:xfrm>
          <a:prstGeom prst="rect">
            <a:avLst/>
          </a:prstGeom>
          <a:noFill/>
          <a:ln/>
        </p:spPr>
        <p:txBody>
          <a:bodyPr wrap="square" lIns="0" tIns="0" rIns="0" bIns="0" rtlCol="0" anchor="t"/>
          <a:lstStyle/>
          <a:p>
            <a:pPr indent="0" marL="0">
              <a:buNone/>
            </a:pPr>
            <a:r>
              <a:rPr lang="en-US" sz="900" dirty="0">
                <a:solidFill>
                  <a:srgbClr val="8C938B"/>
                </a:solidFill>
              </a:rPr>
              <a:t>Veloce Scrap Management</a:t>
            </a:r>
            <a:endParaRPr lang="en-US" sz="900" dirty="0"/>
          </a:p>
        </p:txBody>
      </p:sp>
      <p:sp>
        <p:nvSpPr>
          <p:cNvPr id="29" name="Shape 24">
            <a:hlinkClick r:id="rId5" tooltip="Veloce Scrap Management"/>
          </p:cNvPr>
          <p:cNvSpPr/>
          <p:nvPr/>
        </p:nvSpPr>
        <p:spPr>
          <a:xfrm>
            <a:off x="8092440" y="4873752"/>
            <a:ext cx="1609344" cy="228600"/>
          </a:xfrm>
          <a:prstGeom prst="rect">
            <a:avLst/>
          </a:prstGeom>
          <a:solidFill>
            <a:srgbClr val="FFFFFF">
              <a:alpha val="0"/>
            </a:srgbClr>
          </a:solidFill>
          <a:ln/>
        </p:spPr>
      </p:sp>
      <p:sp>
        <p:nvSpPr>
          <p:cNvPr id="30" name="Text 25"/>
          <p:cNvSpPr txBox="1"/>
          <p:nvPr/>
        </p:nvSpPr>
        <p:spPr>
          <a:xfrm>
            <a:off x="8092440" y="5257800"/>
            <a:ext cx="3276295" cy="731520"/>
          </a:xfrm>
          <a:prstGeom prst="rect">
            <a:avLst/>
          </a:prstGeom>
          <a:noFill/>
          <a:ln/>
        </p:spPr>
        <p:txBody>
          <a:bodyPr wrap="square" lIns="0" tIns="0" rIns="0" bIns="0" rtlCol="0" anchor="t"/>
          <a:lstStyle/>
          <a:p>
            <a:pPr indent="0" marL="0">
              <a:buNone/>
            </a:pPr>
            <a:r>
              <a:rPr lang="en-US" sz="1050" dirty="0">
                <a:solidFill>
                  <a:srgbClr val="BFC4BA"/>
                </a:solidFill>
              </a:rPr>
              <a:t>Live demo: Admin, Owner and Supervisor views.</a:t>
            </a:r>
            <a:endParaRPr lang="en-US" sz="1050" dirty="0"/>
          </a:p>
        </p:txBody>
      </p:sp>
      <p:sp>
        <p:nvSpPr>
          <p:cNvPr id="31" name="Text 26"/>
          <p:cNvSpPr txBox="1"/>
          <p:nvPr/>
        </p:nvSpPr>
        <p:spPr>
          <a:xfrm>
            <a:off x="7818120" y="6272784"/>
            <a:ext cx="3824935" cy="274320"/>
          </a:xfrm>
          <a:prstGeom prst="rect">
            <a:avLst/>
          </a:prstGeom>
          <a:noFill/>
          <a:ln/>
        </p:spPr>
        <p:txBody>
          <a:bodyPr wrap="square" lIns="0" tIns="0" rIns="0" bIns="0" rtlCol="0" anchor="t"/>
          <a:lstStyle/>
          <a:p>
            <a:pPr indent="0" marL="0">
              <a:buNone/>
            </a:pPr>
            <a:r>
              <a:rPr lang="en-US" sz="800" dirty="0">
                <a:solidFill>
                  <a:srgbClr val="5C6A62"/>
                </a:solidFill>
              </a:rPr>
              <a:t>Screens from the live demonstration yard.</a:t>
            </a:r>
            <a:endParaRPr lang="en-US" sz="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2E9D6"/>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89788"/>
            <a:ext cx="182880" cy="134417"/>
          </a:xfrm>
          <a:prstGeom prst="rect">
            <a:avLst/>
          </a:prstGeom>
        </p:spPr>
      </p:pic>
      <p:sp>
        <p:nvSpPr>
          <p:cNvPr id="3" name="Text 0"/>
          <p:cNvSpPr txBox="1"/>
          <p:nvPr/>
        </p:nvSpPr>
        <p:spPr>
          <a:xfrm>
            <a:off x="813816" y="548640"/>
            <a:ext cx="4754880" cy="219456"/>
          </a:xfrm>
          <a:prstGeom prst="rect">
            <a:avLst/>
          </a:prstGeom>
          <a:noFill/>
          <a:ln/>
        </p:spPr>
        <p:txBody>
          <a:bodyPr wrap="square" lIns="0" tIns="0" rIns="0" bIns="0" rtlCol="0" anchor="ctr"/>
          <a:lstStyle/>
          <a:p>
            <a:pPr indent="0" marL="0">
              <a:buNone/>
            </a:pPr>
            <a:r>
              <a:rPr lang="en-US" sz="900" b="1" spc="200" kern="0" dirty="0">
                <a:solidFill>
                  <a:srgbClr val="5C6A62"/>
                </a:solidFill>
              </a:rPr>
              <a:t>03 — BUSINESS-INTELLIGENCE PLATFORM</a:t>
            </a:r>
            <a:endParaRPr lang="en-US" sz="900" dirty="0"/>
          </a:p>
        </p:txBody>
      </p:sp>
      <p:sp>
        <p:nvSpPr>
          <p:cNvPr id="4" name="Text 1"/>
          <p:cNvSpPr/>
          <p:nvPr>
            <p:ph idx="101" type="title" hasCustomPrompt="1"/>
          </p:nvPr>
        </p:nvSpPr>
        <p:spPr>
          <a:xfrm>
            <a:off x="548640" y="896112"/>
            <a:ext cx="4800600" cy="1481328"/>
          </a:xfrm>
          <a:prstGeom prst="rect">
            <a:avLst/>
          </a:prstGeom>
          <a:noFill/>
          <a:ln/>
        </p:spPr>
        <p:txBody>
          <a:bodyPr wrap="square" lIns="0" tIns="0" rIns="0" bIns="0" rtlCol="0" anchor="t"/>
          <a:lstStyle/>
          <a:p>
            <a:pPr algn="l" indent="0" marL="0">
              <a:lnSpc>
                <a:spcPct val="92000"/>
              </a:lnSpc>
              <a:buNone/>
            </a:pPr>
            <a:r>
              <a:rPr lang="en-US" sz="4000" b="1" spc="-100" kern="0" dirty="0">
                <a:solidFill>
                  <a:srgbClr val="0D1813"/>
                </a:solidFill>
              </a:rPr>
              <a:t>Clario</a:t>
            </a:r>
            <a:endParaRPr lang="en-US" sz="4000" dirty="0"/>
          </a:p>
        </p:txBody>
      </p:sp>
      <p:sp>
        <p:nvSpPr>
          <p:cNvPr id="5" name="Text 2"/>
          <p:cNvSpPr txBox="1"/>
          <p:nvPr/>
        </p:nvSpPr>
        <p:spPr>
          <a:xfrm>
            <a:off x="548640" y="1883664"/>
            <a:ext cx="4572000" cy="777240"/>
          </a:xfrm>
          <a:prstGeom prst="rect">
            <a:avLst/>
          </a:prstGeom>
          <a:noFill/>
          <a:ln/>
        </p:spPr>
        <p:txBody>
          <a:bodyPr wrap="square" lIns="0" tIns="0" rIns="0" bIns="0" rtlCol="0" anchor="t"/>
          <a:lstStyle/>
          <a:p>
            <a:pPr indent="0" marL="0">
              <a:lnSpc>
                <a:spcPct val="108000"/>
              </a:lnSpc>
              <a:buNone/>
            </a:pPr>
            <a:r>
              <a:rPr lang="en-US" sz="1650" dirty="0">
                <a:solidFill>
                  <a:srgbClr val="0D1813"/>
                </a:solidFill>
                <a:latin typeface="Satoshi Medium" pitchFamily="34" charset="0"/>
                <a:ea typeface="Satoshi Medium" pitchFamily="34" charset="-122"/>
                <a:cs typeface="Satoshi Medium" pitchFamily="34" charset="-120"/>
              </a:rPr>
              <a:t>Understand your business, not just your numbers.</a:t>
            </a:r>
            <a:endParaRPr lang="en-US" sz="1650" dirty="0"/>
          </a:p>
        </p:txBody>
      </p:sp>
      <p:sp>
        <p:nvSpPr>
          <p:cNvPr id="6" name="Text 3"/>
          <p:cNvSpPr txBox="1"/>
          <p:nvPr/>
        </p:nvSpPr>
        <p:spPr>
          <a:xfrm>
            <a:off x="548640" y="2706624"/>
            <a:ext cx="4572000" cy="1325880"/>
          </a:xfrm>
          <a:prstGeom prst="rect">
            <a:avLst/>
          </a:prstGeom>
          <a:noFill/>
          <a:ln/>
        </p:spPr>
        <p:txBody>
          <a:bodyPr wrap="square" lIns="0" tIns="0" rIns="0" bIns="0" rtlCol="0" anchor="t"/>
          <a:lstStyle/>
          <a:p>
            <a:pPr indent="0" marL="0">
              <a:lnSpc>
                <a:spcPct val="115000"/>
              </a:lnSpc>
              <a:buNone/>
            </a:pPr>
            <a:r>
              <a:rPr lang="en-US" sz="1100" dirty="0">
                <a:solidFill>
                  <a:srgbClr val="34433B"/>
                </a:solidFill>
              </a:rPr>
              <a:t>Crita’s own business-intelligence platform. Clario connects to the systems a business already uses — starting with Zoho Books — and turns them into a clear finance command centre, with an assistant that answers in plain words, from the books.</a:t>
            </a:r>
            <a:endParaRPr lang="en-US" sz="1100" dirty="0"/>
          </a:p>
        </p:txBody>
      </p:sp>
      <p:sp>
        <p:nvSpPr>
          <p:cNvPr id="7" name="Shape 4"/>
          <p:cNvSpPr/>
          <p:nvPr/>
        </p:nvSpPr>
        <p:spPr>
          <a:xfrm>
            <a:off x="548640" y="4754880"/>
            <a:ext cx="4572000" cy="0"/>
          </a:xfrm>
          <a:prstGeom prst="line">
            <a:avLst/>
          </a:prstGeom>
          <a:noFill/>
          <a:ln w="9525">
            <a:solidFill>
              <a:srgbClr val="D3D5CC"/>
            </a:solidFill>
            <a:prstDash val="solid"/>
          </a:ln>
        </p:spPr>
      </p:sp>
      <p:sp>
        <p:nvSpPr>
          <p:cNvPr id="8" name="Text 5"/>
          <p:cNvSpPr txBox="1"/>
          <p:nvPr/>
        </p:nvSpPr>
        <p:spPr>
          <a:xfrm>
            <a:off x="548640" y="4901184"/>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CLIENT</a:t>
            </a:r>
            <a:endParaRPr lang="en-US" sz="800" dirty="0"/>
          </a:p>
          <a:p>
            <a:pPr indent="0" marL="0">
              <a:spcAft>
                <a:spcPts val="200"/>
              </a:spcAft>
              <a:buNone/>
            </a:pPr>
            <a:r>
              <a:rPr lang="en-US" sz="1100" b="1" dirty="0">
                <a:solidFill>
                  <a:srgbClr val="0D1813"/>
                </a:solidFill>
              </a:rPr>
              <a:t>A Crita product</a:t>
            </a:r>
            <a:endParaRPr lang="en-US" sz="800" dirty="0"/>
          </a:p>
        </p:txBody>
      </p:sp>
      <p:sp>
        <p:nvSpPr>
          <p:cNvPr id="9" name="Text 6"/>
          <p:cNvSpPr txBox="1"/>
          <p:nvPr/>
        </p:nvSpPr>
        <p:spPr>
          <a:xfrm>
            <a:off x="2926080" y="4901184"/>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SECTOR</a:t>
            </a:r>
            <a:endParaRPr lang="en-US" sz="800" dirty="0"/>
          </a:p>
          <a:p>
            <a:pPr indent="0" marL="0">
              <a:spcAft>
                <a:spcPts val="200"/>
              </a:spcAft>
              <a:buNone/>
            </a:pPr>
            <a:r>
              <a:rPr lang="en-US" sz="1100" b="1" dirty="0">
                <a:solidFill>
                  <a:srgbClr val="0D1813"/>
                </a:solidFill>
              </a:rPr>
              <a:t>Business intelligence</a:t>
            </a:r>
            <a:endParaRPr lang="en-US" sz="800" dirty="0"/>
          </a:p>
        </p:txBody>
      </p:sp>
      <p:sp>
        <p:nvSpPr>
          <p:cNvPr id="10" name="Text 7"/>
          <p:cNvSpPr txBox="1"/>
          <p:nvPr/>
        </p:nvSpPr>
        <p:spPr>
          <a:xfrm>
            <a:off x="548640" y="5596128"/>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PLATFORM</a:t>
            </a:r>
            <a:endParaRPr lang="en-US" sz="800" dirty="0"/>
          </a:p>
          <a:p>
            <a:pPr indent="0" marL="0">
              <a:spcAft>
                <a:spcPts val="200"/>
              </a:spcAft>
              <a:buNone/>
            </a:pPr>
            <a:r>
              <a:rPr lang="en-US" sz="1100" b="1" dirty="0">
                <a:solidFill>
                  <a:srgbClr val="0D1813"/>
                </a:solidFill>
              </a:rPr>
              <a:t>Web · Responsive</a:t>
            </a:r>
            <a:endParaRPr lang="en-US" sz="800" dirty="0"/>
          </a:p>
        </p:txBody>
      </p:sp>
      <p:sp>
        <p:nvSpPr>
          <p:cNvPr id="11" name="Text 8"/>
          <p:cNvSpPr txBox="1"/>
          <p:nvPr/>
        </p:nvSpPr>
        <p:spPr>
          <a:xfrm>
            <a:off x="2926080" y="5596128"/>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ROLES</a:t>
            </a:r>
            <a:endParaRPr lang="en-US" sz="800" dirty="0"/>
          </a:p>
          <a:p>
            <a:pPr indent="0" marL="0">
              <a:spcAft>
                <a:spcPts val="200"/>
              </a:spcAft>
              <a:buNone/>
            </a:pPr>
            <a:r>
              <a:rPr lang="en-US" sz="1100" b="1" dirty="0">
                <a:solidFill>
                  <a:srgbClr val="0D1813"/>
                </a:solidFill>
              </a:rPr>
              <a:t>Workspace owners &amp; members</a:t>
            </a:r>
            <a:endParaRPr lang="en-US" sz="800" dirty="0"/>
          </a:p>
        </p:txBody>
      </p:sp>
      <p:pic>
        <p:nvPicPr>
          <p:cNvPr id="12" name="Image 1" descr="Clario on desktop and mobile">    </p:cNvPr>
          <p:cNvPicPr>
            <a:picLocks noChangeAspect="1"/>
          </p:cNvPicPr>
          <p:nvPr/>
        </p:nvPicPr>
        <p:blipFill>
          <a:blip r:embed="rId2"/>
          <a:stretch>
            <a:fillRect/>
          </a:stretch>
        </p:blipFill>
        <p:spPr>
          <a:xfrm>
            <a:off x="5162702" y="1335938"/>
            <a:ext cx="6819595" cy="4350715"/>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89788"/>
            <a:ext cx="182880" cy="134417"/>
          </a:xfrm>
          <a:prstGeom prst="rect">
            <a:avLst/>
          </a:prstGeom>
        </p:spPr>
      </p:pic>
      <p:sp>
        <p:nvSpPr>
          <p:cNvPr id="3" name="Text 0"/>
          <p:cNvSpPr txBox="1"/>
          <p:nvPr/>
        </p:nvSpPr>
        <p:spPr>
          <a:xfrm>
            <a:off x="813816" y="548640"/>
            <a:ext cx="45720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THE CHALLENGE</a:t>
            </a:r>
            <a:endParaRPr lang="en-US" sz="900" dirty="0"/>
          </a:p>
        </p:txBody>
      </p:sp>
      <p:sp>
        <p:nvSpPr>
          <p:cNvPr id="4" name="Text 1"/>
          <p:cNvSpPr txBox="1"/>
          <p:nvPr/>
        </p:nvSpPr>
        <p:spPr>
          <a:xfrm>
            <a:off x="548640" y="841248"/>
            <a:ext cx="4800600" cy="868680"/>
          </a:xfrm>
          <a:prstGeom prst="rect">
            <a:avLst/>
          </a:prstGeom>
          <a:noFill/>
          <a:ln/>
        </p:spPr>
        <p:txBody>
          <a:bodyPr wrap="square" lIns="0" tIns="0" rIns="0" bIns="0" rtlCol="0" anchor="t"/>
          <a:lstStyle/>
          <a:p>
            <a:pPr indent="0" marL="0">
              <a:lnSpc>
                <a:spcPct val="100000"/>
              </a:lnSpc>
              <a:buNone/>
            </a:pPr>
            <a:r>
              <a:rPr lang="en-US" sz="1900" b="1" spc="-40" kern="0" dirty="0">
                <a:solidFill>
                  <a:srgbClr val="0D1813"/>
                </a:solidFill>
              </a:rPr>
              <a:t>The numbers exist. The answers don’t.</a:t>
            </a:r>
            <a:endParaRPr lang="en-US" sz="1900" dirty="0"/>
          </a:p>
        </p:txBody>
      </p:sp>
      <p:sp>
        <p:nvSpPr>
          <p:cNvPr id="5" name="Text 2"/>
          <p:cNvSpPr txBox="1"/>
          <p:nvPr/>
        </p:nvSpPr>
        <p:spPr>
          <a:xfrm>
            <a:off x="548640" y="1755648"/>
            <a:ext cx="4800600" cy="1600200"/>
          </a:xfrm>
          <a:prstGeom prst="rect">
            <a:avLst/>
          </a:prstGeom>
          <a:noFill/>
          <a:ln/>
        </p:spPr>
        <p:txBody>
          <a:bodyPr wrap="square" lIns="0" tIns="0" rIns="0" bIns="0" rtlCol="0" anchor="t"/>
          <a:lstStyle/>
          <a:p>
            <a:pPr indent="0" marL="0">
              <a:lnSpc>
                <a:spcPct val="115000"/>
              </a:lnSpc>
              <a:buNone/>
            </a:pPr>
            <a:r>
              <a:rPr lang="en-US" sz="1150" dirty="0">
                <a:solidFill>
                  <a:srgbClr val="5C6A62"/>
                </a:solidFill>
              </a:rPr>
              <a:t>Growing businesses keep their figures in accounting software, but turning ledgers into decisions takes reports, spreadsheets and an accountant’s time. Generic AI tools can’t be trusted with financial figures — and every new system adds another place to look.</a:t>
            </a:r>
            <a:endParaRPr lang="en-US" sz="1150" dirty="0"/>
          </a:p>
        </p:txBody>
      </p:sp>
      <p:pic>
        <p:nvPicPr>
          <p:cNvPr id="6" name="Image 1" descr="F:\Office Project\Crita Portfolio\portfolio\ppt\brand\c.png">    </p:cNvPr>
          <p:cNvPicPr>
            <a:picLocks noChangeAspect="1"/>
          </p:cNvPicPr>
          <p:nvPr/>
        </p:nvPicPr>
        <p:blipFill>
          <a:blip r:embed="rId2"/>
          <a:stretch>
            <a:fillRect/>
          </a:stretch>
        </p:blipFill>
        <p:spPr>
          <a:xfrm>
            <a:off x="548640" y="3534156"/>
            <a:ext cx="182880" cy="134417"/>
          </a:xfrm>
          <a:prstGeom prst="rect">
            <a:avLst/>
          </a:prstGeom>
        </p:spPr>
      </p:pic>
      <p:sp>
        <p:nvSpPr>
          <p:cNvPr id="7" name="Text 3"/>
          <p:cNvSpPr txBox="1"/>
          <p:nvPr/>
        </p:nvSpPr>
        <p:spPr>
          <a:xfrm>
            <a:off x="813816" y="3493008"/>
            <a:ext cx="45720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WHAT WE BUILT</a:t>
            </a:r>
            <a:endParaRPr lang="en-US" sz="900" dirty="0"/>
          </a:p>
        </p:txBody>
      </p:sp>
      <p:sp>
        <p:nvSpPr>
          <p:cNvPr id="8" name="Text 4"/>
          <p:cNvSpPr txBox="1"/>
          <p:nvPr/>
        </p:nvSpPr>
        <p:spPr>
          <a:xfrm>
            <a:off x="548640" y="3785616"/>
            <a:ext cx="4800600" cy="868680"/>
          </a:xfrm>
          <a:prstGeom prst="rect">
            <a:avLst/>
          </a:prstGeom>
          <a:noFill/>
          <a:ln/>
        </p:spPr>
        <p:txBody>
          <a:bodyPr wrap="square" lIns="0" tIns="0" rIns="0" bIns="0" rtlCol="0" anchor="t"/>
          <a:lstStyle/>
          <a:p>
            <a:pPr indent="0" marL="0">
              <a:lnSpc>
                <a:spcPct val="100000"/>
              </a:lnSpc>
              <a:buNone/>
            </a:pPr>
            <a:r>
              <a:rPr lang="en-US" sz="1900" b="1" spc="-40" kern="0" dirty="0">
                <a:solidFill>
                  <a:srgbClr val="0D1813"/>
                </a:solidFill>
              </a:rPr>
              <a:t>Connect once. See clearly. Ask anything.</a:t>
            </a:r>
            <a:endParaRPr lang="en-US" sz="1900" dirty="0"/>
          </a:p>
        </p:txBody>
      </p:sp>
      <p:sp>
        <p:nvSpPr>
          <p:cNvPr id="9" name="Text 5"/>
          <p:cNvSpPr txBox="1"/>
          <p:nvPr/>
        </p:nvSpPr>
        <p:spPr>
          <a:xfrm>
            <a:off x="548640" y="4681728"/>
            <a:ext cx="4800600" cy="1600200"/>
          </a:xfrm>
          <a:prstGeom prst="rect">
            <a:avLst/>
          </a:prstGeom>
          <a:noFill/>
          <a:ln/>
        </p:spPr>
        <p:txBody>
          <a:bodyPr wrap="square" lIns="0" tIns="0" rIns="0" bIns="0" rtlCol="0" anchor="t"/>
          <a:lstStyle/>
          <a:p>
            <a:pPr indent="0" marL="0">
              <a:lnSpc>
                <a:spcPct val="115000"/>
              </a:lnSpc>
              <a:buNone/>
            </a:pPr>
            <a:r>
              <a:rPr lang="en-US" sz="1150" dirty="0">
                <a:solidFill>
                  <a:srgbClr val="5C6A62"/>
                </a:solidFill>
              </a:rPr>
              <a:t>Clario gives each client a private workspace. They connect Zoho Books securely, and Clario turns the data into a finance command centre — overview, trends, receivables, payables and balance sheet. Ask Clario answers questions in plain words using the same figures as the reports, and shows where each answer comes from.</a:t>
            </a:r>
            <a:endParaRPr lang="en-US" sz="1150" dirty="0"/>
          </a:p>
        </p:txBody>
      </p:sp>
      <p:sp>
        <p:nvSpPr>
          <p:cNvPr id="10" name="Shape 6"/>
          <p:cNvSpPr/>
          <p:nvPr/>
        </p:nvSpPr>
        <p:spPr>
          <a:xfrm>
            <a:off x="5760720" y="502920"/>
            <a:ext cx="5879592" cy="5715000"/>
          </a:xfrm>
          <a:prstGeom prst="roundRect">
            <a:avLst>
              <a:gd name="adj" fmla="val 2560"/>
            </a:avLst>
          </a:prstGeom>
          <a:solidFill>
            <a:srgbClr val="EEF2E7"/>
          </a:solidFill>
          <a:ln/>
        </p:spPr>
      </p:sp>
      <p:pic>
        <p:nvPicPr>
          <p:cNvPr id="11" name="Image 2" descr="Clario screens">    </p:cNvPr>
          <p:cNvPicPr>
            <a:picLocks noChangeAspect="1"/>
          </p:cNvPicPr>
          <p:nvPr/>
        </p:nvPicPr>
        <p:blipFill>
          <a:blip r:embed="rId3"/>
          <a:stretch>
            <a:fillRect/>
          </a:stretch>
        </p:blipFill>
        <p:spPr>
          <a:xfrm>
            <a:off x="5865102" y="1335657"/>
            <a:ext cx="5689115" cy="4205677"/>
          </a:xfrm>
          <a:prstGeom prst="rect">
            <a:avLst/>
          </a:prstGeom>
        </p:spPr>
      </p:pic>
      <p:sp>
        <p:nvSpPr>
          <p:cNvPr id="13"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F2E7"/>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PRODUCT EXPERIENCE · 1 OF 2</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Inside Clario.</a:t>
            </a:r>
            <a:endParaRPr lang="en-US" sz="2800" dirty="0"/>
          </a:p>
        </p:txBody>
      </p:sp>
      <p:pic>
        <p:nvPicPr>
          <p:cNvPr id="5" name="Image 1" descr="The business on one screen">    </p:cNvPr>
          <p:cNvPicPr>
            <a:picLocks noChangeAspect="1"/>
          </p:cNvPicPr>
          <p:nvPr/>
        </p:nvPicPr>
        <p:blipFill>
          <a:blip r:embed="rId2"/>
          <a:stretch>
            <a:fillRect/>
          </a:stretch>
        </p:blipFill>
        <p:spPr>
          <a:xfrm>
            <a:off x="265704" y="1353231"/>
            <a:ext cx="5960831" cy="4064203"/>
          </a:xfrm>
          <a:prstGeom prst="rect">
            <a:avLst/>
          </a:prstGeom>
        </p:spPr>
      </p:pic>
      <p:sp>
        <p:nvSpPr>
          <p:cNvPr id="6" name="Text 2"/>
          <p:cNvSpPr txBox="1"/>
          <p:nvPr/>
        </p:nvSpPr>
        <p:spPr>
          <a:xfrm>
            <a:off x="548640"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01</a:t>
            </a:r>
            <a:endParaRPr lang="en-US" sz="950" dirty="0"/>
          </a:p>
          <a:p>
            <a:pPr indent="0" marL="0">
              <a:spcAft>
                <a:spcPts val="300"/>
              </a:spcAft>
              <a:buNone/>
            </a:pPr>
            <a:r>
              <a:rPr lang="en-US" sz="1500" b="1" dirty="0">
                <a:solidFill>
                  <a:srgbClr val="0D1813"/>
                </a:solidFill>
              </a:rPr>
              <a:t>The business on one screen</a:t>
            </a:r>
            <a:endParaRPr lang="en-US" sz="950" dirty="0"/>
          </a:p>
          <a:p>
            <a:pPr indent="0" marL="0">
              <a:spcAft>
                <a:spcPts val="300"/>
              </a:spcAft>
              <a:buNone/>
            </a:pPr>
            <a:r>
              <a:rPr lang="en-US" sz="1100" dirty="0">
                <a:solidFill>
                  <a:srgbClr val="5C6A62"/>
                </a:solidFill>
              </a:rPr>
              <a:t>Cash on hand, revenue, profit, collections and receivables — each with its basis and as-of date.</a:t>
            </a:r>
            <a:endParaRPr lang="en-US" sz="950" dirty="0"/>
          </a:p>
        </p:txBody>
      </p:sp>
      <p:pic>
        <p:nvPicPr>
          <p:cNvPr id="7" name="Image 2" descr="Answers, with sources">    </p:cNvPr>
          <p:cNvPicPr>
            <a:picLocks noChangeAspect="1"/>
          </p:cNvPicPr>
          <p:nvPr/>
        </p:nvPicPr>
        <p:blipFill>
          <a:blip r:embed="rId3"/>
          <a:stretch>
            <a:fillRect/>
          </a:stretch>
        </p:blipFill>
        <p:spPr>
          <a:xfrm>
            <a:off x="5907552" y="1353231"/>
            <a:ext cx="5960831" cy="4066601"/>
          </a:xfrm>
          <a:prstGeom prst="rect">
            <a:avLst/>
          </a:prstGeom>
        </p:spPr>
      </p:pic>
      <p:sp>
        <p:nvSpPr>
          <p:cNvPr id="8" name="Text 3"/>
          <p:cNvSpPr txBox="1"/>
          <p:nvPr/>
        </p:nvSpPr>
        <p:spPr>
          <a:xfrm>
            <a:off x="6190488"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02</a:t>
            </a:r>
            <a:endParaRPr lang="en-US" sz="950" dirty="0"/>
          </a:p>
          <a:p>
            <a:pPr indent="0" marL="0">
              <a:spcAft>
                <a:spcPts val="300"/>
              </a:spcAft>
              <a:buNone/>
            </a:pPr>
            <a:r>
              <a:rPr lang="en-US" sz="1500" b="1" dirty="0">
                <a:solidFill>
                  <a:srgbClr val="0D1813"/>
                </a:solidFill>
              </a:rPr>
              <a:t>Answers, with sources</a:t>
            </a:r>
            <a:endParaRPr lang="en-US" sz="950" dirty="0"/>
          </a:p>
          <a:p>
            <a:pPr indent="0" marL="0">
              <a:spcAft>
                <a:spcPts val="300"/>
              </a:spcAft>
              <a:buNone/>
            </a:pPr>
            <a:r>
              <a:rPr lang="en-US" sz="1100" dirty="0">
                <a:solidFill>
                  <a:srgbClr val="5C6A62"/>
                </a:solidFill>
              </a:rPr>
              <a:t>Ask in plain words. Every answer uses the same figures as the reports and says where they came from.</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F2E7"/>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PRODUCT EXPERIENCE · 2 OF 2</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Inside Clario.</a:t>
            </a:r>
            <a:endParaRPr lang="en-US" sz="2800" dirty="0"/>
          </a:p>
        </p:txBody>
      </p:sp>
      <p:pic>
        <p:nvPicPr>
          <p:cNvPr id="5" name="Image 1" descr="What to do next">    </p:cNvPr>
          <p:cNvPicPr>
            <a:picLocks noChangeAspect="1"/>
          </p:cNvPicPr>
          <p:nvPr/>
        </p:nvPicPr>
        <p:blipFill>
          <a:blip r:embed="rId2"/>
          <a:stretch>
            <a:fillRect/>
          </a:stretch>
        </p:blipFill>
        <p:spPr>
          <a:xfrm>
            <a:off x="265704" y="1353231"/>
            <a:ext cx="5960831" cy="4064203"/>
          </a:xfrm>
          <a:prstGeom prst="rect">
            <a:avLst/>
          </a:prstGeom>
        </p:spPr>
      </p:pic>
      <p:sp>
        <p:nvSpPr>
          <p:cNvPr id="6" name="Text 2"/>
          <p:cNvSpPr txBox="1"/>
          <p:nvPr/>
        </p:nvSpPr>
        <p:spPr>
          <a:xfrm>
            <a:off x="548640"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03</a:t>
            </a:r>
            <a:endParaRPr lang="en-US" sz="950" dirty="0"/>
          </a:p>
          <a:p>
            <a:pPr indent="0" marL="0">
              <a:spcAft>
                <a:spcPts val="300"/>
              </a:spcAft>
              <a:buNone/>
            </a:pPr>
            <a:r>
              <a:rPr lang="en-US" sz="1500" b="1" dirty="0">
                <a:solidFill>
                  <a:srgbClr val="0D1813"/>
                </a:solidFill>
              </a:rPr>
              <a:t>What to do next</a:t>
            </a:r>
            <a:endParaRPr lang="en-US" sz="950" dirty="0"/>
          </a:p>
          <a:p>
            <a:pPr indent="0" marL="0">
              <a:spcAft>
                <a:spcPts val="300"/>
              </a:spcAft>
              <a:buNone/>
            </a:pPr>
            <a:r>
              <a:rPr lang="en-US" sz="1100" dirty="0">
                <a:solidFill>
                  <a:srgbClr val="5C6A62"/>
                </a:solidFill>
              </a:rPr>
              <a:t>Signals and decision support turn the figures into an ordered list of what deserves attention.</a:t>
            </a:r>
            <a:endParaRPr lang="en-US" sz="950" dirty="0"/>
          </a:p>
        </p:txBody>
      </p:sp>
      <p:pic>
        <p:nvPicPr>
          <p:cNvPr id="7" name="Image 2" descr="Trends that explain themselves">    </p:cNvPr>
          <p:cNvPicPr>
            <a:picLocks noChangeAspect="1"/>
          </p:cNvPicPr>
          <p:nvPr/>
        </p:nvPicPr>
        <p:blipFill>
          <a:blip r:embed="rId3"/>
          <a:stretch>
            <a:fillRect/>
          </a:stretch>
        </p:blipFill>
        <p:spPr>
          <a:xfrm>
            <a:off x="5907552" y="1353231"/>
            <a:ext cx="5960831" cy="4066601"/>
          </a:xfrm>
          <a:prstGeom prst="rect">
            <a:avLst/>
          </a:prstGeom>
        </p:spPr>
      </p:pic>
      <p:sp>
        <p:nvSpPr>
          <p:cNvPr id="8" name="Text 3"/>
          <p:cNvSpPr txBox="1"/>
          <p:nvPr/>
        </p:nvSpPr>
        <p:spPr>
          <a:xfrm>
            <a:off x="6190488"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04</a:t>
            </a:r>
            <a:endParaRPr lang="en-US" sz="950" dirty="0"/>
          </a:p>
          <a:p>
            <a:pPr indent="0" marL="0">
              <a:spcAft>
                <a:spcPts val="300"/>
              </a:spcAft>
              <a:buNone/>
            </a:pPr>
            <a:r>
              <a:rPr lang="en-US" sz="1500" b="1" dirty="0">
                <a:solidFill>
                  <a:srgbClr val="0D1813"/>
                </a:solidFill>
              </a:rPr>
              <a:t>Trends that explain themselves</a:t>
            </a:r>
            <a:endParaRPr lang="en-US" sz="950" dirty="0"/>
          </a:p>
          <a:p>
            <a:pPr indent="0" marL="0">
              <a:spcAft>
                <a:spcPts val="300"/>
              </a:spcAft>
              <a:buNone/>
            </a:pPr>
            <a:r>
              <a:rPr lang="en-US" sz="1100" dirty="0">
                <a:solidFill>
                  <a:srgbClr val="5C6A62"/>
                </a:solidFill>
              </a:rPr>
              <a:t>Billing, collections and spending month by month — every chart with a table view.</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KEY CAPABILITIES</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What Clario does.</a:t>
            </a:r>
            <a:endParaRPr lang="en-US" sz="2800" dirty="0"/>
          </a:p>
        </p:txBody>
      </p:sp>
      <p:sp>
        <p:nvSpPr>
          <p:cNvPr id="5" name="Shape 2"/>
          <p:cNvSpPr/>
          <p:nvPr/>
        </p:nvSpPr>
        <p:spPr>
          <a:xfrm>
            <a:off x="548640" y="1691640"/>
            <a:ext cx="3611880" cy="0"/>
          </a:xfrm>
          <a:prstGeom prst="line">
            <a:avLst/>
          </a:prstGeom>
          <a:noFill/>
          <a:ln w="9525">
            <a:solidFill>
              <a:srgbClr val="D3D5CC"/>
            </a:solidFill>
            <a:prstDash val="solid"/>
          </a:ln>
        </p:spPr>
      </p:sp>
      <p:sp>
        <p:nvSpPr>
          <p:cNvPr id="6" name="Text 3"/>
          <p:cNvSpPr txBox="1"/>
          <p:nvPr/>
        </p:nvSpPr>
        <p:spPr>
          <a:xfrm>
            <a:off x="548640" y="1810512"/>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01</a:t>
            </a:r>
            <a:endParaRPr lang="en-US" sz="950" dirty="0"/>
          </a:p>
          <a:p>
            <a:pPr indent="0" marL="0">
              <a:spcAft>
                <a:spcPts val="300"/>
              </a:spcAft>
              <a:buNone/>
            </a:pPr>
            <a:r>
              <a:rPr lang="en-US" sz="1400" b="1" dirty="0">
                <a:solidFill>
                  <a:srgbClr val="0D1813"/>
                </a:solidFill>
              </a:rPr>
              <a:t>Secure connection</a:t>
            </a:r>
            <a:endParaRPr lang="en-US" sz="950" dirty="0"/>
          </a:p>
          <a:p>
            <a:pPr indent="0" marL="0">
              <a:spcAft>
                <a:spcPts val="300"/>
              </a:spcAft>
              <a:buNone/>
            </a:pPr>
            <a:r>
              <a:rPr lang="en-US" sz="1050" dirty="0">
                <a:solidFill>
                  <a:srgbClr val="5C6A62"/>
                </a:solidFill>
              </a:rPr>
              <a:t>Zoho Books connects through OAuth with read-only access, into the client’s own workspace.</a:t>
            </a:r>
            <a:endParaRPr lang="en-US" sz="950" dirty="0"/>
          </a:p>
        </p:txBody>
      </p:sp>
      <p:sp>
        <p:nvSpPr>
          <p:cNvPr id="7" name="Shape 4"/>
          <p:cNvSpPr/>
          <p:nvPr/>
        </p:nvSpPr>
        <p:spPr>
          <a:xfrm>
            <a:off x="4389120" y="1691640"/>
            <a:ext cx="3611880" cy="0"/>
          </a:xfrm>
          <a:prstGeom prst="line">
            <a:avLst/>
          </a:prstGeom>
          <a:noFill/>
          <a:ln w="9525">
            <a:solidFill>
              <a:srgbClr val="D3D5CC"/>
            </a:solidFill>
            <a:prstDash val="solid"/>
          </a:ln>
        </p:spPr>
      </p:sp>
      <p:sp>
        <p:nvSpPr>
          <p:cNvPr id="8" name="Text 5"/>
          <p:cNvSpPr txBox="1"/>
          <p:nvPr/>
        </p:nvSpPr>
        <p:spPr>
          <a:xfrm>
            <a:off x="4389120" y="1810512"/>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02</a:t>
            </a:r>
            <a:endParaRPr lang="en-US" sz="950" dirty="0"/>
          </a:p>
          <a:p>
            <a:pPr indent="0" marL="0">
              <a:spcAft>
                <a:spcPts val="300"/>
              </a:spcAft>
              <a:buNone/>
            </a:pPr>
            <a:r>
              <a:rPr lang="en-US" sz="1400" b="1" dirty="0">
                <a:solidFill>
                  <a:srgbClr val="0D1813"/>
                </a:solidFill>
              </a:rPr>
              <a:t>Finance overview</a:t>
            </a:r>
            <a:endParaRPr lang="en-US" sz="950" dirty="0"/>
          </a:p>
          <a:p>
            <a:pPr indent="0" marL="0">
              <a:spcAft>
                <a:spcPts val="300"/>
              </a:spcAft>
              <a:buNone/>
            </a:pPr>
            <a:r>
              <a:rPr lang="en-US" sz="1050" dirty="0">
                <a:solidFill>
                  <a:srgbClr val="5C6A62"/>
                </a:solidFill>
              </a:rPr>
              <a:t>Cash, revenue, profit, collections, costs and receivables on one screen, with performance signals.</a:t>
            </a:r>
            <a:endParaRPr lang="en-US" sz="950" dirty="0"/>
          </a:p>
        </p:txBody>
      </p:sp>
      <p:sp>
        <p:nvSpPr>
          <p:cNvPr id="9" name="Shape 6"/>
          <p:cNvSpPr/>
          <p:nvPr/>
        </p:nvSpPr>
        <p:spPr>
          <a:xfrm>
            <a:off x="548640" y="3227832"/>
            <a:ext cx="3611880" cy="0"/>
          </a:xfrm>
          <a:prstGeom prst="line">
            <a:avLst/>
          </a:prstGeom>
          <a:noFill/>
          <a:ln w="9525">
            <a:solidFill>
              <a:srgbClr val="D3D5CC"/>
            </a:solidFill>
            <a:prstDash val="solid"/>
          </a:ln>
        </p:spPr>
      </p:sp>
      <p:sp>
        <p:nvSpPr>
          <p:cNvPr id="10" name="Text 7"/>
          <p:cNvSpPr txBox="1"/>
          <p:nvPr/>
        </p:nvSpPr>
        <p:spPr>
          <a:xfrm>
            <a:off x="548640" y="3346704"/>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03</a:t>
            </a:r>
            <a:endParaRPr lang="en-US" sz="950" dirty="0"/>
          </a:p>
          <a:p>
            <a:pPr indent="0" marL="0">
              <a:spcAft>
                <a:spcPts val="300"/>
              </a:spcAft>
              <a:buNone/>
            </a:pPr>
            <a:r>
              <a:rPr lang="en-US" sz="1400" b="1" dirty="0">
                <a:solidFill>
                  <a:srgbClr val="0D1813"/>
                </a:solidFill>
              </a:rPr>
              <a:t>Ask Clario</a:t>
            </a:r>
            <a:endParaRPr lang="en-US" sz="950" dirty="0"/>
          </a:p>
          <a:p>
            <a:pPr indent="0" marL="0">
              <a:spcAft>
                <a:spcPts val="300"/>
              </a:spcAft>
              <a:buNone/>
            </a:pPr>
            <a:r>
              <a:rPr lang="en-US" sz="1050" dirty="0">
                <a:solidFill>
                  <a:srgbClr val="5C6A62"/>
                </a:solidFill>
              </a:rPr>
              <a:t>Plain-language questions answered from the books, with the source and date of every figure.</a:t>
            </a:r>
            <a:endParaRPr lang="en-US" sz="950" dirty="0"/>
          </a:p>
        </p:txBody>
      </p:sp>
      <p:sp>
        <p:nvSpPr>
          <p:cNvPr id="11" name="Shape 8"/>
          <p:cNvSpPr/>
          <p:nvPr/>
        </p:nvSpPr>
        <p:spPr>
          <a:xfrm>
            <a:off x="4389120" y="3227832"/>
            <a:ext cx="3611880" cy="0"/>
          </a:xfrm>
          <a:prstGeom prst="line">
            <a:avLst/>
          </a:prstGeom>
          <a:noFill/>
          <a:ln w="9525">
            <a:solidFill>
              <a:srgbClr val="D3D5CC"/>
            </a:solidFill>
            <a:prstDash val="solid"/>
          </a:ln>
        </p:spPr>
      </p:sp>
      <p:sp>
        <p:nvSpPr>
          <p:cNvPr id="12" name="Text 9"/>
          <p:cNvSpPr txBox="1"/>
          <p:nvPr/>
        </p:nvSpPr>
        <p:spPr>
          <a:xfrm>
            <a:off x="4389120" y="3346704"/>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04</a:t>
            </a:r>
            <a:endParaRPr lang="en-US" sz="950" dirty="0"/>
          </a:p>
          <a:p>
            <a:pPr indent="0" marL="0">
              <a:spcAft>
                <a:spcPts val="300"/>
              </a:spcAft>
              <a:buNone/>
            </a:pPr>
            <a:r>
              <a:rPr lang="en-US" sz="1400" b="1" dirty="0">
                <a:solidFill>
                  <a:srgbClr val="0D1813"/>
                </a:solidFill>
              </a:rPr>
              <a:t>Decision support</a:t>
            </a:r>
            <a:endParaRPr lang="en-US" sz="950" dirty="0"/>
          </a:p>
          <a:p>
            <a:pPr indent="0" marL="0">
              <a:spcAft>
                <a:spcPts val="300"/>
              </a:spcAft>
              <a:buNone/>
            </a:pPr>
            <a:r>
              <a:rPr lang="en-US" sz="1050" dirty="0">
                <a:solidFill>
                  <a:srgbClr val="5C6A62"/>
                </a:solidFill>
              </a:rPr>
              <a:t>What needs attention, what to consider next and simple scenarios — clearly labelled as guidance.</a:t>
            </a:r>
            <a:endParaRPr lang="en-US" sz="950" dirty="0"/>
          </a:p>
        </p:txBody>
      </p:sp>
      <p:sp>
        <p:nvSpPr>
          <p:cNvPr id="13" name="Shape 10"/>
          <p:cNvSpPr/>
          <p:nvPr/>
        </p:nvSpPr>
        <p:spPr>
          <a:xfrm>
            <a:off x="548640" y="4764024"/>
            <a:ext cx="3611880" cy="0"/>
          </a:xfrm>
          <a:prstGeom prst="line">
            <a:avLst/>
          </a:prstGeom>
          <a:noFill/>
          <a:ln w="9525">
            <a:solidFill>
              <a:srgbClr val="D3D5CC"/>
            </a:solidFill>
            <a:prstDash val="solid"/>
          </a:ln>
        </p:spPr>
      </p:sp>
      <p:sp>
        <p:nvSpPr>
          <p:cNvPr id="14" name="Text 11"/>
          <p:cNvSpPr txBox="1"/>
          <p:nvPr/>
        </p:nvSpPr>
        <p:spPr>
          <a:xfrm>
            <a:off x="548640" y="4882896"/>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05</a:t>
            </a:r>
            <a:endParaRPr lang="en-US" sz="950" dirty="0"/>
          </a:p>
          <a:p>
            <a:pPr indent="0" marL="0">
              <a:spcAft>
                <a:spcPts val="300"/>
              </a:spcAft>
              <a:buNone/>
            </a:pPr>
            <a:r>
              <a:rPr lang="en-US" sz="1400" b="1" dirty="0">
                <a:solidFill>
                  <a:srgbClr val="0D1813"/>
                </a:solidFill>
              </a:rPr>
              <a:t>Trends &amp; receivables</a:t>
            </a:r>
            <a:endParaRPr lang="en-US" sz="950" dirty="0"/>
          </a:p>
          <a:p>
            <a:pPr indent="0" marL="0">
              <a:spcAft>
                <a:spcPts val="300"/>
              </a:spcAft>
              <a:buNone/>
            </a:pPr>
            <a:r>
              <a:rPr lang="en-US" sz="1050" dirty="0">
                <a:solidFill>
                  <a:srgbClr val="5C6A62"/>
                </a:solidFill>
              </a:rPr>
              <a:t>Month-by-month billing, collections and spending; overdue ageing and a full invoice register.</a:t>
            </a:r>
            <a:endParaRPr lang="en-US" sz="950" dirty="0"/>
          </a:p>
        </p:txBody>
      </p:sp>
      <p:sp>
        <p:nvSpPr>
          <p:cNvPr id="15" name="Shape 12"/>
          <p:cNvSpPr/>
          <p:nvPr/>
        </p:nvSpPr>
        <p:spPr>
          <a:xfrm>
            <a:off x="4389120" y="4764024"/>
            <a:ext cx="3611880" cy="0"/>
          </a:xfrm>
          <a:prstGeom prst="line">
            <a:avLst/>
          </a:prstGeom>
          <a:noFill/>
          <a:ln w="9525">
            <a:solidFill>
              <a:srgbClr val="D3D5CC"/>
            </a:solidFill>
            <a:prstDash val="solid"/>
          </a:ln>
        </p:spPr>
      </p:sp>
      <p:sp>
        <p:nvSpPr>
          <p:cNvPr id="16" name="Text 13"/>
          <p:cNvSpPr txBox="1"/>
          <p:nvPr/>
        </p:nvSpPr>
        <p:spPr>
          <a:xfrm>
            <a:off x="4389120" y="4882896"/>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06</a:t>
            </a:r>
            <a:endParaRPr lang="en-US" sz="950" dirty="0"/>
          </a:p>
          <a:p>
            <a:pPr indent="0" marL="0">
              <a:spcAft>
                <a:spcPts val="300"/>
              </a:spcAft>
              <a:buNone/>
            </a:pPr>
            <a:r>
              <a:rPr lang="en-US" sz="1400" b="1" dirty="0">
                <a:solidFill>
                  <a:srgbClr val="0D1813"/>
                </a:solidFill>
              </a:rPr>
              <a:t>Workspaces &amp; roles</a:t>
            </a:r>
            <a:endParaRPr lang="en-US" sz="950" dirty="0"/>
          </a:p>
          <a:p>
            <a:pPr indent="0" marL="0">
              <a:spcAft>
                <a:spcPts val="300"/>
              </a:spcAft>
              <a:buNone/>
            </a:pPr>
            <a:r>
              <a:rPr lang="en-US" sz="1050" dirty="0">
                <a:solidFill>
                  <a:srgbClr val="5C6A62"/>
                </a:solidFill>
              </a:rPr>
              <a:t>Every client works in an isolated workspace with its own members and connected systems.</a:t>
            </a:r>
            <a:endParaRPr lang="en-US" sz="950" dirty="0"/>
          </a:p>
        </p:txBody>
      </p:sp>
      <p:sp>
        <p:nvSpPr>
          <p:cNvPr id="17" name="Shape 14"/>
          <p:cNvSpPr/>
          <p:nvPr/>
        </p:nvSpPr>
        <p:spPr>
          <a:xfrm>
            <a:off x="8503920" y="502920"/>
            <a:ext cx="3136392" cy="5715000"/>
          </a:xfrm>
          <a:prstGeom prst="roundRect">
            <a:avLst>
              <a:gd name="adj" fmla="val 4665"/>
            </a:avLst>
          </a:prstGeom>
          <a:solidFill>
            <a:srgbClr val="E2E9D6"/>
          </a:solidFill>
          <a:ln/>
        </p:spPr>
      </p:sp>
      <p:pic>
        <p:nvPicPr>
          <p:cNvPr id="18" name="Image 1" descr="Clario on a phone">    </p:cNvPr>
          <p:cNvPicPr>
            <a:picLocks noChangeAspect="1"/>
          </p:cNvPicPr>
          <p:nvPr/>
        </p:nvPicPr>
        <p:blipFill>
          <a:blip r:embed="rId2"/>
          <a:stretch>
            <a:fillRect/>
          </a:stretch>
        </p:blipFill>
        <p:spPr>
          <a:xfrm>
            <a:off x="8568057" y="489288"/>
            <a:ext cx="3008119" cy="5910003"/>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2E9D6"/>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PLATFORM ARCHITECTURE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One platform, many connected systems.</a:t>
            </a:r>
            <a:endParaRPr lang="en-US" sz="2800" dirty="0"/>
          </a:p>
        </p:txBody>
      </p:sp>
      <p:sp>
        <p:nvSpPr>
          <p:cNvPr id="5" name="Text 2"/>
          <p:cNvSpPr txBox="1"/>
          <p:nvPr/>
        </p:nvSpPr>
        <p:spPr>
          <a:xfrm>
            <a:off x="548640" y="1463040"/>
            <a:ext cx="10058400" cy="365760"/>
          </a:xfrm>
          <a:prstGeom prst="rect">
            <a:avLst/>
          </a:prstGeom>
          <a:noFill/>
          <a:ln/>
        </p:spPr>
        <p:txBody>
          <a:bodyPr wrap="square" lIns="0" tIns="0" rIns="0" bIns="0" rtlCol="0" anchor="t"/>
          <a:lstStyle/>
          <a:p>
            <a:pPr indent="0" marL="0">
              <a:buNone/>
            </a:pPr>
            <a:r>
              <a:rPr lang="en-US" sz="1300" dirty="0">
                <a:solidFill>
                  <a:srgbClr val="34433B"/>
                </a:solidFill>
              </a:rPr>
              <a:t>Figures are calculated in code; the AI explains them. Each assistant only answers from its own domain’s data.</a:t>
            </a:r>
            <a:endParaRPr lang="en-US" sz="1300" dirty="0"/>
          </a:p>
        </p:txBody>
      </p:sp>
      <p:sp>
        <p:nvSpPr>
          <p:cNvPr id="6" name="Shape 3"/>
          <p:cNvSpPr/>
          <p:nvPr/>
        </p:nvSpPr>
        <p:spPr>
          <a:xfrm>
            <a:off x="548640" y="2103120"/>
            <a:ext cx="11094415" cy="713232"/>
          </a:xfrm>
          <a:prstGeom prst="roundRect">
            <a:avLst>
              <a:gd name="adj" fmla="val 15385"/>
            </a:avLst>
          </a:prstGeom>
          <a:solidFill>
            <a:srgbClr val="FFFFFF">
              <a:alpha val="75000"/>
            </a:srgbClr>
          </a:solidFill>
          <a:ln/>
        </p:spPr>
      </p:sp>
      <p:sp>
        <p:nvSpPr>
          <p:cNvPr id="7" name="Text 4"/>
          <p:cNvSpPr txBox="1"/>
          <p:nvPr/>
        </p:nvSpPr>
        <p:spPr>
          <a:xfrm>
            <a:off x="822960" y="2103120"/>
            <a:ext cx="1737360" cy="713232"/>
          </a:xfrm>
          <a:prstGeom prst="rect">
            <a:avLst/>
          </a:prstGeom>
          <a:noFill/>
          <a:ln/>
        </p:spPr>
        <p:txBody>
          <a:bodyPr wrap="square" lIns="0" tIns="0" rIns="0" bIns="0" rtlCol="0" anchor="ctr"/>
          <a:lstStyle/>
          <a:p>
            <a:pPr indent="0" marL="0">
              <a:buNone/>
            </a:pPr>
            <a:r>
              <a:rPr lang="en-US" sz="900" b="1" spc="180" kern="0" dirty="0">
                <a:solidFill>
                  <a:srgbClr val="5C6A62"/>
                </a:solidFill>
              </a:rPr>
              <a:t>CONNECTORS</a:t>
            </a:r>
            <a:endParaRPr lang="en-US" sz="900" dirty="0"/>
          </a:p>
        </p:txBody>
      </p:sp>
      <p:sp>
        <p:nvSpPr>
          <p:cNvPr id="8" name="Text 5"/>
          <p:cNvSpPr txBox="1"/>
          <p:nvPr/>
        </p:nvSpPr>
        <p:spPr>
          <a:xfrm>
            <a:off x="2651760" y="2249424"/>
            <a:ext cx="1499616" cy="420624"/>
          </a:xfrm>
          <a:prstGeom prst="roundRect">
            <a:avLst>
              <a:gd name="adj" fmla="val 52174"/>
            </a:avLst>
          </a:prstGeom>
          <a:solidFill>
            <a:srgbClr val="033F2D"/>
          </a:solidFill>
          <a:ln/>
        </p:spPr>
        <p:txBody>
          <a:bodyPr wrap="square" lIns="0" tIns="0" rIns="0" bIns="0" rtlCol="0" anchor="ctr"/>
          <a:lstStyle/>
          <a:p>
            <a:pPr algn="ctr" indent="0" marL="0">
              <a:buNone/>
            </a:pPr>
            <a:r>
              <a:rPr lang="en-US" sz="1100" b="1" dirty="0">
                <a:solidFill>
                  <a:srgbClr val="EEF0E6"/>
                </a:solidFill>
              </a:rPr>
              <a:t>Zoho Books</a:t>
            </a:r>
            <a:pPr algn="ctr" indent="0" marL="0">
              <a:buNone/>
            </a:pPr>
            <a:r>
              <a:rPr lang="en-US" sz="800" b="1" spc="100" kern="0" dirty="0">
                <a:solidFill>
                  <a:srgbClr val="D6E151"/>
                </a:solidFill>
              </a:rPr>
              <a:t>   LIVE</a:t>
            </a:r>
            <a:endParaRPr lang="en-US" sz="1100" dirty="0"/>
          </a:p>
        </p:txBody>
      </p:sp>
      <p:sp>
        <p:nvSpPr>
          <p:cNvPr id="9" name="Text 6"/>
          <p:cNvSpPr txBox="1"/>
          <p:nvPr/>
        </p:nvSpPr>
        <p:spPr>
          <a:xfrm>
            <a:off x="4279392" y="2249424"/>
            <a:ext cx="1659636" cy="420624"/>
          </a:xfrm>
          <a:prstGeom prst="roundRect">
            <a:avLst>
              <a:gd name="adj" fmla="val 52174"/>
            </a:avLst>
          </a:prstGeom>
          <a:solidFill>
            <a:srgbClr val="FFFFFF"/>
          </a:solidFill>
          <a:ln w="9525">
            <a:solidFill>
              <a:srgbClr val="C3C6BD"/>
            </a:solidFill>
          </a:ln>
        </p:spPr>
        <p:txBody>
          <a:bodyPr wrap="square" lIns="0" tIns="0" rIns="0" bIns="0" rtlCol="0" anchor="ctr"/>
          <a:lstStyle/>
          <a:p>
            <a:pPr algn="ctr" indent="0" marL="0">
              <a:buNone/>
            </a:pPr>
            <a:r>
              <a:rPr lang="en-US" sz="1100" b="1" dirty="0">
                <a:solidFill>
                  <a:srgbClr val="0D1813"/>
                </a:solidFill>
              </a:rPr>
              <a:t>Tally</a:t>
            </a:r>
            <a:pPr algn="ctr" indent="0" marL="0">
              <a:buNone/>
            </a:pPr>
            <a:r>
              <a:rPr lang="en-US" sz="800" b="1" spc="100" kern="0" dirty="0">
                <a:solidFill>
                  <a:srgbClr val="7A6512"/>
                </a:solidFill>
              </a:rPr>
              <a:t>   IN DEVELOPMENT</a:t>
            </a:r>
            <a:endParaRPr lang="en-US" sz="1100" dirty="0"/>
          </a:p>
        </p:txBody>
      </p:sp>
      <p:sp>
        <p:nvSpPr>
          <p:cNvPr id="10" name="Text 7"/>
          <p:cNvSpPr txBox="1"/>
          <p:nvPr/>
        </p:nvSpPr>
        <p:spPr>
          <a:xfrm>
            <a:off x="6067044" y="2249424"/>
            <a:ext cx="2208276" cy="420624"/>
          </a:xfrm>
          <a:prstGeom prst="roundRect">
            <a:avLst>
              <a:gd name="adj" fmla="val 52174"/>
            </a:avLst>
          </a:prstGeom>
          <a:solidFill>
            <a:srgbClr val="FFFFFF"/>
          </a:solidFill>
          <a:ln w="9525">
            <a:solidFill>
              <a:srgbClr val="C3C6BD"/>
            </a:solidFill>
          </a:ln>
        </p:spPr>
        <p:txBody>
          <a:bodyPr wrap="square" lIns="0" tIns="0" rIns="0" bIns="0" rtlCol="0" anchor="ctr"/>
          <a:lstStyle/>
          <a:p>
            <a:pPr algn="ctr" indent="0" marL="0">
              <a:buNone/>
            </a:pPr>
            <a:r>
              <a:rPr lang="en-US" sz="1100" b="1" dirty="0">
                <a:solidFill>
                  <a:srgbClr val="0D1813"/>
                </a:solidFill>
              </a:rPr>
              <a:t>Inventory systems</a:t>
            </a:r>
            <a:pPr algn="ctr" indent="0" marL="0">
              <a:buNone/>
            </a:pPr>
            <a:r>
              <a:rPr lang="en-US" sz="800" b="1" spc="100" kern="0" dirty="0">
                <a:solidFill>
                  <a:srgbClr val="5C6A62"/>
                </a:solidFill>
              </a:rPr>
              <a:t>   PLANNED</a:t>
            </a:r>
            <a:endParaRPr lang="en-US" sz="1100" dirty="0"/>
          </a:p>
        </p:txBody>
      </p:sp>
      <p:sp>
        <p:nvSpPr>
          <p:cNvPr id="11" name="Text 8"/>
          <p:cNvSpPr txBox="1"/>
          <p:nvPr/>
        </p:nvSpPr>
        <p:spPr>
          <a:xfrm>
            <a:off x="8403336" y="2249424"/>
            <a:ext cx="2052828" cy="420624"/>
          </a:xfrm>
          <a:prstGeom prst="roundRect">
            <a:avLst>
              <a:gd name="adj" fmla="val 52174"/>
            </a:avLst>
          </a:prstGeom>
          <a:solidFill>
            <a:srgbClr val="FFFFFF"/>
          </a:solidFill>
          <a:ln w="9525">
            <a:solidFill>
              <a:srgbClr val="C3C6BD"/>
            </a:solidFill>
          </a:ln>
        </p:spPr>
        <p:txBody>
          <a:bodyPr wrap="square" lIns="0" tIns="0" rIns="0" bIns="0" rtlCol="0" anchor="ctr"/>
          <a:lstStyle/>
          <a:p>
            <a:pPr algn="ctr" indent="0" marL="0">
              <a:buNone/>
            </a:pPr>
            <a:r>
              <a:rPr lang="en-US" sz="1100" b="1" dirty="0">
                <a:solidFill>
                  <a:srgbClr val="0D1813"/>
                </a:solidFill>
              </a:rPr>
              <a:t>Lead management</a:t>
            </a:r>
            <a:pPr algn="ctr" indent="0" marL="0">
              <a:buNone/>
            </a:pPr>
            <a:r>
              <a:rPr lang="en-US" sz="800" b="1" spc="100" kern="0" dirty="0">
                <a:solidFill>
                  <a:srgbClr val="5C6A62"/>
                </a:solidFill>
              </a:rPr>
              <a:t>   PLANNED</a:t>
            </a:r>
            <a:endParaRPr lang="en-US" sz="1100" dirty="0"/>
          </a:p>
        </p:txBody>
      </p:sp>
      <p:sp>
        <p:nvSpPr>
          <p:cNvPr id="12" name="Shape 9"/>
          <p:cNvSpPr/>
          <p:nvPr/>
        </p:nvSpPr>
        <p:spPr>
          <a:xfrm>
            <a:off x="548640" y="2971800"/>
            <a:ext cx="11094415" cy="713232"/>
          </a:xfrm>
          <a:prstGeom prst="roundRect">
            <a:avLst>
              <a:gd name="adj" fmla="val 15385"/>
            </a:avLst>
          </a:prstGeom>
          <a:solidFill>
            <a:srgbClr val="FFFFFF">
              <a:alpha val="75000"/>
            </a:srgbClr>
          </a:solidFill>
          <a:ln/>
        </p:spPr>
      </p:sp>
      <p:sp>
        <p:nvSpPr>
          <p:cNvPr id="13" name="Text 10"/>
          <p:cNvSpPr txBox="1"/>
          <p:nvPr/>
        </p:nvSpPr>
        <p:spPr>
          <a:xfrm>
            <a:off x="822960" y="2971800"/>
            <a:ext cx="1737360" cy="713232"/>
          </a:xfrm>
          <a:prstGeom prst="rect">
            <a:avLst/>
          </a:prstGeom>
          <a:noFill/>
          <a:ln/>
        </p:spPr>
        <p:txBody>
          <a:bodyPr wrap="square" lIns="0" tIns="0" rIns="0" bIns="0" rtlCol="0" anchor="ctr"/>
          <a:lstStyle/>
          <a:p>
            <a:pPr indent="0" marL="0">
              <a:buNone/>
            </a:pPr>
            <a:r>
              <a:rPr lang="en-US" sz="900" b="1" spc="180" kern="0" dirty="0">
                <a:solidFill>
                  <a:srgbClr val="5C6A62"/>
                </a:solidFill>
              </a:rPr>
              <a:t>DOMAINS</a:t>
            </a:r>
            <a:endParaRPr lang="en-US" sz="900" dirty="0"/>
          </a:p>
        </p:txBody>
      </p:sp>
      <p:sp>
        <p:nvSpPr>
          <p:cNvPr id="14" name="Text 11"/>
          <p:cNvSpPr txBox="1"/>
          <p:nvPr/>
        </p:nvSpPr>
        <p:spPr>
          <a:xfrm>
            <a:off x="2651760" y="3118104"/>
            <a:ext cx="1266444" cy="420624"/>
          </a:xfrm>
          <a:prstGeom prst="roundRect">
            <a:avLst>
              <a:gd name="adj" fmla="val 52174"/>
            </a:avLst>
          </a:prstGeom>
          <a:solidFill>
            <a:srgbClr val="033F2D"/>
          </a:solidFill>
          <a:ln/>
        </p:spPr>
        <p:txBody>
          <a:bodyPr wrap="square" lIns="0" tIns="0" rIns="0" bIns="0" rtlCol="0" anchor="ctr"/>
          <a:lstStyle/>
          <a:p>
            <a:pPr algn="ctr" indent="0" marL="0">
              <a:buNone/>
            </a:pPr>
            <a:r>
              <a:rPr lang="en-US" sz="1100" b="1" dirty="0">
                <a:solidFill>
                  <a:srgbClr val="EEF0E6"/>
                </a:solidFill>
              </a:rPr>
              <a:t>Finance</a:t>
            </a:r>
            <a:pPr algn="ctr" indent="0" marL="0">
              <a:buNone/>
            </a:pPr>
            <a:r>
              <a:rPr lang="en-US" sz="800" b="1" spc="100" kern="0" dirty="0">
                <a:solidFill>
                  <a:srgbClr val="D6E151"/>
                </a:solidFill>
              </a:rPr>
              <a:t>   LIVE</a:t>
            </a:r>
            <a:endParaRPr lang="en-US" sz="1100" dirty="0"/>
          </a:p>
        </p:txBody>
      </p:sp>
      <p:sp>
        <p:nvSpPr>
          <p:cNvPr id="15" name="Text 12"/>
          <p:cNvSpPr txBox="1"/>
          <p:nvPr/>
        </p:nvSpPr>
        <p:spPr>
          <a:xfrm>
            <a:off x="4046220" y="3118104"/>
            <a:ext cx="1586484" cy="420624"/>
          </a:xfrm>
          <a:prstGeom prst="roundRect">
            <a:avLst>
              <a:gd name="adj" fmla="val 52174"/>
            </a:avLst>
          </a:prstGeom>
          <a:solidFill>
            <a:srgbClr val="FFFFFF"/>
          </a:solidFill>
          <a:ln w="9525">
            <a:solidFill>
              <a:srgbClr val="C3C6BD"/>
            </a:solidFill>
          </a:ln>
        </p:spPr>
        <p:txBody>
          <a:bodyPr wrap="square" lIns="0" tIns="0" rIns="0" bIns="0" rtlCol="0" anchor="ctr"/>
          <a:lstStyle/>
          <a:p>
            <a:pPr algn="ctr" indent="0" marL="0">
              <a:buNone/>
            </a:pPr>
            <a:r>
              <a:rPr lang="en-US" sz="1100" b="1" dirty="0">
                <a:solidFill>
                  <a:srgbClr val="0D1813"/>
                </a:solidFill>
              </a:rPr>
              <a:t>Inventory</a:t>
            </a:r>
            <a:pPr algn="ctr" indent="0" marL="0">
              <a:buNone/>
            </a:pPr>
            <a:r>
              <a:rPr lang="en-US" sz="800" b="1" spc="100" kern="0" dirty="0">
                <a:solidFill>
                  <a:srgbClr val="5C6A62"/>
                </a:solidFill>
              </a:rPr>
              <a:t>   PLANNED</a:t>
            </a:r>
            <a:endParaRPr lang="en-US" sz="1100" dirty="0"/>
          </a:p>
        </p:txBody>
      </p:sp>
      <p:sp>
        <p:nvSpPr>
          <p:cNvPr id="16" name="Text 13"/>
          <p:cNvSpPr txBox="1"/>
          <p:nvPr/>
        </p:nvSpPr>
        <p:spPr>
          <a:xfrm>
            <a:off x="5760720" y="3118104"/>
            <a:ext cx="1275588" cy="420624"/>
          </a:xfrm>
          <a:prstGeom prst="roundRect">
            <a:avLst>
              <a:gd name="adj" fmla="val 52174"/>
            </a:avLst>
          </a:prstGeom>
          <a:solidFill>
            <a:srgbClr val="FFFFFF"/>
          </a:solidFill>
          <a:ln w="9525">
            <a:solidFill>
              <a:srgbClr val="C3C6BD"/>
            </a:solidFill>
          </a:ln>
        </p:spPr>
        <p:txBody>
          <a:bodyPr wrap="square" lIns="0" tIns="0" rIns="0" bIns="0" rtlCol="0" anchor="ctr"/>
          <a:lstStyle/>
          <a:p>
            <a:pPr algn="ctr" indent="0" marL="0">
              <a:buNone/>
            </a:pPr>
            <a:r>
              <a:rPr lang="en-US" sz="1100" b="1" dirty="0">
                <a:solidFill>
                  <a:srgbClr val="0D1813"/>
                </a:solidFill>
              </a:rPr>
              <a:t>Leads</a:t>
            </a:r>
            <a:pPr algn="ctr" indent="0" marL="0">
              <a:buNone/>
            </a:pPr>
            <a:r>
              <a:rPr lang="en-US" sz="800" b="1" spc="100" kern="0" dirty="0">
                <a:solidFill>
                  <a:srgbClr val="5C6A62"/>
                </a:solidFill>
              </a:rPr>
              <a:t>   PLANNED</a:t>
            </a:r>
            <a:endParaRPr lang="en-US" sz="1100" dirty="0"/>
          </a:p>
        </p:txBody>
      </p:sp>
      <p:sp>
        <p:nvSpPr>
          <p:cNvPr id="17" name="Shape 14"/>
          <p:cNvSpPr/>
          <p:nvPr/>
        </p:nvSpPr>
        <p:spPr>
          <a:xfrm>
            <a:off x="548640" y="3840480"/>
            <a:ext cx="11094415" cy="713232"/>
          </a:xfrm>
          <a:prstGeom prst="roundRect">
            <a:avLst>
              <a:gd name="adj" fmla="val 15385"/>
            </a:avLst>
          </a:prstGeom>
          <a:solidFill>
            <a:srgbClr val="FFFFFF">
              <a:alpha val="75000"/>
            </a:srgbClr>
          </a:solidFill>
          <a:ln/>
        </p:spPr>
      </p:sp>
      <p:sp>
        <p:nvSpPr>
          <p:cNvPr id="18" name="Text 15"/>
          <p:cNvSpPr txBox="1"/>
          <p:nvPr/>
        </p:nvSpPr>
        <p:spPr>
          <a:xfrm>
            <a:off x="822960" y="3840480"/>
            <a:ext cx="1737360" cy="713232"/>
          </a:xfrm>
          <a:prstGeom prst="rect">
            <a:avLst/>
          </a:prstGeom>
          <a:noFill/>
          <a:ln/>
        </p:spPr>
        <p:txBody>
          <a:bodyPr wrap="square" lIns="0" tIns="0" rIns="0" bIns="0" rtlCol="0" anchor="ctr"/>
          <a:lstStyle/>
          <a:p>
            <a:pPr indent="0" marL="0">
              <a:buNone/>
            </a:pPr>
            <a:r>
              <a:rPr lang="en-US" sz="900" b="1" spc="180" kern="0" dirty="0">
                <a:solidFill>
                  <a:srgbClr val="5C6A62"/>
                </a:solidFill>
              </a:rPr>
              <a:t>EXPERIENCE</a:t>
            </a:r>
            <a:endParaRPr lang="en-US" sz="900" dirty="0"/>
          </a:p>
        </p:txBody>
      </p:sp>
      <p:sp>
        <p:nvSpPr>
          <p:cNvPr id="19" name="Text 16"/>
          <p:cNvSpPr txBox="1"/>
          <p:nvPr/>
        </p:nvSpPr>
        <p:spPr>
          <a:xfrm>
            <a:off x="2651760" y="3986784"/>
            <a:ext cx="1810512" cy="420624"/>
          </a:xfrm>
          <a:prstGeom prst="roundRect">
            <a:avLst>
              <a:gd name="adj" fmla="val 52174"/>
            </a:avLst>
          </a:prstGeom>
          <a:solidFill>
            <a:srgbClr val="033F2D"/>
          </a:solidFill>
          <a:ln/>
        </p:spPr>
        <p:txBody>
          <a:bodyPr wrap="square" lIns="0" tIns="0" rIns="0" bIns="0" rtlCol="0" anchor="ctr"/>
          <a:lstStyle/>
          <a:p>
            <a:pPr algn="ctr" indent="0" marL="0">
              <a:buNone/>
            </a:pPr>
            <a:r>
              <a:rPr lang="en-US" sz="1100" b="1" dirty="0">
                <a:solidFill>
                  <a:srgbClr val="EEF0E6"/>
                </a:solidFill>
              </a:rPr>
              <a:t>Command centre</a:t>
            </a:r>
            <a:pPr algn="ctr" indent="0" marL="0">
              <a:buNone/>
            </a:pPr>
            <a:r>
              <a:rPr lang="en-US" sz="800" b="1" spc="100" kern="0" dirty="0">
                <a:solidFill>
                  <a:srgbClr val="D6E151"/>
                </a:solidFill>
              </a:rPr>
              <a:t>   LIVE</a:t>
            </a:r>
            <a:endParaRPr lang="en-US" sz="1100" dirty="0"/>
          </a:p>
        </p:txBody>
      </p:sp>
      <p:sp>
        <p:nvSpPr>
          <p:cNvPr id="20" name="Text 17"/>
          <p:cNvSpPr txBox="1"/>
          <p:nvPr/>
        </p:nvSpPr>
        <p:spPr>
          <a:xfrm>
            <a:off x="4590288" y="3986784"/>
            <a:ext cx="2276856" cy="420624"/>
          </a:xfrm>
          <a:prstGeom prst="roundRect">
            <a:avLst>
              <a:gd name="adj" fmla="val 52174"/>
            </a:avLst>
          </a:prstGeom>
          <a:solidFill>
            <a:srgbClr val="033F2D"/>
          </a:solidFill>
          <a:ln/>
        </p:spPr>
        <p:txBody>
          <a:bodyPr wrap="square" lIns="0" tIns="0" rIns="0" bIns="0" rtlCol="0" anchor="ctr"/>
          <a:lstStyle/>
          <a:p>
            <a:pPr algn="ctr" indent="0" marL="0">
              <a:buNone/>
            </a:pPr>
            <a:r>
              <a:rPr lang="en-US" sz="1100" b="1" dirty="0">
                <a:solidFill>
                  <a:srgbClr val="EEF0E6"/>
                </a:solidFill>
              </a:rPr>
              <a:t>Ask Clario assistant</a:t>
            </a:r>
            <a:pPr algn="ctr" indent="0" marL="0">
              <a:buNone/>
            </a:pPr>
            <a:r>
              <a:rPr lang="en-US" sz="800" b="1" spc="100" kern="0" dirty="0">
                <a:solidFill>
                  <a:srgbClr val="D6E151"/>
                </a:solidFill>
              </a:rPr>
              <a:t>   LIVE</a:t>
            </a:r>
            <a:endParaRPr lang="en-US" sz="1100" dirty="0"/>
          </a:p>
        </p:txBody>
      </p:sp>
      <p:sp>
        <p:nvSpPr>
          <p:cNvPr id="21" name="Shape 18"/>
          <p:cNvSpPr/>
          <p:nvPr/>
        </p:nvSpPr>
        <p:spPr>
          <a:xfrm>
            <a:off x="548640" y="4709160"/>
            <a:ext cx="11094415" cy="713232"/>
          </a:xfrm>
          <a:prstGeom prst="roundRect">
            <a:avLst>
              <a:gd name="adj" fmla="val 15385"/>
            </a:avLst>
          </a:prstGeom>
          <a:solidFill>
            <a:srgbClr val="FFFFFF">
              <a:alpha val="75000"/>
            </a:srgbClr>
          </a:solidFill>
          <a:ln/>
        </p:spPr>
      </p:sp>
      <p:sp>
        <p:nvSpPr>
          <p:cNvPr id="22" name="Text 19"/>
          <p:cNvSpPr txBox="1"/>
          <p:nvPr/>
        </p:nvSpPr>
        <p:spPr>
          <a:xfrm>
            <a:off x="822960" y="4709160"/>
            <a:ext cx="1737360" cy="713232"/>
          </a:xfrm>
          <a:prstGeom prst="rect">
            <a:avLst/>
          </a:prstGeom>
          <a:noFill/>
          <a:ln/>
        </p:spPr>
        <p:txBody>
          <a:bodyPr wrap="square" lIns="0" tIns="0" rIns="0" bIns="0" rtlCol="0" anchor="ctr"/>
          <a:lstStyle/>
          <a:p>
            <a:pPr indent="0" marL="0">
              <a:buNone/>
            </a:pPr>
            <a:r>
              <a:rPr lang="en-US" sz="900" b="1" spc="180" kern="0" dirty="0">
                <a:solidFill>
                  <a:srgbClr val="5C6A62"/>
                </a:solidFill>
              </a:rPr>
              <a:t>PLATFORM</a:t>
            </a:r>
            <a:endParaRPr lang="en-US" sz="900" dirty="0"/>
          </a:p>
        </p:txBody>
      </p:sp>
      <p:sp>
        <p:nvSpPr>
          <p:cNvPr id="23" name="Text 20"/>
          <p:cNvSpPr txBox="1"/>
          <p:nvPr/>
        </p:nvSpPr>
        <p:spPr>
          <a:xfrm>
            <a:off x="2651760" y="4855464"/>
            <a:ext cx="2976372" cy="420624"/>
          </a:xfrm>
          <a:prstGeom prst="roundRect">
            <a:avLst>
              <a:gd name="adj" fmla="val 52174"/>
            </a:avLst>
          </a:prstGeom>
          <a:solidFill>
            <a:srgbClr val="033F2D"/>
          </a:solidFill>
          <a:ln/>
        </p:spPr>
        <p:txBody>
          <a:bodyPr wrap="square" lIns="0" tIns="0" rIns="0" bIns="0" rtlCol="0" anchor="ctr"/>
          <a:lstStyle/>
          <a:p>
            <a:pPr algn="ctr" indent="0" marL="0">
              <a:buNone/>
            </a:pPr>
            <a:r>
              <a:rPr lang="en-US" sz="1100" b="1" dirty="0">
                <a:solidFill>
                  <a:srgbClr val="EEF0E6"/>
                </a:solidFill>
              </a:rPr>
              <a:t>Workspaces, roles &amp; isolation</a:t>
            </a:r>
            <a:pPr algn="ctr" indent="0" marL="0">
              <a:buNone/>
            </a:pPr>
            <a:r>
              <a:rPr lang="en-US" sz="800" b="1" spc="100" kern="0" dirty="0">
                <a:solidFill>
                  <a:srgbClr val="D6E151"/>
                </a:solidFill>
              </a:rPr>
              <a:t>   LIVE</a:t>
            </a:r>
            <a:endParaRPr lang="en-US" sz="1100" dirty="0"/>
          </a:p>
        </p:txBody>
      </p:sp>
      <p:sp>
        <p:nvSpPr>
          <p:cNvPr id="24" name="Text 21"/>
          <p:cNvSpPr txBox="1"/>
          <p:nvPr/>
        </p:nvSpPr>
        <p:spPr>
          <a:xfrm>
            <a:off x="548640" y="5715000"/>
            <a:ext cx="10058400" cy="274320"/>
          </a:xfrm>
          <a:prstGeom prst="rect">
            <a:avLst/>
          </a:prstGeom>
          <a:noFill/>
          <a:ln/>
        </p:spPr>
        <p:txBody>
          <a:bodyPr wrap="square" lIns="0" tIns="0" rIns="0" bIns="0" rtlCol="0" anchor="t"/>
          <a:lstStyle/>
          <a:p>
            <a:pPr indent="0" marL="0">
              <a:buNone/>
            </a:pPr>
            <a:r>
              <a:rPr lang="en-US" sz="950" dirty="0">
                <a:solidFill>
                  <a:srgbClr val="5C6A62"/>
                </a:solidFill>
              </a:rPr>
              <a:t>“Live” is available in the product today. “In development” and “Planned” describe the platform’s direction.</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2E9D6"/>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RESPONSIVE EXPERIENCE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The whole command centre, in your pocket.</a:t>
            </a:r>
            <a:endParaRPr lang="en-US" sz="2800" dirty="0"/>
          </a:p>
        </p:txBody>
      </p:sp>
      <p:sp>
        <p:nvSpPr>
          <p:cNvPr id="5" name="Text 2"/>
          <p:cNvSpPr txBox="1"/>
          <p:nvPr/>
        </p:nvSpPr>
        <p:spPr>
          <a:xfrm>
            <a:off x="548640" y="2514600"/>
            <a:ext cx="3749040" cy="1463040"/>
          </a:xfrm>
          <a:prstGeom prst="rect">
            <a:avLst/>
          </a:prstGeom>
          <a:noFill/>
          <a:ln/>
        </p:spPr>
        <p:txBody>
          <a:bodyPr wrap="square" lIns="0" tIns="0" rIns="0" bIns="0" rtlCol="0" anchor="t"/>
          <a:lstStyle/>
          <a:p>
            <a:pPr indent="0" marL="0">
              <a:lnSpc>
                <a:spcPct val="115000"/>
              </a:lnSpc>
              <a:buNone/>
            </a:pPr>
            <a:r>
              <a:rPr lang="en-US" sz="1300" dirty="0">
                <a:solidFill>
                  <a:srgbClr val="34433B"/>
                </a:solidFill>
              </a:rPr>
              <a:t>Every view — including Ask Clario — adapts to a phone, so owners can check cash or chase receivables between meetings.</a:t>
            </a:r>
            <a:endParaRPr lang="en-US" sz="1300" dirty="0"/>
          </a:p>
        </p:txBody>
      </p:sp>
      <p:pic>
        <p:nvPicPr>
          <p:cNvPr id="6" name="Image 1" descr="Clario on phones">    </p:cNvPr>
          <p:cNvPicPr>
            <a:picLocks noChangeAspect="1"/>
          </p:cNvPicPr>
          <p:nvPr/>
        </p:nvPicPr>
        <p:blipFill>
          <a:blip r:embed="rId2"/>
          <a:stretch>
            <a:fillRect/>
          </a:stretch>
        </p:blipFill>
        <p:spPr>
          <a:xfrm>
            <a:off x="4303014" y="1320546"/>
            <a:ext cx="7670292" cy="4331208"/>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BUSINESS VALUE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What it changes for the business.</a:t>
            </a:r>
            <a:endParaRPr lang="en-US" sz="2800" dirty="0"/>
          </a:p>
        </p:txBody>
      </p:sp>
      <p:sp>
        <p:nvSpPr>
          <p:cNvPr id="5" name="Shape 2"/>
          <p:cNvSpPr/>
          <p:nvPr/>
        </p:nvSpPr>
        <p:spPr>
          <a:xfrm>
            <a:off x="548640" y="1691640"/>
            <a:ext cx="3291840" cy="0"/>
          </a:xfrm>
          <a:prstGeom prst="line">
            <a:avLst/>
          </a:prstGeom>
          <a:noFill/>
          <a:ln w="9525">
            <a:solidFill>
              <a:srgbClr val="D3D5CC"/>
            </a:solidFill>
            <a:prstDash val="solid"/>
          </a:ln>
        </p:spPr>
      </p:sp>
      <p:sp>
        <p:nvSpPr>
          <p:cNvPr id="6" name="Text 3"/>
          <p:cNvSpPr txBox="1"/>
          <p:nvPr/>
        </p:nvSpPr>
        <p:spPr>
          <a:xfrm>
            <a:off x="548640" y="181965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Clarity without reports</a:t>
            </a:r>
            <a:endParaRPr lang="en-US" sz="1450" dirty="0"/>
          </a:p>
          <a:p>
            <a:pPr indent="0" marL="0">
              <a:spcAft>
                <a:spcPts val="300"/>
              </a:spcAft>
              <a:buNone/>
            </a:pPr>
            <a:r>
              <a:rPr lang="en-US" sz="1050" dirty="0">
                <a:solidFill>
                  <a:srgbClr val="5C6A62"/>
                </a:solidFill>
              </a:rPr>
              <a:t>Owners see performance, cash and receivables without building spreadsheets.</a:t>
            </a:r>
            <a:endParaRPr lang="en-US" sz="1450" dirty="0"/>
          </a:p>
        </p:txBody>
      </p:sp>
      <p:sp>
        <p:nvSpPr>
          <p:cNvPr id="7" name="Shape 4"/>
          <p:cNvSpPr/>
          <p:nvPr/>
        </p:nvSpPr>
        <p:spPr>
          <a:xfrm>
            <a:off x="4041648" y="1691640"/>
            <a:ext cx="3291840" cy="0"/>
          </a:xfrm>
          <a:prstGeom prst="line">
            <a:avLst/>
          </a:prstGeom>
          <a:noFill/>
          <a:ln w="9525">
            <a:solidFill>
              <a:srgbClr val="D3D5CC"/>
            </a:solidFill>
            <a:prstDash val="solid"/>
          </a:ln>
        </p:spPr>
      </p:sp>
      <p:sp>
        <p:nvSpPr>
          <p:cNvPr id="8" name="Text 5"/>
          <p:cNvSpPr txBox="1"/>
          <p:nvPr/>
        </p:nvSpPr>
        <p:spPr>
          <a:xfrm>
            <a:off x="4041648" y="181965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Answers you can trust</a:t>
            </a:r>
            <a:endParaRPr lang="en-US" sz="1450" dirty="0"/>
          </a:p>
          <a:p>
            <a:pPr indent="0" marL="0">
              <a:spcAft>
                <a:spcPts val="300"/>
              </a:spcAft>
              <a:buNone/>
            </a:pPr>
            <a:r>
              <a:rPr lang="en-US" sz="1050" dirty="0">
                <a:solidFill>
                  <a:srgbClr val="5C6A62"/>
                </a:solidFill>
              </a:rPr>
              <a:t>Every figure traces back to the books, with its date.</a:t>
            </a:r>
            <a:endParaRPr lang="en-US" sz="1450" dirty="0"/>
          </a:p>
        </p:txBody>
      </p:sp>
      <p:sp>
        <p:nvSpPr>
          <p:cNvPr id="9" name="Shape 6"/>
          <p:cNvSpPr/>
          <p:nvPr/>
        </p:nvSpPr>
        <p:spPr>
          <a:xfrm>
            <a:off x="548640" y="3017520"/>
            <a:ext cx="3291840" cy="0"/>
          </a:xfrm>
          <a:prstGeom prst="line">
            <a:avLst/>
          </a:prstGeom>
          <a:noFill/>
          <a:ln w="9525">
            <a:solidFill>
              <a:srgbClr val="D3D5CC"/>
            </a:solidFill>
            <a:prstDash val="solid"/>
          </a:ln>
        </p:spPr>
      </p:sp>
      <p:sp>
        <p:nvSpPr>
          <p:cNvPr id="10" name="Text 7"/>
          <p:cNvSpPr txBox="1"/>
          <p:nvPr/>
        </p:nvSpPr>
        <p:spPr>
          <a:xfrm>
            <a:off x="548640" y="314553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Guidance, in order</a:t>
            </a:r>
            <a:endParaRPr lang="en-US" sz="1450" dirty="0"/>
          </a:p>
          <a:p>
            <a:pPr indent="0" marL="0">
              <a:spcAft>
                <a:spcPts val="300"/>
              </a:spcAft>
              <a:buNone/>
            </a:pPr>
            <a:r>
              <a:rPr lang="en-US" sz="1050" dirty="0">
                <a:solidFill>
                  <a:srgbClr val="5C6A62"/>
                </a:solidFill>
              </a:rPr>
              <a:t>Signals and next steps turn numbers into a short list of decisions.</a:t>
            </a:r>
            <a:endParaRPr lang="en-US" sz="1450" dirty="0"/>
          </a:p>
        </p:txBody>
      </p:sp>
      <p:sp>
        <p:nvSpPr>
          <p:cNvPr id="11" name="Shape 8"/>
          <p:cNvSpPr/>
          <p:nvPr/>
        </p:nvSpPr>
        <p:spPr>
          <a:xfrm>
            <a:off x="4041648" y="3017520"/>
            <a:ext cx="3291840" cy="0"/>
          </a:xfrm>
          <a:prstGeom prst="line">
            <a:avLst/>
          </a:prstGeom>
          <a:noFill/>
          <a:ln w="9525">
            <a:solidFill>
              <a:srgbClr val="D3D5CC"/>
            </a:solidFill>
            <a:prstDash val="solid"/>
          </a:ln>
        </p:spPr>
      </p:sp>
      <p:sp>
        <p:nvSpPr>
          <p:cNvPr id="12" name="Text 9"/>
          <p:cNvSpPr txBox="1"/>
          <p:nvPr/>
        </p:nvSpPr>
        <p:spPr>
          <a:xfrm>
            <a:off x="4041648" y="314553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Built to grow</a:t>
            </a:r>
            <a:endParaRPr lang="en-US" sz="1450" dirty="0"/>
          </a:p>
          <a:p>
            <a:pPr indent="0" marL="0">
              <a:spcAft>
                <a:spcPts val="300"/>
              </a:spcAft>
              <a:buNone/>
            </a:pPr>
            <a:r>
              <a:rPr lang="en-US" sz="1050" dirty="0">
                <a:solidFill>
                  <a:srgbClr val="5C6A62"/>
                </a:solidFill>
              </a:rPr>
              <a:t>Each new system Crita connects becomes another module on the same platform.</a:t>
            </a:r>
            <a:endParaRPr lang="en-US" sz="1450" dirty="0"/>
          </a:p>
        </p:txBody>
      </p:sp>
      <p:pic>
        <p:nvPicPr>
          <p:cNvPr id="13" name="Image 1" descr="F:\Office Project\Crita Portfolio\portfolio\ppt\brand\c.png">    </p:cNvPr>
          <p:cNvPicPr>
            <a:picLocks noChangeAspect="1"/>
          </p:cNvPicPr>
          <p:nvPr/>
        </p:nvPicPr>
        <p:blipFill>
          <a:blip r:embed="rId2"/>
          <a:stretch>
            <a:fillRect/>
          </a:stretch>
        </p:blipFill>
        <p:spPr>
          <a:xfrm>
            <a:off x="548640" y="4567428"/>
            <a:ext cx="182880" cy="134417"/>
          </a:xfrm>
          <a:prstGeom prst="rect">
            <a:avLst/>
          </a:prstGeom>
        </p:spPr>
      </p:pic>
      <p:sp>
        <p:nvSpPr>
          <p:cNvPr id="14" name="Text 10"/>
          <p:cNvSpPr txBox="1"/>
          <p:nvPr/>
        </p:nvSpPr>
        <p:spPr>
          <a:xfrm>
            <a:off x="813816" y="4526280"/>
            <a:ext cx="54864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ENGINEERING HIGHLIGHTS</a:t>
            </a:r>
            <a:endParaRPr lang="en-US" sz="900" dirty="0"/>
          </a:p>
        </p:txBody>
      </p:sp>
      <p:sp>
        <p:nvSpPr>
          <p:cNvPr id="15" name="Text 11"/>
          <p:cNvSpPr txBox="1"/>
          <p:nvPr/>
        </p:nvSpPr>
        <p:spPr>
          <a:xfrm>
            <a:off x="548640" y="4892040"/>
            <a:ext cx="6675120" cy="1188720"/>
          </a:xfrm>
          <a:prstGeom prst="rect">
            <a:avLst/>
          </a:prstGeom>
          <a:noFill/>
          <a:ln/>
        </p:spPr>
        <p:txBody>
          <a:bodyPr wrap="square" lIns="0" tIns="0" rIns="0" bIns="0" rtlCol="0" anchor="t"/>
          <a:lstStyle/>
          <a:p>
            <a:pPr marL="165100" indent="-165100">
              <a:spcAft>
                <a:spcPts val="400"/>
              </a:spcAft>
              <a:buSzPct val="100000"/>
              <a:buChar char="•"/>
            </a:pPr>
            <a:r>
              <a:rPr lang="en-US" sz="1150" dirty="0">
                <a:solidFill>
                  <a:srgbClr val="34433B"/>
                </a:solidFill>
              </a:rPr>
              <a:t>Deterministic finance calculations — the assistant explains figures, never invents them</a:t>
            </a:r>
            <a:endParaRPr lang="en-US" sz="1150" dirty="0"/>
          </a:p>
          <a:p>
            <a:pPr marL="165100" indent="-165100">
              <a:spcAft>
                <a:spcPts val="400"/>
              </a:spcAft>
              <a:buSzPct val="100000"/>
              <a:buChar char="•"/>
            </a:pPr>
            <a:r>
              <a:rPr lang="en-US" sz="1150" dirty="0">
                <a:solidFill>
                  <a:srgbClr val="34433B"/>
                </a:solidFill>
              </a:rPr>
              <a:t>Server-side OAuth with encrypted tokens</a:t>
            </a:r>
            <a:endParaRPr lang="en-US" sz="1150" dirty="0"/>
          </a:p>
          <a:p>
            <a:pPr marL="165100" indent="-165100">
              <a:spcAft>
                <a:spcPts val="400"/>
              </a:spcAft>
              <a:buSzPct val="100000"/>
              <a:buChar char="•"/>
            </a:pPr>
            <a:r>
              <a:rPr lang="en-US" sz="1150" dirty="0">
                <a:solidFill>
                  <a:srgbClr val="34433B"/>
                </a:solidFill>
              </a:rPr>
              <a:t>Workspace isolation enforced on the server</a:t>
            </a:r>
            <a:endParaRPr lang="en-US" sz="1150" dirty="0"/>
          </a:p>
        </p:txBody>
      </p:sp>
      <p:pic>
        <p:nvPicPr>
          <p:cNvPr id="16" name="Image 2" descr="F:\Office Project\Crita Portfolio\portfolio\ppt\brand\c.png">    </p:cNvPr>
          <p:cNvPicPr>
            <a:picLocks noChangeAspect="1"/>
          </p:cNvPicPr>
          <p:nvPr/>
        </p:nvPicPr>
        <p:blipFill>
          <a:blip r:embed="rId3"/>
          <a:stretch>
            <a:fillRect/>
          </a:stretch>
        </p:blipFill>
        <p:spPr>
          <a:xfrm>
            <a:off x="7818120" y="544068"/>
            <a:ext cx="182880" cy="134417"/>
          </a:xfrm>
          <a:prstGeom prst="rect">
            <a:avLst/>
          </a:prstGeom>
        </p:spPr>
      </p:pic>
      <p:sp>
        <p:nvSpPr>
          <p:cNvPr id="17" name="Text 12"/>
          <p:cNvSpPr txBox="1"/>
          <p:nvPr/>
        </p:nvSpPr>
        <p:spPr>
          <a:xfrm>
            <a:off x="8083296" y="502920"/>
            <a:ext cx="3824935" cy="219456"/>
          </a:xfrm>
          <a:prstGeom prst="rect">
            <a:avLst/>
          </a:prstGeom>
          <a:noFill/>
          <a:ln/>
        </p:spPr>
        <p:txBody>
          <a:bodyPr wrap="square" lIns="0" tIns="0" rIns="0" bIns="0" rtlCol="0" anchor="ctr"/>
          <a:lstStyle/>
          <a:p>
            <a:pPr indent="0" marL="0">
              <a:buNone/>
            </a:pPr>
            <a:r>
              <a:rPr lang="en-US" sz="900" b="1" spc="200" kern="0" dirty="0">
                <a:solidFill>
                  <a:srgbClr val="5C6A62"/>
                </a:solidFill>
              </a:rPr>
              <a:t>TECHNOLOGY &amp; DELIVERY</a:t>
            </a:r>
            <a:endParaRPr lang="en-US" sz="900" dirty="0"/>
          </a:p>
        </p:txBody>
      </p:sp>
      <p:sp>
        <p:nvSpPr>
          <p:cNvPr id="18" name="Text 13"/>
          <p:cNvSpPr txBox="1"/>
          <p:nvPr/>
        </p:nvSpPr>
        <p:spPr>
          <a:xfrm>
            <a:off x="7818120" y="896112"/>
            <a:ext cx="585216"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React</a:t>
            </a:r>
            <a:endParaRPr lang="en-US" sz="950" dirty="0"/>
          </a:p>
        </p:txBody>
      </p:sp>
      <p:sp>
        <p:nvSpPr>
          <p:cNvPr id="19" name="Text 14"/>
          <p:cNvSpPr txBox="1"/>
          <p:nvPr/>
        </p:nvSpPr>
        <p:spPr>
          <a:xfrm>
            <a:off x="8485632" y="896112"/>
            <a:ext cx="896112"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TypeScript</a:t>
            </a:r>
            <a:endParaRPr lang="en-US" sz="950" dirty="0"/>
          </a:p>
        </p:txBody>
      </p:sp>
      <p:sp>
        <p:nvSpPr>
          <p:cNvPr id="20" name="Text 15"/>
          <p:cNvSpPr txBox="1"/>
          <p:nvPr/>
        </p:nvSpPr>
        <p:spPr>
          <a:xfrm>
            <a:off x="9464040" y="896112"/>
            <a:ext cx="896112"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Python API</a:t>
            </a:r>
            <a:endParaRPr lang="en-US" sz="950" dirty="0"/>
          </a:p>
        </p:txBody>
      </p:sp>
      <p:sp>
        <p:nvSpPr>
          <p:cNvPr id="21" name="Text 16"/>
          <p:cNvSpPr txBox="1"/>
          <p:nvPr/>
        </p:nvSpPr>
        <p:spPr>
          <a:xfrm>
            <a:off x="10442448" y="896112"/>
            <a:ext cx="896112"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PostgreSQL</a:t>
            </a:r>
            <a:endParaRPr lang="en-US" sz="950" dirty="0"/>
          </a:p>
        </p:txBody>
      </p:sp>
      <p:sp>
        <p:nvSpPr>
          <p:cNvPr id="22" name="Text 17"/>
          <p:cNvSpPr txBox="1"/>
          <p:nvPr/>
        </p:nvSpPr>
        <p:spPr>
          <a:xfrm>
            <a:off x="7818120" y="1261872"/>
            <a:ext cx="1144829"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Zoho Books API</a:t>
            </a:r>
            <a:endParaRPr lang="en-US" sz="950" dirty="0"/>
          </a:p>
        </p:txBody>
      </p:sp>
      <p:sp>
        <p:nvSpPr>
          <p:cNvPr id="23" name="Text 18"/>
          <p:cNvSpPr txBox="1"/>
          <p:nvPr/>
        </p:nvSpPr>
        <p:spPr>
          <a:xfrm>
            <a:off x="9045245" y="1261872"/>
            <a:ext cx="1580083"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LLM with scoped tools</a:t>
            </a:r>
            <a:endParaRPr lang="en-US" sz="950" dirty="0"/>
          </a:p>
        </p:txBody>
      </p:sp>
      <p:sp>
        <p:nvSpPr>
          <p:cNvPr id="24" name="Shape 19"/>
          <p:cNvSpPr/>
          <p:nvPr/>
        </p:nvSpPr>
        <p:spPr>
          <a:xfrm>
            <a:off x="7818120" y="3931920"/>
            <a:ext cx="3824935" cy="2286000"/>
          </a:xfrm>
          <a:prstGeom prst="roundRect">
            <a:avLst>
              <a:gd name="adj" fmla="val 5600"/>
            </a:avLst>
          </a:prstGeom>
          <a:solidFill>
            <a:srgbClr val="06120D"/>
          </a:solidFill>
          <a:ln/>
        </p:spPr>
      </p:sp>
      <p:pic>
        <p:nvPicPr>
          <p:cNvPr id="25" name="Image 3" descr="F:\Office Project\Crita Portfolio\portfolio\ppt\brand\c.png">    </p:cNvPr>
          <p:cNvPicPr>
            <a:picLocks noChangeAspect="1"/>
          </p:cNvPicPr>
          <p:nvPr/>
        </p:nvPicPr>
        <p:blipFill>
          <a:blip r:embed="rId4"/>
          <a:stretch>
            <a:fillRect/>
          </a:stretch>
        </p:blipFill>
        <p:spPr>
          <a:xfrm>
            <a:off x="8092440" y="4201668"/>
            <a:ext cx="182880" cy="134417"/>
          </a:xfrm>
          <a:prstGeom prst="rect">
            <a:avLst/>
          </a:prstGeom>
        </p:spPr>
      </p:pic>
      <p:sp>
        <p:nvSpPr>
          <p:cNvPr id="26" name="Text 20"/>
          <p:cNvSpPr txBox="1"/>
          <p:nvPr/>
        </p:nvSpPr>
        <p:spPr>
          <a:xfrm>
            <a:off x="8357616" y="4160520"/>
            <a:ext cx="3276295" cy="219456"/>
          </a:xfrm>
          <a:prstGeom prst="rect">
            <a:avLst/>
          </a:prstGeom>
          <a:noFill/>
          <a:ln/>
        </p:spPr>
        <p:txBody>
          <a:bodyPr wrap="square" lIns="0" tIns="0" rIns="0" bIns="0" rtlCol="0" anchor="ctr"/>
          <a:lstStyle/>
          <a:p>
            <a:pPr indent="0" marL="0">
              <a:buNone/>
            </a:pPr>
            <a:r>
              <a:rPr lang="en-US" sz="900" b="1" spc="200" kern="0" dirty="0">
                <a:solidFill>
                  <a:srgbClr val="8C938B"/>
                </a:solidFill>
              </a:rPr>
              <a:t>LIVE PRODUCT</a:t>
            </a:r>
            <a:endParaRPr lang="en-US" sz="900" dirty="0"/>
          </a:p>
        </p:txBody>
      </p:sp>
      <p:sp>
        <p:nvSpPr>
          <p:cNvPr id="27" name="Text 21">
            <a:hlinkClick r:id="rId5" tooltip="Clario"/>
          </p:cNvPr>
          <p:cNvSpPr txBox="1"/>
          <p:nvPr/>
        </p:nvSpPr>
        <p:spPr>
          <a:xfrm>
            <a:off x="8092440" y="4498848"/>
            <a:ext cx="3276295" cy="365760"/>
          </a:xfrm>
          <a:prstGeom prst="rect">
            <a:avLst/>
          </a:prstGeom>
          <a:noFill/>
          <a:ln/>
        </p:spPr>
        <p:txBody>
          <a:bodyPr wrap="square" lIns="0" tIns="0" rIns="0" bIns="0" rtlCol="0" anchor="t"/>
          <a:lstStyle/>
          <a:p>
            <a:pPr indent="0" marL="0">
              <a:buNone/>
            </a:pPr>
            <a:r>
              <a:rPr lang="en-US" sz="1600" b="1" u="sng" dirty="0">
                <a:solidFill>
                  <a:srgbClr val="D6E151"/>
                </a:solidFill>
                <a:hlinkClick r:id="rId5" invalidUrl="" action="" tgtFrame="" tooltip="Clario" history="1" highlightClick="0" endSnd="0">
                  <a:extLst>
                    <a:ext uri="{A12FA001-AC4F-418D-AE19-62706E023703}">
                      <ahyp:hlinkClr xmlns:ahyp="http://schemas.microsoft.com/office/drawing/2018/hyperlinkcolor" val="tx"/>
                    </a:ext>
                  </a:extLst>
                </a:hlinkClick>
              </a:rPr>
              <a:t>View live product →</a:t>
            </a:r>
            <a:endParaRPr lang="en-US" sz="1600" dirty="0"/>
          </a:p>
        </p:txBody>
      </p:sp>
      <p:sp>
        <p:nvSpPr>
          <p:cNvPr id="28" name="Text 22"/>
          <p:cNvSpPr txBox="1"/>
          <p:nvPr/>
        </p:nvSpPr>
        <p:spPr>
          <a:xfrm>
            <a:off x="8092440" y="4873752"/>
            <a:ext cx="3276295" cy="228600"/>
          </a:xfrm>
          <a:prstGeom prst="rect">
            <a:avLst/>
          </a:prstGeom>
          <a:noFill/>
          <a:ln/>
        </p:spPr>
        <p:txBody>
          <a:bodyPr wrap="square" lIns="0" tIns="0" rIns="0" bIns="0" rtlCol="0" anchor="t"/>
          <a:lstStyle/>
          <a:p>
            <a:pPr indent="0" marL="0">
              <a:buNone/>
            </a:pPr>
            <a:r>
              <a:rPr lang="en-US" sz="900" dirty="0">
                <a:solidFill>
                  <a:srgbClr val="8C938B"/>
                </a:solidFill>
              </a:rPr>
              <a:t>Clario</a:t>
            </a:r>
            <a:endParaRPr lang="en-US" sz="900" dirty="0"/>
          </a:p>
        </p:txBody>
      </p:sp>
      <p:sp>
        <p:nvSpPr>
          <p:cNvPr id="29" name="Shape 23">
            <a:hlinkClick r:id="rId6" tooltip="Clario"/>
          </p:cNvPr>
          <p:cNvSpPr/>
          <p:nvPr/>
        </p:nvSpPr>
        <p:spPr>
          <a:xfrm>
            <a:off x="8092440" y="4873752"/>
            <a:ext cx="521208" cy="228600"/>
          </a:xfrm>
          <a:prstGeom prst="rect">
            <a:avLst/>
          </a:prstGeom>
          <a:solidFill>
            <a:srgbClr val="FFFFFF">
              <a:alpha val="0"/>
            </a:srgbClr>
          </a:solidFill>
          <a:ln/>
        </p:spPr>
      </p:sp>
      <p:sp>
        <p:nvSpPr>
          <p:cNvPr id="30" name="Text 24"/>
          <p:cNvSpPr txBox="1"/>
          <p:nvPr/>
        </p:nvSpPr>
        <p:spPr>
          <a:xfrm>
            <a:off x="8092440" y="5257800"/>
            <a:ext cx="3276295" cy="731520"/>
          </a:xfrm>
          <a:prstGeom prst="rect">
            <a:avLst/>
          </a:prstGeom>
          <a:noFill/>
          <a:ln/>
        </p:spPr>
        <p:txBody>
          <a:bodyPr wrap="square" lIns="0" tIns="0" rIns="0" bIns="0" rtlCol="0" anchor="t"/>
          <a:lstStyle/>
          <a:p>
            <a:pPr indent="0" marL="0">
              <a:buNone/>
            </a:pPr>
            <a:r>
              <a:rPr lang="en-US" sz="1050" dirty="0">
                <a:solidFill>
                  <a:srgbClr val="BFC4BA"/>
                </a:solidFill>
              </a:rPr>
              <a:t>Live demo: Workspace owner views.</a:t>
            </a:r>
            <a:endParaRPr lang="en-US" sz="1050" dirty="0"/>
          </a:p>
        </p:txBody>
      </p:sp>
      <p:sp>
        <p:nvSpPr>
          <p:cNvPr id="31" name="Text 25"/>
          <p:cNvSpPr txBox="1"/>
          <p:nvPr/>
        </p:nvSpPr>
        <p:spPr>
          <a:xfrm>
            <a:off x="7818120" y="6272784"/>
            <a:ext cx="3824935" cy="274320"/>
          </a:xfrm>
          <a:prstGeom prst="rect">
            <a:avLst/>
          </a:prstGeom>
          <a:noFill/>
          <a:ln/>
        </p:spPr>
        <p:txBody>
          <a:bodyPr wrap="square" lIns="0" tIns="0" rIns="0" bIns="0" rtlCol="0" anchor="t"/>
          <a:lstStyle/>
          <a:p>
            <a:pPr indent="0" marL="0">
              <a:buNone/>
            </a:pPr>
            <a:r>
              <a:rPr lang="en-US" sz="800" dirty="0">
                <a:solidFill>
                  <a:srgbClr val="5C6A62"/>
                </a:solidFill>
              </a:rPr>
              <a:t>Shown with a sample company and test data.</a:t>
            </a:r>
            <a:endParaRPr lang="en-US" sz="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DFE4EC"/>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89788"/>
            <a:ext cx="182880" cy="134417"/>
          </a:xfrm>
          <a:prstGeom prst="rect">
            <a:avLst/>
          </a:prstGeom>
        </p:spPr>
      </p:pic>
      <p:sp>
        <p:nvSpPr>
          <p:cNvPr id="3" name="Text 0"/>
          <p:cNvSpPr txBox="1"/>
          <p:nvPr/>
        </p:nvSpPr>
        <p:spPr>
          <a:xfrm>
            <a:off x="813816" y="548640"/>
            <a:ext cx="4754880" cy="219456"/>
          </a:xfrm>
          <a:prstGeom prst="rect">
            <a:avLst/>
          </a:prstGeom>
          <a:noFill/>
          <a:ln/>
        </p:spPr>
        <p:txBody>
          <a:bodyPr wrap="square" lIns="0" tIns="0" rIns="0" bIns="0" rtlCol="0" anchor="ctr"/>
          <a:lstStyle/>
          <a:p>
            <a:pPr indent="0" marL="0">
              <a:buNone/>
            </a:pPr>
            <a:r>
              <a:rPr lang="en-US" sz="900" b="1" spc="200" kern="0" dirty="0">
                <a:solidFill>
                  <a:srgbClr val="5C6A62"/>
                </a:solidFill>
              </a:rPr>
              <a:t>04 — WAREHOUSE &amp; INVENTORY MANAGEMENT</a:t>
            </a:r>
            <a:endParaRPr lang="en-US" sz="900" dirty="0"/>
          </a:p>
        </p:txBody>
      </p:sp>
      <p:sp>
        <p:nvSpPr>
          <p:cNvPr id="4" name="Text 1"/>
          <p:cNvSpPr/>
          <p:nvPr>
            <p:ph idx="101" type="title" hasCustomPrompt="1"/>
          </p:nvPr>
        </p:nvSpPr>
        <p:spPr>
          <a:xfrm>
            <a:off x="548640" y="896112"/>
            <a:ext cx="4800600" cy="1481328"/>
          </a:xfrm>
          <a:prstGeom prst="rect">
            <a:avLst/>
          </a:prstGeom>
          <a:noFill/>
          <a:ln/>
        </p:spPr>
        <p:txBody>
          <a:bodyPr wrap="square" lIns="0" tIns="0" rIns="0" bIns="0" rtlCol="0" anchor="t"/>
          <a:lstStyle/>
          <a:p>
            <a:pPr algn="l" indent="0" marL="0">
              <a:lnSpc>
                <a:spcPct val="92000"/>
              </a:lnSpc>
              <a:buNone/>
            </a:pPr>
            <a:r>
              <a:rPr lang="en-US" sz="4000" b="1" spc="-100" kern="0" dirty="0">
                <a:solidFill>
                  <a:srgbClr val="0D1813"/>
                </a:solidFill>
              </a:rPr>
              <a:t>City Threads</a:t>
            </a:r>
            <a:endParaRPr lang="en-US" sz="4000" dirty="0"/>
          </a:p>
        </p:txBody>
      </p:sp>
      <p:sp>
        <p:nvSpPr>
          <p:cNvPr id="5" name="Text 2"/>
          <p:cNvSpPr txBox="1"/>
          <p:nvPr/>
        </p:nvSpPr>
        <p:spPr>
          <a:xfrm>
            <a:off x="548640" y="1883664"/>
            <a:ext cx="4572000" cy="777240"/>
          </a:xfrm>
          <a:prstGeom prst="rect">
            <a:avLst/>
          </a:prstGeom>
          <a:noFill/>
          <a:ln/>
        </p:spPr>
        <p:txBody>
          <a:bodyPr wrap="square" lIns="0" tIns="0" rIns="0" bIns="0" rtlCol="0" anchor="t"/>
          <a:lstStyle/>
          <a:p>
            <a:pPr indent="0" marL="0">
              <a:lnSpc>
                <a:spcPct val="108000"/>
              </a:lnSpc>
              <a:buNone/>
            </a:pPr>
            <a:r>
              <a:rPr lang="en-US" sz="1650" dirty="0">
                <a:solidFill>
                  <a:srgbClr val="0D1813"/>
                </a:solidFill>
                <a:latin typeface="Satoshi Medium" pitchFamily="34" charset="0"/>
                <a:ea typeface="Satoshi Medium" pitchFamily="34" charset="-122"/>
                <a:cs typeface="Satoshi Medium" pitchFamily="34" charset="-120"/>
              </a:rPr>
              <a:t>Every lot, every bin, every dispatch — accounted for.</a:t>
            </a:r>
            <a:endParaRPr lang="en-US" sz="1650" dirty="0"/>
          </a:p>
        </p:txBody>
      </p:sp>
      <p:sp>
        <p:nvSpPr>
          <p:cNvPr id="6" name="Text 3"/>
          <p:cNvSpPr txBox="1"/>
          <p:nvPr/>
        </p:nvSpPr>
        <p:spPr>
          <a:xfrm>
            <a:off x="548640" y="2706624"/>
            <a:ext cx="4572000" cy="1325880"/>
          </a:xfrm>
          <a:prstGeom prst="rect">
            <a:avLst/>
          </a:prstGeom>
          <a:noFill/>
          <a:ln/>
        </p:spPr>
        <p:txBody>
          <a:bodyPr wrap="square" lIns="0" tIns="0" rIns="0" bIns="0" rtlCol="0" anchor="t"/>
          <a:lstStyle/>
          <a:p>
            <a:pPr indent="0" marL="0">
              <a:lnSpc>
                <a:spcPct val="115000"/>
              </a:lnSpc>
              <a:buNone/>
            </a:pPr>
            <a:r>
              <a:rPr lang="en-US" sz="1100" dirty="0">
                <a:solidFill>
                  <a:srgbClr val="34433B"/>
                </a:solidFill>
              </a:rPr>
              <a:t>A warehouse management system for a textile distributor: barcoded stock units, a visual map of every rack and bin, and an order-to-dispatch flow — with a one-handed phone app for the warehouse floor.</a:t>
            </a:r>
            <a:endParaRPr lang="en-US" sz="1100" dirty="0"/>
          </a:p>
        </p:txBody>
      </p:sp>
      <p:sp>
        <p:nvSpPr>
          <p:cNvPr id="7" name="Shape 4"/>
          <p:cNvSpPr/>
          <p:nvPr/>
        </p:nvSpPr>
        <p:spPr>
          <a:xfrm>
            <a:off x="548640" y="4754880"/>
            <a:ext cx="4572000" cy="0"/>
          </a:xfrm>
          <a:prstGeom prst="line">
            <a:avLst/>
          </a:prstGeom>
          <a:noFill/>
          <a:ln w="9525">
            <a:solidFill>
              <a:srgbClr val="D3D5CC"/>
            </a:solidFill>
            <a:prstDash val="solid"/>
          </a:ln>
        </p:spPr>
      </p:sp>
      <p:sp>
        <p:nvSpPr>
          <p:cNvPr id="8" name="Text 5"/>
          <p:cNvSpPr txBox="1"/>
          <p:nvPr/>
        </p:nvSpPr>
        <p:spPr>
          <a:xfrm>
            <a:off x="548640" y="4901184"/>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CLIENT</a:t>
            </a:r>
            <a:endParaRPr lang="en-US" sz="800" dirty="0"/>
          </a:p>
          <a:p>
            <a:pPr indent="0" marL="0">
              <a:spcAft>
                <a:spcPts val="200"/>
              </a:spcAft>
              <a:buNone/>
            </a:pPr>
            <a:r>
              <a:rPr lang="en-US" sz="1100" b="1" dirty="0">
                <a:solidFill>
                  <a:srgbClr val="0D1813"/>
                </a:solidFill>
              </a:rPr>
              <a:t>City Threads Textiles</a:t>
            </a:r>
            <a:endParaRPr lang="en-US" sz="800" dirty="0"/>
          </a:p>
        </p:txBody>
      </p:sp>
      <p:sp>
        <p:nvSpPr>
          <p:cNvPr id="9" name="Text 6"/>
          <p:cNvSpPr txBox="1"/>
          <p:nvPr/>
        </p:nvSpPr>
        <p:spPr>
          <a:xfrm>
            <a:off x="2926080" y="4901184"/>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SECTOR</a:t>
            </a:r>
            <a:endParaRPr lang="en-US" sz="800" dirty="0"/>
          </a:p>
          <a:p>
            <a:pPr indent="0" marL="0">
              <a:spcAft>
                <a:spcPts val="200"/>
              </a:spcAft>
              <a:buNone/>
            </a:pPr>
            <a:r>
              <a:rPr lang="en-US" sz="1100" b="1" dirty="0">
                <a:solidFill>
                  <a:srgbClr val="0D1813"/>
                </a:solidFill>
              </a:rPr>
              <a:t>Textile distribution</a:t>
            </a:r>
            <a:endParaRPr lang="en-US" sz="800" dirty="0"/>
          </a:p>
        </p:txBody>
      </p:sp>
      <p:sp>
        <p:nvSpPr>
          <p:cNvPr id="10" name="Text 7"/>
          <p:cNvSpPr txBox="1"/>
          <p:nvPr/>
        </p:nvSpPr>
        <p:spPr>
          <a:xfrm>
            <a:off x="548640" y="5596128"/>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PLATFORM</a:t>
            </a:r>
            <a:endParaRPr lang="en-US" sz="800" dirty="0"/>
          </a:p>
          <a:p>
            <a:pPr indent="0" marL="0">
              <a:spcAft>
                <a:spcPts val="200"/>
              </a:spcAft>
              <a:buNone/>
            </a:pPr>
            <a:r>
              <a:rPr lang="en-US" sz="1100" b="1" dirty="0">
                <a:solidFill>
                  <a:srgbClr val="0D1813"/>
                </a:solidFill>
              </a:rPr>
              <a:t>Web · Android</a:t>
            </a:r>
            <a:endParaRPr lang="en-US" sz="800" dirty="0"/>
          </a:p>
        </p:txBody>
      </p:sp>
      <p:sp>
        <p:nvSpPr>
          <p:cNvPr id="11" name="Text 8"/>
          <p:cNvSpPr txBox="1"/>
          <p:nvPr/>
        </p:nvSpPr>
        <p:spPr>
          <a:xfrm>
            <a:off x="2926080" y="5596128"/>
            <a:ext cx="2240280" cy="6400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ROLES</a:t>
            </a:r>
            <a:endParaRPr lang="en-US" sz="800" dirty="0"/>
          </a:p>
          <a:p>
            <a:pPr indent="0" marL="0">
              <a:spcAft>
                <a:spcPts val="200"/>
              </a:spcAft>
              <a:buNone/>
            </a:pPr>
            <a:r>
              <a:rPr lang="en-US" sz="1100" b="1" dirty="0">
                <a:solidFill>
                  <a:srgbClr val="0D1813"/>
                </a:solidFill>
              </a:rPr>
              <a:t>Administrator · Warehouse Executive</a:t>
            </a:r>
            <a:endParaRPr lang="en-US" sz="800" dirty="0"/>
          </a:p>
        </p:txBody>
      </p:sp>
      <p:pic>
        <p:nvPicPr>
          <p:cNvPr id="12" name="Image 1" descr="City Threads on desktop and mobile">    </p:cNvPr>
          <p:cNvPicPr>
            <a:picLocks noChangeAspect="1"/>
          </p:cNvPicPr>
          <p:nvPr/>
        </p:nvPicPr>
        <p:blipFill>
          <a:blip r:embed="rId2"/>
          <a:stretch>
            <a:fillRect/>
          </a:stretch>
        </p:blipFill>
        <p:spPr>
          <a:xfrm>
            <a:off x="5162702" y="1333195"/>
            <a:ext cx="6819595" cy="4356202"/>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89788"/>
            <a:ext cx="182880" cy="134417"/>
          </a:xfrm>
          <a:prstGeom prst="rect">
            <a:avLst/>
          </a:prstGeom>
        </p:spPr>
      </p:pic>
      <p:sp>
        <p:nvSpPr>
          <p:cNvPr id="3" name="Text 0"/>
          <p:cNvSpPr txBox="1"/>
          <p:nvPr/>
        </p:nvSpPr>
        <p:spPr>
          <a:xfrm>
            <a:off x="813816" y="548640"/>
            <a:ext cx="45720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THE CHALLENGE</a:t>
            </a:r>
            <a:endParaRPr lang="en-US" sz="900" dirty="0"/>
          </a:p>
        </p:txBody>
      </p:sp>
      <p:sp>
        <p:nvSpPr>
          <p:cNvPr id="4" name="Text 1"/>
          <p:cNvSpPr txBox="1"/>
          <p:nvPr/>
        </p:nvSpPr>
        <p:spPr>
          <a:xfrm>
            <a:off x="548640" y="841248"/>
            <a:ext cx="4800600" cy="868680"/>
          </a:xfrm>
          <a:prstGeom prst="rect">
            <a:avLst/>
          </a:prstGeom>
          <a:noFill/>
          <a:ln/>
        </p:spPr>
        <p:txBody>
          <a:bodyPr wrap="square" lIns="0" tIns="0" rIns="0" bIns="0" rtlCol="0" anchor="t"/>
          <a:lstStyle/>
          <a:p>
            <a:pPr indent="0" marL="0">
              <a:lnSpc>
                <a:spcPct val="100000"/>
              </a:lnSpc>
              <a:buNone/>
            </a:pPr>
            <a:r>
              <a:rPr lang="en-US" sz="1900" b="1" spc="-40" kern="0" dirty="0">
                <a:solidFill>
                  <a:srgbClr val="0D1813"/>
                </a:solidFill>
              </a:rPr>
              <a:t>Two warehouses. A fragmented inventory process.</a:t>
            </a:r>
            <a:endParaRPr lang="en-US" sz="1900" dirty="0"/>
          </a:p>
        </p:txBody>
      </p:sp>
      <p:sp>
        <p:nvSpPr>
          <p:cNvPr id="5" name="Text 2"/>
          <p:cNvSpPr txBox="1"/>
          <p:nvPr/>
        </p:nvSpPr>
        <p:spPr>
          <a:xfrm>
            <a:off x="548640" y="1755648"/>
            <a:ext cx="4800600" cy="1600200"/>
          </a:xfrm>
          <a:prstGeom prst="rect">
            <a:avLst/>
          </a:prstGeom>
          <a:noFill/>
          <a:ln/>
        </p:spPr>
        <p:txBody>
          <a:bodyPr wrap="square" lIns="0" tIns="0" rIns="0" bIns="0" rtlCol="0" anchor="t"/>
          <a:lstStyle/>
          <a:p>
            <a:pPr indent="0" marL="0">
              <a:lnSpc>
                <a:spcPct val="115000"/>
              </a:lnSpc>
              <a:buNone/>
            </a:pPr>
            <a:r>
              <a:rPr lang="en-US" sz="1150" dirty="0">
                <a:solidFill>
                  <a:srgbClr val="5C6A62"/>
                </a:solidFill>
              </a:rPr>
              <a:t>City Threads stores thread stock across racks and bins in two warehouses. With a fragmented, manual process, finding a lot, knowing which space was free and tracing what moved where took time — and depended on the people who remembered.</a:t>
            </a:r>
            <a:endParaRPr lang="en-US" sz="1150" dirty="0"/>
          </a:p>
        </p:txBody>
      </p:sp>
      <p:pic>
        <p:nvPicPr>
          <p:cNvPr id="6" name="Image 1" descr="F:\Office Project\Crita Portfolio\portfolio\ppt\brand\c.png">    </p:cNvPr>
          <p:cNvPicPr>
            <a:picLocks noChangeAspect="1"/>
          </p:cNvPicPr>
          <p:nvPr/>
        </p:nvPicPr>
        <p:blipFill>
          <a:blip r:embed="rId2"/>
          <a:stretch>
            <a:fillRect/>
          </a:stretch>
        </p:blipFill>
        <p:spPr>
          <a:xfrm>
            <a:off x="548640" y="3534156"/>
            <a:ext cx="182880" cy="134417"/>
          </a:xfrm>
          <a:prstGeom prst="rect">
            <a:avLst/>
          </a:prstGeom>
        </p:spPr>
      </p:pic>
      <p:sp>
        <p:nvSpPr>
          <p:cNvPr id="7" name="Text 3"/>
          <p:cNvSpPr txBox="1"/>
          <p:nvPr/>
        </p:nvSpPr>
        <p:spPr>
          <a:xfrm>
            <a:off x="813816" y="3493008"/>
            <a:ext cx="45720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WHAT WE BUILT</a:t>
            </a:r>
            <a:endParaRPr lang="en-US" sz="900" dirty="0"/>
          </a:p>
        </p:txBody>
      </p:sp>
      <p:sp>
        <p:nvSpPr>
          <p:cNvPr id="8" name="Text 4"/>
          <p:cNvSpPr txBox="1"/>
          <p:nvPr/>
        </p:nvSpPr>
        <p:spPr>
          <a:xfrm>
            <a:off x="548640" y="3785616"/>
            <a:ext cx="4800600" cy="868680"/>
          </a:xfrm>
          <a:prstGeom prst="rect">
            <a:avLst/>
          </a:prstGeom>
          <a:noFill/>
          <a:ln/>
        </p:spPr>
        <p:txBody>
          <a:bodyPr wrap="square" lIns="0" tIns="0" rIns="0" bIns="0" rtlCol="0" anchor="t"/>
          <a:lstStyle/>
          <a:p>
            <a:pPr indent="0" marL="0">
              <a:lnSpc>
                <a:spcPct val="100000"/>
              </a:lnSpc>
              <a:buNone/>
            </a:pPr>
            <a:r>
              <a:rPr lang="en-US" sz="1900" b="1" spc="-40" kern="0" dirty="0">
                <a:solidFill>
                  <a:srgbClr val="0D1813"/>
                </a:solidFill>
              </a:rPr>
              <a:t>A barcode on every lot. A map of every bin.</a:t>
            </a:r>
            <a:endParaRPr lang="en-US" sz="1900" dirty="0"/>
          </a:p>
        </p:txBody>
      </p:sp>
      <p:sp>
        <p:nvSpPr>
          <p:cNvPr id="9" name="Text 5"/>
          <p:cNvSpPr txBox="1"/>
          <p:nvPr/>
        </p:nvSpPr>
        <p:spPr>
          <a:xfrm>
            <a:off x="548640" y="4681728"/>
            <a:ext cx="4800600" cy="1600200"/>
          </a:xfrm>
          <a:prstGeom prst="rect">
            <a:avLst/>
          </a:prstGeom>
          <a:noFill/>
          <a:ln/>
        </p:spPr>
        <p:txBody>
          <a:bodyPr wrap="square" lIns="0" tIns="0" rIns="0" bIns="0" rtlCol="0" anchor="t"/>
          <a:lstStyle/>
          <a:p>
            <a:pPr indent="0" marL="0">
              <a:lnSpc>
                <a:spcPct val="115000"/>
              </a:lnSpc>
              <a:buNone/>
            </a:pPr>
            <a:r>
              <a:rPr lang="en-US" sz="1150" dirty="0">
                <a:solidFill>
                  <a:srgbClr val="5C6A62"/>
                </a:solidFill>
              </a:rPr>
              <a:t>Crita built a warehouse system where every physical lot becomes a stock unit with a permanent ID and barcode. Administrators manage the structure, orders and stock from a desktop workspace; executives receive, move, count, pick and dispatch from their phone — scanning instead of searching.</a:t>
            </a:r>
            <a:endParaRPr lang="en-US" sz="1150" dirty="0"/>
          </a:p>
        </p:txBody>
      </p:sp>
      <p:sp>
        <p:nvSpPr>
          <p:cNvPr id="10" name="Shape 6"/>
          <p:cNvSpPr/>
          <p:nvPr/>
        </p:nvSpPr>
        <p:spPr>
          <a:xfrm>
            <a:off x="5760720" y="502920"/>
            <a:ext cx="5879592" cy="5715000"/>
          </a:xfrm>
          <a:prstGeom prst="roundRect">
            <a:avLst>
              <a:gd name="adj" fmla="val 2560"/>
            </a:avLst>
          </a:prstGeom>
          <a:solidFill>
            <a:srgbClr val="EDF0F4"/>
          </a:solidFill>
          <a:ln/>
        </p:spPr>
      </p:sp>
      <p:pic>
        <p:nvPicPr>
          <p:cNvPr id="11" name="Image 2" descr="City Threads screens">    </p:cNvPr>
          <p:cNvPicPr>
            <a:picLocks noChangeAspect="1"/>
          </p:cNvPicPr>
          <p:nvPr/>
        </p:nvPicPr>
        <p:blipFill>
          <a:blip r:embed="rId3"/>
          <a:stretch>
            <a:fillRect/>
          </a:stretch>
        </p:blipFill>
        <p:spPr>
          <a:xfrm>
            <a:off x="5865102" y="1334356"/>
            <a:ext cx="5689115" cy="4208280"/>
          </a:xfrm>
          <a:prstGeom prst="rect">
            <a:avLst/>
          </a:prstGeom>
        </p:spPr>
      </p:pic>
      <p:sp>
        <p:nvSpPr>
          <p:cNvPr id="13"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DF0F4"/>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PRODUCT EXPERIENCE · 1 OF 2</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Inside City Threads.</a:t>
            </a:r>
            <a:endParaRPr lang="en-US" sz="2800" dirty="0"/>
          </a:p>
        </p:txBody>
      </p:sp>
      <p:pic>
        <p:nvPicPr>
          <p:cNvPr id="5" name="Image 1" descr="The whole operation, live">    </p:cNvPr>
          <p:cNvPicPr>
            <a:picLocks noChangeAspect="1"/>
          </p:cNvPicPr>
          <p:nvPr/>
        </p:nvPicPr>
        <p:blipFill>
          <a:blip r:embed="rId2"/>
          <a:stretch>
            <a:fillRect/>
          </a:stretch>
        </p:blipFill>
        <p:spPr>
          <a:xfrm>
            <a:off x="265704" y="1353231"/>
            <a:ext cx="5960831" cy="4064203"/>
          </a:xfrm>
          <a:prstGeom prst="rect">
            <a:avLst/>
          </a:prstGeom>
        </p:spPr>
      </p:pic>
      <p:sp>
        <p:nvSpPr>
          <p:cNvPr id="6" name="Text 2"/>
          <p:cNvSpPr txBox="1"/>
          <p:nvPr/>
        </p:nvSpPr>
        <p:spPr>
          <a:xfrm>
            <a:off x="548640"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01</a:t>
            </a:r>
            <a:endParaRPr lang="en-US" sz="950" dirty="0"/>
          </a:p>
          <a:p>
            <a:pPr indent="0" marL="0">
              <a:spcAft>
                <a:spcPts val="300"/>
              </a:spcAft>
              <a:buNone/>
            </a:pPr>
            <a:r>
              <a:rPr lang="en-US" sz="1500" b="1" dirty="0">
                <a:solidFill>
                  <a:srgbClr val="0D1813"/>
                </a:solidFill>
              </a:rPr>
              <a:t>The whole operation, live</a:t>
            </a:r>
            <a:endParaRPr lang="en-US" sz="950" dirty="0"/>
          </a:p>
          <a:p>
            <a:pPr indent="0" marL="0">
              <a:spcAft>
                <a:spcPts val="300"/>
              </a:spcAft>
              <a:buNone/>
            </a:pPr>
            <a:r>
              <a:rPr lang="en-US" sz="1100" dirty="0">
                <a:solidFill>
                  <a:srgbClr val="5C6A62"/>
                </a:solidFill>
              </a:rPr>
              <a:t>Stock, utilisation, locations, count discrepancies and recent sales across both warehouses.</a:t>
            </a:r>
            <a:endParaRPr lang="en-US" sz="950" dirty="0"/>
          </a:p>
        </p:txBody>
      </p:sp>
      <p:pic>
        <p:nvPicPr>
          <p:cNvPr id="7" name="Image 2" descr="Area, rack, bin">    </p:cNvPr>
          <p:cNvPicPr>
            <a:picLocks noChangeAspect="1"/>
          </p:cNvPicPr>
          <p:nvPr/>
        </p:nvPicPr>
        <p:blipFill>
          <a:blip r:embed="rId3"/>
          <a:stretch>
            <a:fillRect/>
          </a:stretch>
        </p:blipFill>
        <p:spPr>
          <a:xfrm>
            <a:off x="5907552" y="1353231"/>
            <a:ext cx="5960831" cy="4064203"/>
          </a:xfrm>
          <a:prstGeom prst="rect">
            <a:avLst/>
          </a:prstGeom>
        </p:spPr>
      </p:pic>
      <p:sp>
        <p:nvSpPr>
          <p:cNvPr id="8" name="Text 3"/>
          <p:cNvSpPr txBox="1"/>
          <p:nvPr/>
        </p:nvSpPr>
        <p:spPr>
          <a:xfrm>
            <a:off x="6190488"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02</a:t>
            </a:r>
            <a:endParaRPr lang="en-US" sz="950" dirty="0"/>
          </a:p>
          <a:p>
            <a:pPr indent="0" marL="0">
              <a:spcAft>
                <a:spcPts val="300"/>
              </a:spcAft>
              <a:buNone/>
            </a:pPr>
            <a:r>
              <a:rPr lang="en-US" sz="1500" b="1" dirty="0">
                <a:solidFill>
                  <a:srgbClr val="0D1813"/>
                </a:solidFill>
              </a:rPr>
              <a:t>Area, rack, bin</a:t>
            </a:r>
            <a:endParaRPr lang="en-US" sz="950" dirty="0"/>
          </a:p>
          <a:p>
            <a:pPr indent="0" marL="0">
              <a:spcAft>
                <a:spcPts val="300"/>
              </a:spcAft>
              <a:buNone/>
            </a:pPr>
            <a:r>
              <a:rPr lang="en-US" sz="1100" dirty="0">
                <a:solidFill>
                  <a:srgbClr val="5C6A62"/>
                </a:solidFill>
              </a:rPr>
              <a:t>A visual map of the floor: capacity, occupancy and blocked locations at every level.</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F0F4"/>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PRODUCT EXPERIENCE · 2 OF 2</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Inside City Threads.</a:t>
            </a:r>
            <a:endParaRPr lang="en-US" sz="2800" dirty="0"/>
          </a:p>
        </p:txBody>
      </p:sp>
      <p:pic>
        <p:nvPicPr>
          <p:cNvPr id="5" name="Image 1" descr="From order to truck">    </p:cNvPr>
          <p:cNvPicPr>
            <a:picLocks noChangeAspect="1"/>
          </p:cNvPicPr>
          <p:nvPr/>
        </p:nvPicPr>
        <p:blipFill>
          <a:blip r:embed="rId2"/>
          <a:stretch>
            <a:fillRect/>
          </a:stretch>
        </p:blipFill>
        <p:spPr>
          <a:xfrm>
            <a:off x="265704" y="1353231"/>
            <a:ext cx="5960831" cy="4061805"/>
          </a:xfrm>
          <a:prstGeom prst="rect">
            <a:avLst/>
          </a:prstGeom>
        </p:spPr>
      </p:pic>
      <p:sp>
        <p:nvSpPr>
          <p:cNvPr id="6" name="Text 2"/>
          <p:cNvSpPr txBox="1"/>
          <p:nvPr/>
        </p:nvSpPr>
        <p:spPr>
          <a:xfrm>
            <a:off x="548640"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03</a:t>
            </a:r>
            <a:endParaRPr lang="en-US" sz="950" dirty="0"/>
          </a:p>
          <a:p>
            <a:pPr indent="0" marL="0">
              <a:spcAft>
                <a:spcPts val="300"/>
              </a:spcAft>
              <a:buNone/>
            </a:pPr>
            <a:r>
              <a:rPr lang="en-US" sz="1500" b="1" dirty="0">
                <a:solidFill>
                  <a:srgbClr val="0D1813"/>
                </a:solidFill>
              </a:rPr>
              <a:t>From order to truck</a:t>
            </a:r>
            <a:endParaRPr lang="en-US" sz="950" dirty="0"/>
          </a:p>
          <a:p>
            <a:pPr indent="0" marL="0">
              <a:spcAft>
                <a:spcPts val="300"/>
              </a:spcAft>
              <a:buNone/>
            </a:pPr>
            <a:r>
              <a:rPr lang="en-US" sz="1100" dirty="0">
                <a:solidFill>
                  <a:srgbClr val="5C6A62"/>
                </a:solidFill>
              </a:rPr>
              <a:t>Sales orders move through picking to dispatch, with every quantity reserved and accounted for.</a:t>
            </a:r>
            <a:endParaRPr lang="en-US" sz="950" dirty="0"/>
          </a:p>
        </p:txBody>
      </p:sp>
      <p:pic>
        <p:nvPicPr>
          <p:cNvPr id="7" name="Image 2" descr="Dispatch with proof">    </p:cNvPr>
          <p:cNvPicPr>
            <a:picLocks noChangeAspect="1"/>
          </p:cNvPicPr>
          <p:nvPr/>
        </p:nvPicPr>
        <p:blipFill>
          <a:blip r:embed="rId3"/>
          <a:stretch>
            <a:fillRect/>
          </a:stretch>
        </p:blipFill>
        <p:spPr>
          <a:xfrm>
            <a:off x="5907552" y="1353231"/>
            <a:ext cx="5960831" cy="4064203"/>
          </a:xfrm>
          <a:prstGeom prst="rect">
            <a:avLst/>
          </a:prstGeom>
        </p:spPr>
      </p:pic>
      <p:sp>
        <p:nvSpPr>
          <p:cNvPr id="8" name="Text 3"/>
          <p:cNvSpPr txBox="1"/>
          <p:nvPr/>
        </p:nvSpPr>
        <p:spPr>
          <a:xfrm>
            <a:off x="6190488" y="5230368"/>
            <a:ext cx="5212080" cy="105156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04</a:t>
            </a:r>
            <a:endParaRPr lang="en-US" sz="950" dirty="0"/>
          </a:p>
          <a:p>
            <a:pPr indent="0" marL="0">
              <a:spcAft>
                <a:spcPts val="300"/>
              </a:spcAft>
              <a:buNone/>
            </a:pPr>
            <a:r>
              <a:rPr lang="en-US" sz="1500" b="1" dirty="0">
                <a:solidFill>
                  <a:srgbClr val="0D1813"/>
                </a:solidFill>
              </a:rPr>
              <a:t>Dispatch with proof</a:t>
            </a:r>
            <a:endParaRPr lang="en-US" sz="950" dirty="0"/>
          </a:p>
          <a:p>
            <a:pPr indent="0" marL="0">
              <a:spcAft>
                <a:spcPts val="300"/>
              </a:spcAft>
              <a:buNone/>
            </a:pPr>
            <a:r>
              <a:rPr lang="en-US" sz="1100" dirty="0">
                <a:solidFill>
                  <a:srgbClr val="5C6A62"/>
                </a:solidFill>
              </a:rPr>
              <a:t>Ready-to-ship orders and a full dispatch history with vehicle numbers and who sent what.</a:t>
            </a:r>
            <a:endParaRPr lang="en-US" sz="95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KEY CAPABILITIES</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What City Threads does.</a:t>
            </a:r>
            <a:endParaRPr lang="en-US" sz="2800" dirty="0"/>
          </a:p>
        </p:txBody>
      </p:sp>
      <p:sp>
        <p:nvSpPr>
          <p:cNvPr id="5" name="Shape 2"/>
          <p:cNvSpPr/>
          <p:nvPr/>
        </p:nvSpPr>
        <p:spPr>
          <a:xfrm>
            <a:off x="548640" y="1691640"/>
            <a:ext cx="3611880" cy="0"/>
          </a:xfrm>
          <a:prstGeom prst="line">
            <a:avLst/>
          </a:prstGeom>
          <a:noFill/>
          <a:ln w="9525">
            <a:solidFill>
              <a:srgbClr val="D3D5CC"/>
            </a:solidFill>
            <a:prstDash val="solid"/>
          </a:ln>
        </p:spPr>
      </p:sp>
      <p:sp>
        <p:nvSpPr>
          <p:cNvPr id="6" name="Text 3"/>
          <p:cNvSpPr txBox="1"/>
          <p:nvPr/>
        </p:nvSpPr>
        <p:spPr>
          <a:xfrm>
            <a:off x="548640" y="1810512"/>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01</a:t>
            </a:r>
            <a:endParaRPr lang="en-US" sz="950" dirty="0"/>
          </a:p>
          <a:p>
            <a:pPr indent="0" marL="0">
              <a:spcAft>
                <a:spcPts val="300"/>
              </a:spcAft>
              <a:buNone/>
            </a:pPr>
            <a:r>
              <a:rPr lang="en-US" sz="1400" b="1" dirty="0">
                <a:solidFill>
                  <a:srgbClr val="0D1813"/>
                </a:solidFill>
              </a:rPr>
              <a:t>Barcoded stock units</a:t>
            </a:r>
            <a:endParaRPr lang="en-US" sz="950" dirty="0"/>
          </a:p>
          <a:p>
            <a:pPr indent="0" marL="0">
              <a:spcAft>
                <a:spcPts val="300"/>
              </a:spcAft>
              <a:buNone/>
            </a:pPr>
            <a:r>
              <a:rPr lang="en-US" sz="1050" dirty="0">
                <a:solidFill>
                  <a:srgbClr val="5C6A62"/>
                </a:solidFill>
              </a:rPr>
              <a:t>Every lot gets a permanent Stock ID and Code 128 barcode. Scan it with the phone camera, upload a photo or type the ID.</a:t>
            </a:r>
            <a:endParaRPr lang="en-US" sz="950" dirty="0"/>
          </a:p>
        </p:txBody>
      </p:sp>
      <p:sp>
        <p:nvSpPr>
          <p:cNvPr id="7" name="Shape 4"/>
          <p:cNvSpPr/>
          <p:nvPr/>
        </p:nvSpPr>
        <p:spPr>
          <a:xfrm>
            <a:off x="4389120" y="1691640"/>
            <a:ext cx="3611880" cy="0"/>
          </a:xfrm>
          <a:prstGeom prst="line">
            <a:avLst/>
          </a:prstGeom>
          <a:noFill/>
          <a:ln w="9525">
            <a:solidFill>
              <a:srgbClr val="D3D5CC"/>
            </a:solidFill>
            <a:prstDash val="solid"/>
          </a:ln>
        </p:spPr>
      </p:sp>
      <p:sp>
        <p:nvSpPr>
          <p:cNvPr id="8" name="Text 5"/>
          <p:cNvSpPr txBox="1"/>
          <p:nvPr/>
        </p:nvSpPr>
        <p:spPr>
          <a:xfrm>
            <a:off x="4389120" y="1810512"/>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02</a:t>
            </a:r>
            <a:endParaRPr lang="en-US" sz="950" dirty="0"/>
          </a:p>
          <a:p>
            <a:pPr indent="0" marL="0">
              <a:spcAft>
                <a:spcPts val="300"/>
              </a:spcAft>
              <a:buNone/>
            </a:pPr>
            <a:r>
              <a:rPr lang="en-US" sz="1400" b="1" dirty="0">
                <a:solidFill>
                  <a:srgbClr val="0D1813"/>
                </a:solidFill>
              </a:rPr>
              <a:t>Warehouse explorer</a:t>
            </a:r>
            <a:endParaRPr lang="en-US" sz="950" dirty="0"/>
          </a:p>
          <a:p>
            <a:pPr indent="0" marL="0">
              <a:spcAft>
                <a:spcPts val="300"/>
              </a:spcAft>
              <a:buNone/>
            </a:pPr>
            <a:r>
              <a:rPr lang="en-US" sz="1050" dirty="0">
                <a:solidFill>
                  <a:srgbClr val="5C6A62"/>
                </a:solidFill>
              </a:rPr>
              <a:t>Walk area → rack → bin to see capacity, occupancy and blocked locations, and change the structure in place.</a:t>
            </a:r>
            <a:endParaRPr lang="en-US" sz="950" dirty="0"/>
          </a:p>
        </p:txBody>
      </p:sp>
      <p:sp>
        <p:nvSpPr>
          <p:cNvPr id="9" name="Shape 6"/>
          <p:cNvSpPr/>
          <p:nvPr/>
        </p:nvSpPr>
        <p:spPr>
          <a:xfrm>
            <a:off x="548640" y="3227832"/>
            <a:ext cx="3611880" cy="0"/>
          </a:xfrm>
          <a:prstGeom prst="line">
            <a:avLst/>
          </a:prstGeom>
          <a:noFill/>
          <a:ln w="9525">
            <a:solidFill>
              <a:srgbClr val="D3D5CC"/>
            </a:solidFill>
            <a:prstDash val="solid"/>
          </a:ln>
        </p:spPr>
      </p:sp>
      <p:sp>
        <p:nvSpPr>
          <p:cNvPr id="10" name="Text 7"/>
          <p:cNvSpPr txBox="1"/>
          <p:nvPr/>
        </p:nvSpPr>
        <p:spPr>
          <a:xfrm>
            <a:off x="548640" y="3346704"/>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03</a:t>
            </a:r>
            <a:endParaRPr lang="en-US" sz="950" dirty="0"/>
          </a:p>
          <a:p>
            <a:pPr indent="0" marL="0">
              <a:spcAft>
                <a:spcPts val="300"/>
              </a:spcAft>
              <a:buNone/>
            </a:pPr>
            <a:r>
              <a:rPr lang="en-US" sz="1400" b="1" dirty="0">
                <a:solidFill>
                  <a:srgbClr val="0D1813"/>
                </a:solidFill>
              </a:rPr>
              <a:t>Order to dispatch</a:t>
            </a:r>
            <a:endParaRPr lang="en-US" sz="950" dirty="0"/>
          </a:p>
          <a:p>
            <a:pPr indent="0" marL="0">
              <a:spcAft>
                <a:spcPts val="300"/>
              </a:spcAft>
              <a:buNone/>
            </a:pPr>
            <a:r>
              <a:rPr lang="en-US" sz="1050" dirty="0">
                <a:solidFill>
                  <a:srgbClr val="5C6A62"/>
                </a:solidFill>
              </a:rPr>
              <a:t>Purchase orders and goods receipts in; sales orders, pick lists and dispatch out — with stock reserved on the way.</a:t>
            </a:r>
            <a:endParaRPr lang="en-US" sz="950" dirty="0"/>
          </a:p>
        </p:txBody>
      </p:sp>
      <p:sp>
        <p:nvSpPr>
          <p:cNvPr id="11" name="Shape 8"/>
          <p:cNvSpPr/>
          <p:nvPr/>
        </p:nvSpPr>
        <p:spPr>
          <a:xfrm>
            <a:off x="4389120" y="3227832"/>
            <a:ext cx="3611880" cy="0"/>
          </a:xfrm>
          <a:prstGeom prst="line">
            <a:avLst/>
          </a:prstGeom>
          <a:noFill/>
          <a:ln w="9525">
            <a:solidFill>
              <a:srgbClr val="D3D5CC"/>
            </a:solidFill>
            <a:prstDash val="solid"/>
          </a:ln>
        </p:spPr>
      </p:sp>
      <p:sp>
        <p:nvSpPr>
          <p:cNvPr id="12" name="Text 9"/>
          <p:cNvSpPr txBox="1"/>
          <p:nvPr/>
        </p:nvSpPr>
        <p:spPr>
          <a:xfrm>
            <a:off x="4389120" y="3346704"/>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04</a:t>
            </a:r>
            <a:endParaRPr lang="en-US" sz="950" dirty="0"/>
          </a:p>
          <a:p>
            <a:pPr indent="0" marL="0">
              <a:spcAft>
                <a:spcPts val="300"/>
              </a:spcAft>
              <a:buNone/>
            </a:pPr>
            <a:r>
              <a:rPr lang="en-US" sz="1400" b="1" dirty="0">
                <a:solidFill>
                  <a:srgbClr val="0D1813"/>
                </a:solidFill>
              </a:rPr>
              <a:t>Floor operations on the phone</a:t>
            </a:r>
            <a:endParaRPr lang="en-US" sz="950" dirty="0"/>
          </a:p>
          <a:p>
            <a:pPr indent="0" marL="0">
              <a:spcAft>
                <a:spcPts val="300"/>
              </a:spcAft>
              <a:buNone/>
            </a:pPr>
            <a:r>
              <a:rPr lang="en-US" sz="1050" dirty="0">
                <a:solidFill>
                  <a:srgbClr val="5C6A62"/>
                </a:solidFill>
              </a:rPr>
              <a:t>Goods inward, transfer, adjustment, cycle count, picking and dispatch — built for one hand.</a:t>
            </a:r>
            <a:endParaRPr lang="en-US" sz="950" dirty="0"/>
          </a:p>
        </p:txBody>
      </p:sp>
      <p:sp>
        <p:nvSpPr>
          <p:cNvPr id="13" name="Shape 10"/>
          <p:cNvSpPr/>
          <p:nvPr/>
        </p:nvSpPr>
        <p:spPr>
          <a:xfrm>
            <a:off x="548640" y="4764024"/>
            <a:ext cx="3611880" cy="0"/>
          </a:xfrm>
          <a:prstGeom prst="line">
            <a:avLst/>
          </a:prstGeom>
          <a:noFill/>
          <a:ln w="9525">
            <a:solidFill>
              <a:srgbClr val="D3D5CC"/>
            </a:solidFill>
            <a:prstDash val="solid"/>
          </a:ln>
        </p:spPr>
      </p:sp>
      <p:sp>
        <p:nvSpPr>
          <p:cNvPr id="14" name="Text 11"/>
          <p:cNvSpPr txBox="1"/>
          <p:nvPr/>
        </p:nvSpPr>
        <p:spPr>
          <a:xfrm>
            <a:off x="548640" y="4882896"/>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05</a:t>
            </a:r>
            <a:endParaRPr lang="en-US" sz="950" dirty="0"/>
          </a:p>
          <a:p>
            <a:pPr indent="0" marL="0">
              <a:spcAft>
                <a:spcPts val="300"/>
              </a:spcAft>
              <a:buNone/>
            </a:pPr>
            <a:r>
              <a:rPr lang="en-US" sz="1400" b="1" dirty="0">
                <a:solidFill>
                  <a:srgbClr val="0D1813"/>
                </a:solidFill>
              </a:rPr>
              <a:t>A ledger that reconciles</a:t>
            </a:r>
            <a:endParaRPr lang="en-US" sz="950" dirty="0"/>
          </a:p>
          <a:p>
            <a:pPr indent="0" marL="0">
              <a:spcAft>
                <a:spcPts val="300"/>
              </a:spcAft>
              <a:buNone/>
            </a:pPr>
            <a:r>
              <a:rPr lang="en-US" sz="1050" dirty="0">
                <a:solidFill>
                  <a:srgbClr val="5C6A62"/>
                </a:solidFill>
              </a:rPr>
              <a:t>Every movement is recorded. Counts verify the shelf without changing stock; differences are corrected with a reason.</a:t>
            </a:r>
            <a:endParaRPr lang="en-US" sz="950" dirty="0"/>
          </a:p>
        </p:txBody>
      </p:sp>
      <p:sp>
        <p:nvSpPr>
          <p:cNvPr id="15" name="Shape 12"/>
          <p:cNvSpPr/>
          <p:nvPr/>
        </p:nvSpPr>
        <p:spPr>
          <a:xfrm>
            <a:off x="4389120" y="4764024"/>
            <a:ext cx="3611880" cy="0"/>
          </a:xfrm>
          <a:prstGeom prst="line">
            <a:avLst/>
          </a:prstGeom>
          <a:noFill/>
          <a:ln w="9525">
            <a:solidFill>
              <a:srgbClr val="D3D5CC"/>
            </a:solidFill>
            <a:prstDash val="solid"/>
          </a:ln>
        </p:spPr>
      </p:sp>
      <p:sp>
        <p:nvSpPr>
          <p:cNvPr id="16" name="Text 13"/>
          <p:cNvSpPr txBox="1"/>
          <p:nvPr/>
        </p:nvSpPr>
        <p:spPr>
          <a:xfrm>
            <a:off x="4389120" y="4882896"/>
            <a:ext cx="3566160" cy="1325880"/>
          </a:xfrm>
          <a:prstGeom prst="rect">
            <a:avLst/>
          </a:prstGeom>
          <a:noFill/>
          <a:ln/>
        </p:spPr>
        <p:txBody>
          <a:bodyPr wrap="square" lIns="0" tIns="0" rIns="0" bIns="0" rtlCol="0" anchor="t"/>
          <a:lstStyle/>
          <a:p>
            <a:pPr indent="0" marL="0">
              <a:spcAft>
                <a:spcPts val="300"/>
              </a:spcAft>
              <a:buNone/>
            </a:pPr>
            <a:r>
              <a:rPr lang="en-US" sz="950" b="1" dirty="0">
                <a:solidFill>
                  <a:srgbClr val="7FA53F"/>
                </a:solidFill>
              </a:rPr>
              <a:t>06</a:t>
            </a:r>
            <a:endParaRPr lang="en-US" sz="950" dirty="0"/>
          </a:p>
          <a:p>
            <a:pPr indent="0" marL="0">
              <a:spcAft>
                <a:spcPts val="300"/>
              </a:spcAft>
              <a:buNone/>
            </a:pPr>
            <a:r>
              <a:rPr lang="en-US" sz="1400" b="1" dirty="0">
                <a:solidFill>
                  <a:srgbClr val="0D1813"/>
                </a:solidFill>
              </a:rPr>
              <a:t>Commercial visibility</a:t>
            </a:r>
            <a:endParaRPr lang="en-US" sz="950" dirty="0"/>
          </a:p>
          <a:p>
            <a:pPr indent="0" marL="0">
              <a:spcAft>
                <a:spcPts val="300"/>
              </a:spcAft>
              <a:buNone/>
            </a:pPr>
            <a:r>
              <a:rPr lang="en-US" sz="1050" dirty="0">
                <a:solidFill>
                  <a:srgbClr val="5C6A62"/>
                </a:solidFill>
              </a:rPr>
              <a:t>Customers, suppliers, sales and executive performance alongside stock.</a:t>
            </a:r>
            <a:endParaRPr lang="en-US" sz="950" dirty="0"/>
          </a:p>
        </p:txBody>
      </p:sp>
      <p:sp>
        <p:nvSpPr>
          <p:cNvPr id="17" name="Shape 14"/>
          <p:cNvSpPr/>
          <p:nvPr/>
        </p:nvSpPr>
        <p:spPr>
          <a:xfrm>
            <a:off x="8503920" y="502920"/>
            <a:ext cx="3136392" cy="5715000"/>
          </a:xfrm>
          <a:prstGeom prst="roundRect">
            <a:avLst>
              <a:gd name="adj" fmla="val 4665"/>
            </a:avLst>
          </a:prstGeom>
          <a:solidFill>
            <a:srgbClr val="DFE4EC"/>
          </a:solidFill>
          <a:ln/>
        </p:spPr>
      </p:sp>
      <p:pic>
        <p:nvPicPr>
          <p:cNvPr id="18" name="Image 1" descr="City Threads on a phone">    </p:cNvPr>
          <p:cNvPicPr>
            <a:picLocks noChangeAspect="1"/>
          </p:cNvPicPr>
          <p:nvPr/>
        </p:nvPicPr>
        <p:blipFill>
          <a:blip r:embed="rId2"/>
          <a:stretch>
            <a:fillRect/>
          </a:stretch>
        </p:blipFill>
        <p:spPr>
          <a:xfrm>
            <a:off x="8568870" y="489444"/>
            <a:ext cx="3006492" cy="5909601"/>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DFE4EC"/>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ROLE-BASED EXPERIENCE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Built for every role.</a:t>
            </a:r>
            <a:endParaRPr lang="en-US" sz="2800" dirty="0"/>
          </a:p>
        </p:txBody>
      </p:sp>
      <p:pic>
        <p:nvPicPr>
          <p:cNvPr id="5" name="Image 1" descr="Administrator view">    </p:cNvPr>
          <p:cNvPicPr>
            <a:picLocks noChangeAspect="1"/>
          </p:cNvPicPr>
          <p:nvPr/>
        </p:nvPicPr>
        <p:blipFill>
          <a:blip r:embed="rId2"/>
          <a:stretch>
            <a:fillRect/>
          </a:stretch>
        </p:blipFill>
        <p:spPr>
          <a:xfrm>
            <a:off x="298008" y="1244268"/>
            <a:ext cx="4961664" cy="3262464"/>
          </a:xfrm>
          <a:prstGeom prst="rect">
            <a:avLst/>
          </a:prstGeom>
        </p:spPr>
      </p:pic>
      <p:sp>
        <p:nvSpPr>
          <p:cNvPr id="6" name="Shape 2"/>
          <p:cNvSpPr/>
          <p:nvPr/>
        </p:nvSpPr>
        <p:spPr>
          <a:xfrm>
            <a:off x="548640" y="4315968"/>
            <a:ext cx="5387188" cy="0"/>
          </a:xfrm>
          <a:prstGeom prst="line">
            <a:avLst/>
          </a:prstGeom>
          <a:noFill/>
          <a:ln w="9525">
            <a:solidFill>
              <a:srgbClr val="D3D5CC"/>
            </a:solidFill>
            <a:prstDash val="solid"/>
          </a:ln>
        </p:spPr>
      </p:sp>
      <p:sp>
        <p:nvSpPr>
          <p:cNvPr id="7" name="Text 3"/>
          <p:cNvSpPr txBox="1"/>
          <p:nvPr/>
        </p:nvSpPr>
        <p:spPr>
          <a:xfrm>
            <a:off x="548640" y="4443984"/>
            <a:ext cx="5387188" cy="8686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DESKTOP WORKSPACE</a:t>
            </a:r>
            <a:endParaRPr lang="en-US" sz="800" dirty="0"/>
          </a:p>
          <a:p>
            <a:pPr indent="0" marL="0">
              <a:spcAft>
                <a:spcPts val="200"/>
              </a:spcAft>
              <a:buNone/>
            </a:pPr>
            <a:r>
              <a:rPr lang="en-US" sz="1700" b="1" dirty="0">
                <a:solidFill>
                  <a:srgbClr val="0D1813"/>
                </a:solidFill>
              </a:rPr>
              <a:t>Administrator</a:t>
            </a:r>
            <a:endParaRPr lang="en-US" sz="800" dirty="0"/>
          </a:p>
          <a:p>
            <a:pPr indent="0" marL="0">
              <a:spcAft>
                <a:spcPts val="200"/>
              </a:spcAft>
              <a:buNone/>
            </a:pPr>
            <a:r>
              <a:rPr lang="en-US" sz="1100" dirty="0">
                <a:solidFill>
                  <a:srgbClr val="0D1813"/>
                </a:solidFill>
              </a:rPr>
              <a:t>Sees and shapes the whole operation.</a:t>
            </a:r>
            <a:endParaRPr lang="en-US" sz="800" dirty="0"/>
          </a:p>
        </p:txBody>
      </p:sp>
      <p:sp>
        <p:nvSpPr>
          <p:cNvPr id="8" name="Text 4"/>
          <p:cNvSpPr txBox="1"/>
          <p:nvPr/>
        </p:nvSpPr>
        <p:spPr>
          <a:xfrm>
            <a:off x="548640" y="5303520"/>
            <a:ext cx="5387188" cy="1051560"/>
          </a:xfrm>
          <a:prstGeom prst="rect">
            <a:avLst/>
          </a:prstGeom>
          <a:noFill/>
          <a:ln/>
        </p:spPr>
        <p:txBody>
          <a:bodyPr wrap="square" lIns="0" tIns="0" rIns="0" bIns="0" rtlCol="0" anchor="t"/>
          <a:lstStyle/>
          <a:p>
            <a:pPr marL="165100" indent="-165100">
              <a:spcAft>
                <a:spcPts val="400"/>
              </a:spcAft>
              <a:buSzPct val="100000"/>
              <a:buChar char="•"/>
            </a:pPr>
            <a:r>
              <a:rPr lang="en-US" sz="1000" dirty="0">
                <a:solidFill>
                  <a:srgbClr val="34433B"/>
                </a:solidFill>
              </a:rPr>
              <a:t>Overview of stock, utilisation and recent operations</a:t>
            </a:r>
            <a:endParaRPr lang="en-US" sz="1000" dirty="0"/>
          </a:p>
          <a:p>
            <a:pPr marL="165100" indent="-165100">
              <a:spcAft>
                <a:spcPts val="400"/>
              </a:spcAft>
              <a:buSzPct val="100000"/>
              <a:buChar char="•"/>
            </a:pPr>
            <a:r>
              <a:rPr lang="en-US" sz="1000" dirty="0">
                <a:solidFill>
                  <a:srgbClr val="34433B"/>
                </a:solidFill>
              </a:rPr>
              <a:t>Warehouse structure: areas, racks and bins</a:t>
            </a:r>
            <a:endParaRPr lang="en-US" sz="1000" dirty="0"/>
          </a:p>
          <a:p>
            <a:pPr marL="165100" indent="-165100">
              <a:spcAft>
                <a:spcPts val="400"/>
              </a:spcAft>
              <a:buSzPct val="100000"/>
              <a:buChar char="•"/>
            </a:pPr>
            <a:r>
              <a:rPr lang="en-US" sz="1000" dirty="0">
                <a:solidFill>
                  <a:srgbClr val="34433B"/>
                </a:solidFill>
              </a:rPr>
              <a:t>Purchase orders, sales orders and dispatch</a:t>
            </a:r>
            <a:endParaRPr lang="en-US" sz="1000" dirty="0"/>
          </a:p>
          <a:p>
            <a:pPr marL="165100" indent="-165100">
              <a:spcAft>
                <a:spcPts val="400"/>
              </a:spcAft>
              <a:buSzPct val="100000"/>
              <a:buChar char="•"/>
            </a:pPr>
            <a:r>
              <a:rPr lang="en-US" sz="1000" dirty="0">
                <a:solidFill>
                  <a:srgbClr val="34433B"/>
                </a:solidFill>
              </a:rPr>
              <a:t>Customers, suppliers and users</a:t>
            </a:r>
            <a:endParaRPr lang="en-US" sz="1000" dirty="0"/>
          </a:p>
        </p:txBody>
      </p:sp>
      <p:pic>
        <p:nvPicPr>
          <p:cNvPr id="9" name="Image 2" descr="Warehouse Executive view">    </p:cNvPr>
          <p:cNvPicPr>
            <a:picLocks noChangeAspect="1"/>
          </p:cNvPicPr>
          <p:nvPr/>
        </p:nvPicPr>
        <p:blipFill>
          <a:blip r:embed="rId3"/>
          <a:stretch>
            <a:fillRect/>
          </a:stretch>
        </p:blipFill>
        <p:spPr>
          <a:xfrm>
            <a:off x="6026378" y="1262722"/>
            <a:ext cx="3667950" cy="3214805"/>
          </a:xfrm>
          <a:prstGeom prst="rect">
            <a:avLst/>
          </a:prstGeom>
        </p:spPr>
      </p:pic>
      <p:sp>
        <p:nvSpPr>
          <p:cNvPr id="10" name="Shape 5"/>
          <p:cNvSpPr/>
          <p:nvPr/>
        </p:nvSpPr>
        <p:spPr>
          <a:xfrm>
            <a:off x="6255868" y="4315968"/>
            <a:ext cx="5387188" cy="0"/>
          </a:xfrm>
          <a:prstGeom prst="line">
            <a:avLst/>
          </a:prstGeom>
          <a:noFill/>
          <a:ln w="9525">
            <a:solidFill>
              <a:srgbClr val="D3D5CC"/>
            </a:solidFill>
            <a:prstDash val="solid"/>
          </a:ln>
        </p:spPr>
      </p:sp>
      <p:sp>
        <p:nvSpPr>
          <p:cNvPr id="11" name="Text 6"/>
          <p:cNvSpPr txBox="1"/>
          <p:nvPr/>
        </p:nvSpPr>
        <p:spPr>
          <a:xfrm>
            <a:off x="6255868" y="4443984"/>
            <a:ext cx="5387188" cy="868680"/>
          </a:xfrm>
          <a:prstGeom prst="rect">
            <a:avLst/>
          </a:prstGeom>
          <a:noFill/>
          <a:ln/>
        </p:spPr>
        <p:txBody>
          <a:bodyPr wrap="square" lIns="0" tIns="0" rIns="0" bIns="0" rtlCol="0" anchor="t"/>
          <a:lstStyle/>
          <a:p>
            <a:pPr indent="0" marL="0">
              <a:spcAft>
                <a:spcPts val="200"/>
              </a:spcAft>
              <a:buNone/>
            </a:pPr>
            <a:r>
              <a:rPr lang="en-US" sz="800" b="1" spc="160" kern="0" dirty="0">
                <a:solidFill>
                  <a:srgbClr val="5C6A62"/>
                </a:solidFill>
              </a:rPr>
              <a:t>MOBILE APP</a:t>
            </a:r>
            <a:endParaRPr lang="en-US" sz="800" dirty="0"/>
          </a:p>
          <a:p>
            <a:pPr indent="0" marL="0">
              <a:spcAft>
                <a:spcPts val="200"/>
              </a:spcAft>
              <a:buNone/>
            </a:pPr>
            <a:r>
              <a:rPr lang="en-US" sz="1700" b="1" dirty="0">
                <a:solidFill>
                  <a:srgbClr val="0D1813"/>
                </a:solidFill>
              </a:rPr>
              <a:t>Warehouse Executive</a:t>
            </a:r>
            <a:endParaRPr lang="en-US" sz="800" dirty="0"/>
          </a:p>
          <a:p>
            <a:pPr indent="0" marL="0">
              <a:spcAft>
                <a:spcPts val="200"/>
              </a:spcAft>
              <a:buNone/>
            </a:pPr>
            <a:r>
              <a:rPr lang="en-US" sz="1100" dirty="0">
                <a:solidFill>
                  <a:srgbClr val="0D1813"/>
                </a:solidFill>
              </a:rPr>
              <a:t>Works the floor, one-handed.</a:t>
            </a:r>
            <a:endParaRPr lang="en-US" sz="800" dirty="0"/>
          </a:p>
        </p:txBody>
      </p:sp>
      <p:sp>
        <p:nvSpPr>
          <p:cNvPr id="12" name="Text 7"/>
          <p:cNvSpPr txBox="1"/>
          <p:nvPr/>
        </p:nvSpPr>
        <p:spPr>
          <a:xfrm>
            <a:off x="6255868" y="5303520"/>
            <a:ext cx="5387188" cy="1051560"/>
          </a:xfrm>
          <a:prstGeom prst="rect">
            <a:avLst/>
          </a:prstGeom>
          <a:noFill/>
          <a:ln/>
        </p:spPr>
        <p:txBody>
          <a:bodyPr wrap="square" lIns="0" tIns="0" rIns="0" bIns="0" rtlCol="0" anchor="t"/>
          <a:lstStyle/>
          <a:p>
            <a:pPr marL="165100" indent="-165100">
              <a:spcAft>
                <a:spcPts val="400"/>
              </a:spcAft>
              <a:buSzPct val="100000"/>
              <a:buChar char="•"/>
            </a:pPr>
            <a:r>
              <a:rPr lang="en-US" sz="1000" dirty="0">
                <a:solidFill>
                  <a:srgbClr val="34433B"/>
                </a:solidFill>
              </a:rPr>
              <a:t>Home with capacity and today’s operations</a:t>
            </a:r>
            <a:endParaRPr lang="en-US" sz="1000" dirty="0"/>
          </a:p>
          <a:p>
            <a:pPr marL="165100" indent="-165100">
              <a:spcAft>
                <a:spcPts val="400"/>
              </a:spcAft>
              <a:buSzPct val="100000"/>
              <a:buChar char="•"/>
            </a:pPr>
            <a:r>
              <a:rPr lang="en-US" sz="1000" dirty="0">
                <a:solidFill>
                  <a:srgbClr val="34433B"/>
                </a:solidFill>
              </a:rPr>
              <a:t>Inward, transfer, adjustment, count, pick and dispatch</a:t>
            </a:r>
            <a:endParaRPr lang="en-US" sz="1000" dirty="0"/>
          </a:p>
          <a:p>
            <a:pPr marL="165100" indent="-165100">
              <a:spcAft>
                <a:spcPts val="400"/>
              </a:spcAft>
              <a:buSzPct val="100000"/>
              <a:buChar char="•"/>
            </a:pPr>
            <a:r>
              <a:rPr lang="en-US" sz="1000" dirty="0">
                <a:solidFill>
                  <a:srgbClr val="34433B"/>
                </a:solidFill>
              </a:rPr>
              <a:t>Scan or search any stock unit</a:t>
            </a:r>
            <a:endParaRPr lang="en-US" sz="1000" dirty="0"/>
          </a:p>
          <a:p>
            <a:pPr marL="165100" indent="-165100">
              <a:spcAft>
                <a:spcPts val="400"/>
              </a:spcAft>
              <a:buSzPct val="100000"/>
              <a:buChar char="•"/>
            </a:pPr>
            <a:r>
              <a:rPr lang="en-US" sz="1000" dirty="0">
                <a:solidFill>
                  <a:srgbClr val="34433B"/>
                </a:solidFill>
              </a:rPr>
              <a:t>Personal activity history</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DFE4EC"/>
        </a:solidFill>
      </p:bgPr>
    </p:bg>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RESPONSIVE EXPERIENCE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One hand on the phone. One on the stock.</a:t>
            </a:r>
            <a:endParaRPr lang="en-US" sz="2800" dirty="0"/>
          </a:p>
        </p:txBody>
      </p:sp>
      <p:sp>
        <p:nvSpPr>
          <p:cNvPr id="5" name="Text 2"/>
          <p:cNvSpPr txBox="1"/>
          <p:nvPr/>
        </p:nvSpPr>
        <p:spPr>
          <a:xfrm>
            <a:off x="548640" y="2514600"/>
            <a:ext cx="3749040" cy="1463040"/>
          </a:xfrm>
          <a:prstGeom prst="rect">
            <a:avLst/>
          </a:prstGeom>
          <a:noFill/>
          <a:ln/>
        </p:spPr>
        <p:txBody>
          <a:bodyPr wrap="square" lIns="0" tIns="0" rIns="0" bIns="0" rtlCol="0" anchor="t"/>
          <a:lstStyle/>
          <a:p>
            <a:pPr indent="0" marL="0">
              <a:lnSpc>
                <a:spcPct val="115000"/>
              </a:lnSpc>
              <a:buNone/>
            </a:pPr>
            <a:r>
              <a:rPr lang="en-US" sz="1300" dirty="0">
                <a:solidFill>
                  <a:srgbClr val="34433B"/>
                </a:solidFill>
              </a:rPr>
              <a:t>Executives scan, confirm and move on — inward, transfer, count, pick and dispatch. Administrators plan and review from the desktop.</a:t>
            </a:r>
            <a:endParaRPr lang="en-US" sz="1300" dirty="0"/>
          </a:p>
        </p:txBody>
      </p:sp>
      <p:pic>
        <p:nvPicPr>
          <p:cNvPr id="6" name="Image 1" descr="City Threads on phones">    </p:cNvPr>
          <p:cNvPicPr>
            <a:picLocks noChangeAspect="1"/>
          </p:cNvPicPr>
          <p:nvPr/>
        </p:nvPicPr>
        <p:blipFill>
          <a:blip r:embed="rId2"/>
          <a:stretch>
            <a:fillRect/>
          </a:stretch>
        </p:blipFill>
        <p:spPr>
          <a:xfrm>
            <a:off x="4303014" y="1317879"/>
            <a:ext cx="7670292" cy="4336542"/>
          </a:xfrm>
          <a:prstGeom prst="rect">
            <a:avLst/>
          </a:prstGeom>
        </p:spPr>
      </p:pic>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F:\Office Project\Crita Portfolio\portfolio\ppt\brand\c.png">    </p:cNvPr>
          <p:cNvPicPr>
            <a:picLocks noChangeAspect="1"/>
          </p:cNvPicPr>
          <p:nvPr/>
        </p:nvPicPr>
        <p:blipFill>
          <a:blip r:embed="rId1"/>
          <a:stretch>
            <a:fillRect/>
          </a:stretch>
        </p:blipFill>
        <p:spPr>
          <a:xfrm>
            <a:off x="548640" y="544068"/>
            <a:ext cx="182880" cy="134417"/>
          </a:xfrm>
          <a:prstGeom prst="rect">
            <a:avLst/>
          </a:prstGeom>
        </p:spPr>
      </p:pic>
      <p:sp>
        <p:nvSpPr>
          <p:cNvPr id="3" name="Text 0"/>
          <p:cNvSpPr txBox="1"/>
          <p:nvPr/>
        </p:nvSpPr>
        <p:spPr>
          <a:xfrm>
            <a:off x="813816" y="502920"/>
            <a:ext cx="6400800" cy="219456"/>
          </a:xfrm>
          <a:prstGeom prst="rect">
            <a:avLst/>
          </a:prstGeom>
          <a:noFill/>
          <a:ln/>
        </p:spPr>
        <p:txBody>
          <a:bodyPr wrap="square" lIns="0" tIns="0" rIns="0" bIns="0" rtlCol="0" anchor="ctr"/>
          <a:lstStyle/>
          <a:p>
            <a:pPr indent="0" marL="0">
              <a:buNone/>
            </a:pPr>
            <a:r>
              <a:rPr lang="en-US" sz="900" b="1" spc="200" kern="0" dirty="0">
                <a:solidFill>
                  <a:srgbClr val="5C6A62"/>
                </a:solidFill>
              </a:rPr>
              <a:t>BUSINESS VALUE</a:t>
            </a:r>
            <a:endParaRPr lang="en-US" sz="900" dirty="0"/>
          </a:p>
        </p:txBody>
      </p:sp>
      <p:sp>
        <p:nvSpPr>
          <p:cNvPr id="4" name="Text 1"/>
          <p:cNvSpPr/>
          <p:nvPr>
            <p:ph idx="101" type="title" hasCustomPrompt="1"/>
          </p:nvPr>
        </p:nvSpPr>
        <p:spPr>
          <a:xfrm>
            <a:off x="548640" y="768096"/>
            <a:ext cx="9144000" cy="685800"/>
          </a:xfrm>
          <a:prstGeom prst="rect">
            <a:avLst/>
          </a:prstGeom>
          <a:noFill/>
          <a:ln/>
        </p:spPr>
        <p:txBody>
          <a:bodyPr wrap="square" lIns="0" tIns="0" rIns="0" bIns="0" rtlCol="0" anchor="t"/>
          <a:lstStyle/>
          <a:p>
            <a:pPr algn="l" indent="0" marL="0">
              <a:buNone/>
            </a:pPr>
            <a:r>
              <a:rPr lang="en-US" sz="2800" b="1" spc="-60" kern="0" dirty="0">
                <a:solidFill>
                  <a:srgbClr val="0D1813"/>
                </a:solidFill>
              </a:rPr>
              <a:t>What it changes for the business.</a:t>
            </a:r>
            <a:endParaRPr lang="en-US" sz="2800" dirty="0"/>
          </a:p>
        </p:txBody>
      </p:sp>
      <p:sp>
        <p:nvSpPr>
          <p:cNvPr id="5" name="Shape 2"/>
          <p:cNvSpPr/>
          <p:nvPr/>
        </p:nvSpPr>
        <p:spPr>
          <a:xfrm>
            <a:off x="548640" y="1691640"/>
            <a:ext cx="3291840" cy="0"/>
          </a:xfrm>
          <a:prstGeom prst="line">
            <a:avLst/>
          </a:prstGeom>
          <a:noFill/>
          <a:ln w="9525">
            <a:solidFill>
              <a:srgbClr val="D3D5CC"/>
            </a:solidFill>
            <a:prstDash val="solid"/>
          </a:ln>
        </p:spPr>
      </p:sp>
      <p:sp>
        <p:nvSpPr>
          <p:cNvPr id="6" name="Text 3"/>
          <p:cNvSpPr txBox="1"/>
          <p:nvPr/>
        </p:nvSpPr>
        <p:spPr>
          <a:xfrm>
            <a:off x="548640" y="181965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Find any lot, instantly</a:t>
            </a:r>
            <a:endParaRPr lang="en-US" sz="1450" dirty="0"/>
          </a:p>
          <a:p>
            <a:pPr indent="0" marL="0">
              <a:spcAft>
                <a:spcPts val="300"/>
              </a:spcAft>
              <a:buNone/>
            </a:pPr>
            <a:r>
              <a:rPr lang="en-US" sz="1050" dirty="0">
                <a:solidFill>
                  <a:srgbClr val="5C6A62"/>
                </a:solidFill>
              </a:rPr>
              <a:t>Scan a label to see what it is, where it is and what to do next.</a:t>
            </a:r>
            <a:endParaRPr lang="en-US" sz="1450" dirty="0"/>
          </a:p>
        </p:txBody>
      </p:sp>
      <p:sp>
        <p:nvSpPr>
          <p:cNvPr id="7" name="Shape 4"/>
          <p:cNvSpPr/>
          <p:nvPr/>
        </p:nvSpPr>
        <p:spPr>
          <a:xfrm>
            <a:off x="4041648" y="1691640"/>
            <a:ext cx="3291840" cy="0"/>
          </a:xfrm>
          <a:prstGeom prst="line">
            <a:avLst/>
          </a:prstGeom>
          <a:noFill/>
          <a:ln w="9525">
            <a:solidFill>
              <a:srgbClr val="D3D5CC"/>
            </a:solidFill>
            <a:prstDash val="solid"/>
          </a:ln>
        </p:spPr>
      </p:sp>
      <p:sp>
        <p:nvSpPr>
          <p:cNvPr id="8" name="Text 5"/>
          <p:cNvSpPr txBox="1"/>
          <p:nvPr/>
        </p:nvSpPr>
        <p:spPr>
          <a:xfrm>
            <a:off x="4041648" y="181965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Plan space with confidence</a:t>
            </a:r>
            <a:endParaRPr lang="en-US" sz="1450" dirty="0"/>
          </a:p>
          <a:p>
            <a:pPr indent="0" marL="0">
              <a:spcAft>
                <a:spcPts val="300"/>
              </a:spcAft>
              <a:buNone/>
            </a:pPr>
            <a:r>
              <a:rPr lang="en-US" sz="1050" dirty="0">
                <a:solidFill>
                  <a:srgbClr val="5C6A62"/>
                </a:solidFill>
              </a:rPr>
              <a:t>Utilisation and free capacity are visible before put-away.</a:t>
            </a:r>
            <a:endParaRPr lang="en-US" sz="1450" dirty="0"/>
          </a:p>
        </p:txBody>
      </p:sp>
      <p:sp>
        <p:nvSpPr>
          <p:cNvPr id="9" name="Shape 6"/>
          <p:cNvSpPr/>
          <p:nvPr/>
        </p:nvSpPr>
        <p:spPr>
          <a:xfrm>
            <a:off x="548640" y="3017520"/>
            <a:ext cx="3291840" cy="0"/>
          </a:xfrm>
          <a:prstGeom prst="line">
            <a:avLst/>
          </a:prstGeom>
          <a:noFill/>
          <a:ln w="9525">
            <a:solidFill>
              <a:srgbClr val="D3D5CC"/>
            </a:solidFill>
            <a:prstDash val="solid"/>
          </a:ln>
        </p:spPr>
      </p:sp>
      <p:sp>
        <p:nvSpPr>
          <p:cNvPr id="10" name="Text 7"/>
          <p:cNvSpPr txBox="1"/>
          <p:nvPr/>
        </p:nvSpPr>
        <p:spPr>
          <a:xfrm>
            <a:off x="548640" y="314553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Fewer errors on the floor</a:t>
            </a:r>
            <a:endParaRPr lang="en-US" sz="1450" dirty="0"/>
          </a:p>
          <a:p>
            <a:pPr indent="0" marL="0">
              <a:spcAft>
                <a:spcPts val="300"/>
              </a:spcAft>
              <a:buNone/>
            </a:pPr>
            <a:r>
              <a:rPr lang="en-US" sz="1050" dirty="0">
                <a:solidFill>
                  <a:srgbClr val="5C6A62"/>
                </a:solidFill>
              </a:rPr>
              <a:t>One identification flow for every operation; counts never change stock silently.</a:t>
            </a:r>
            <a:endParaRPr lang="en-US" sz="1450" dirty="0"/>
          </a:p>
        </p:txBody>
      </p:sp>
      <p:sp>
        <p:nvSpPr>
          <p:cNvPr id="11" name="Shape 8"/>
          <p:cNvSpPr/>
          <p:nvPr/>
        </p:nvSpPr>
        <p:spPr>
          <a:xfrm>
            <a:off x="4041648" y="3017520"/>
            <a:ext cx="3291840" cy="0"/>
          </a:xfrm>
          <a:prstGeom prst="line">
            <a:avLst/>
          </a:prstGeom>
          <a:noFill/>
          <a:ln w="9525">
            <a:solidFill>
              <a:srgbClr val="D3D5CC"/>
            </a:solidFill>
            <a:prstDash val="solid"/>
          </a:ln>
        </p:spPr>
      </p:sp>
      <p:sp>
        <p:nvSpPr>
          <p:cNvPr id="12" name="Text 9"/>
          <p:cNvSpPr txBox="1"/>
          <p:nvPr/>
        </p:nvSpPr>
        <p:spPr>
          <a:xfrm>
            <a:off x="4041648" y="3145536"/>
            <a:ext cx="3246120" cy="1097280"/>
          </a:xfrm>
          <a:prstGeom prst="rect">
            <a:avLst/>
          </a:prstGeom>
          <a:noFill/>
          <a:ln/>
        </p:spPr>
        <p:txBody>
          <a:bodyPr wrap="square" lIns="0" tIns="0" rIns="0" bIns="0" rtlCol="0" anchor="t"/>
          <a:lstStyle/>
          <a:p>
            <a:pPr indent="0" marL="0">
              <a:spcAft>
                <a:spcPts val="300"/>
              </a:spcAft>
              <a:buNone/>
            </a:pPr>
            <a:r>
              <a:rPr lang="en-US" sz="1450" b="1" dirty="0">
                <a:solidFill>
                  <a:srgbClr val="0D1813"/>
                </a:solidFill>
              </a:rPr>
              <a:t>Real-time visibility</a:t>
            </a:r>
            <a:endParaRPr lang="en-US" sz="1450" dirty="0"/>
          </a:p>
          <a:p>
            <a:pPr indent="0" marL="0">
              <a:spcAft>
                <a:spcPts val="300"/>
              </a:spcAft>
              <a:buNone/>
            </a:pPr>
            <a:r>
              <a:rPr lang="en-US" sz="1050" dirty="0">
                <a:solidFill>
                  <a:srgbClr val="5C6A62"/>
                </a:solidFill>
              </a:rPr>
              <a:t>Stock and operations across both warehouses, as they happen.</a:t>
            </a:r>
            <a:endParaRPr lang="en-US" sz="1450" dirty="0"/>
          </a:p>
        </p:txBody>
      </p:sp>
      <p:sp>
        <p:nvSpPr>
          <p:cNvPr id="13" name="Shape 10"/>
          <p:cNvSpPr/>
          <p:nvPr/>
        </p:nvSpPr>
        <p:spPr>
          <a:xfrm>
            <a:off x="548640" y="4434840"/>
            <a:ext cx="6784848" cy="1783080"/>
          </a:xfrm>
          <a:prstGeom prst="roundRect">
            <a:avLst>
              <a:gd name="adj" fmla="val 7179"/>
            </a:avLst>
          </a:prstGeom>
          <a:solidFill>
            <a:srgbClr val="033F2D"/>
          </a:solidFill>
          <a:ln/>
        </p:spPr>
      </p:sp>
      <p:sp>
        <p:nvSpPr>
          <p:cNvPr id="14" name="Text 11"/>
          <p:cNvSpPr txBox="1"/>
          <p:nvPr/>
        </p:nvSpPr>
        <p:spPr>
          <a:xfrm>
            <a:off x="868680" y="4645152"/>
            <a:ext cx="6172200" cy="1463040"/>
          </a:xfrm>
          <a:prstGeom prst="rect">
            <a:avLst/>
          </a:prstGeom>
          <a:noFill/>
          <a:ln/>
        </p:spPr>
        <p:txBody>
          <a:bodyPr wrap="square" lIns="0" tIns="0" rIns="0" bIns="0" rtlCol="0" anchor="t"/>
          <a:lstStyle/>
          <a:p>
            <a:pPr indent="0" marL="0">
              <a:lnSpc>
                <a:spcPct val="112000"/>
              </a:lnSpc>
              <a:spcAft>
                <a:spcPts val="800"/>
              </a:spcAft>
              <a:buNone/>
            </a:pPr>
            <a:r>
              <a:rPr lang="en-US" sz="1250" dirty="0">
                <a:solidFill>
                  <a:srgbClr val="EEF0E6"/>
                </a:solidFill>
                <a:latin typeface="Satoshi Medium" pitchFamily="34" charset="0"/>
                <a:ea typeface="Satoshi Medium" pitchFamily="34" charset="-122"/>
                <a:cs typeface="Satoshi Medium" pitchFamily="34" charset="-120"/>
              </a:rPr>
              <a:t>“CRITA helped us replace a fragmented inventory process with a much more organised and efficient system. The application gave our team better visibility, reduced manual work, and made it easier to track inventory in real time.”</a:t>
            </a:r>
            <a:endParaRPr lang="en-US" sz="1250" dirty="0"/>
          </a:p>
          <a:p>
            <a:pPr indent="0" marL="0">
              <a:lnSpc>
                <a:spcPct val="112000"/>
              </a:lnSpc>
              <a:spcAft>
                <a:spcPts val="800"/>
              </a:spcAft>
              <a:buNone/>
            </a:pPr>
            <a:r>
              <a:rPr lang="en-US" sz="1000" b="1" dirty="0">
                <a:solidFill>
                  <a:srgbClr val="BFC4BA"/>
                </a:solidFill>
              </a:rPr>
              <a:t>Sreyash · City Threads</a:t>
            </a:r>
            <a:endParaRPr lang="en-US" sz="1250" dirty="0"/>
          </a:p>
        </p:txBody>
      </p:sp>
      <p:pic>
        <p:nvPicPr>
          <p:cNvPr id="15" name="Image 1" descr="F:\Office Project\Crita Portfolio\portfolio\ppt\brand\c.png">    </p:cNvPr>
          <p:cNvPicPr>
            <a:picLocks noChangeAspect="1"/>
          </p:cNvPicPr>
          <p:nvPr/>
        </p:nvPicPr>
        <p:blipFill>
          <a:blip r:embed="rId2"/>
          <a:stretch>
            <a:fillRect/>
          </a:stretch>
        </p:blipFill>
        <p:spPr>
          <a:xfrm>
            <a:off x="7818120" y="544068"/>
            <a:ext cx="182880" cy="134417"/>
          </a:xfrm>
          <a:prstGeom prst="rect">
            <a:avLst/>
          </a:prstGeom>
        </p:spPr>
      </p:pic>
      <p:sp>
        <p:nvSpPr>
          <p:cNvPr id="16" name="Text 12"/>
          <p:cNvSpPr txBox="1"/>
          <p:nvPr/>
        </p:nvSpPr>
        <p:spPr>
          <a:xfrm>
            <a:off x="8083296" y="502920"/>
            <a:ext cx="3824935" cy="219456"/>
          </a:xfrm>
          <a:prstGeom prst="rect">
            <a:avLst/>
          </a:prstGeom>
          <a:noFill/>
          <a:ln/>
        </p:spPr>
        <p:txBody>
          <a:bodyPr wrap="square" lIns="0" tIns="0" rIns="0" bIns="0" rtlCol="0" anchor="ctr"/>
          <a:lstStyle/>
          <a:p>
            <a:pPr indent="0" marL="0">
              <a:buNone/>
            </a:pPr>
            <a:r>
              <a:rPr lang="en-US" sz="900" b="1" spc="200" kern="0" dirty="0">
                <a:solidFill>
                  <a:srgbClr val="5C6A62"/>
                </a:solidFill>
              </a:rPr>
              <a:t>TECHNOLOGY &amp; DELIVERY</a:t>
            </a:r>
            <a:endParaRPr lang="en-US" sz="900" dirty="0"/>
          </a:p>
        </p:txBody>
      </p:sp>
      <p:sp>
        <p:nvSpPr>
          <p:cNvPr id="17" name="Text 13"/>
          <p:cNvSpPr txBox="1"/>
          <p:nvPr/>
        </p:nvSpPr>
        <p:spPr>
          <a:xfrm>
            <a:off x="7818120" y="896112"/>
            <a:ext cx="709574"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Next.js</a:t>
            </a:r>
            <a:endParaRPr lang="en-US" sz="950" dirty="0"/>
          </a:p>
        </p:txBody>
      </p:sp>
      <p:sp>
        <p:nvSpPr>
          <p:cNvPr id="18" name="Text 14"/>
          <p:cNvSpPr txBox="1"/>
          <p:nvPr/>
        </p:nvSpPr>
        <p:spPr>
          <a:xfrm>
            <a:off x="8609990" y="896112"/>
            <a:ext cx="585216"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React</a:t>
            </a:r>
            <a:endParaRPr lang="en-US" sz="950" dirty="0"/>
          </a:p>
        </p:txBody>
      </p:sp>
      <p:sp>
        <p:nvSpPr>
          <p:cNvPr id="19" name="Text 15"/>
          <p:cNvSpPr txBox="1"/>
          <p:nvPr/>
        </p:nvSpPr>
        <p:spPr>
          <a:xfrm>
            <a:off x="9277502" y="896112"/>
            <a:ext cx="896112"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PostgreSQL</a:t>
            </a:r>
            <a:endParaRPr lang="en-US" sz="950" dirty="0"/>
          </a:p>
        </p:txBody>
      </p:sp>
      <p:sp>
        <p:nvSpPr>
          <p:cNvPr id="20" name="Text 16"/>
          <p:cNvSpPr txBox="1"/>
          <p:nvPr/>
        </p:nvSpPr>
        <p:spPr>
          <a:xfrm>
            <a:off x="7818120" y="1261872"/>
            <a:ext cx="1393546"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Cloudflare Workers</a:t>
            </a:r>
            <a:endParaRPr lang="en-US" sz="950" dirty="0"/>
          </a:p>
        </p:txBody>
      </p:sp>
      <p:sp>
        <p:nvSpPr>
          <p:cNvPr id="21" name="Text 17"/>
          <p:cNvSpPr txBox="1"/>
          <p:nvPr/>
        </p:nvSpPr>
        <p:spPr>
          <a:xfrm>
            <a:off x="9293962" y="1261872"/>
            <a:ext cx="1331366"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Code 128 barcodes</a:t>
            </a:r>
            <a:endParaRPr lang="en-US" sz="950" dirty="0"/>
          </a:p>
        </p:txBody>
      </p:sp>
      <p:sp>
        <p:nvSpPr>
          <p:cNvPr id="22" name="Text 18"/>
          <p:cNvSpPr txBox="1"/>
          <p:nvPr/>
        </p:nvSpPr>
        <p:spPr>
          <a:xfrm>
            <a:off x="7818120" y="1627632"/>
            <a:ext cx="958291" cy="274320"/>
          </a:xfrm>
          <a:prstGeom prst="roundRect">
            <a:avLst>
              <a:gd name="adj" fmla="val 50000"/>
            </a:avLst>
          </a:prstGeom>
          <a:solidFill>
            <a:srgbClr val="F5F5EF"/>
          </a:solidFill>
          <a:ln w="9525">
            <a:solidFill>
              <a:srgbClr val="C3C6BD"/>
            </a:solidFill>
          </a:ln>
        </p:spPr>
        <p:txBody>
          <a:bodyPr wrap="square" lIns="0" tIns="0" rIns="0" bIns="0" rtlCol="0" anchor="ctr"/>
          <a:lstStyle/>
          <a:p>
            <a:pPr algn="ctr" indent="0" marL="0">
              <a:buNone/>
            </a:pPr>
            <a:r>
              <a:rPr lang="en-US" sz="950" dirty="0">
                <a:solidFill>
                  <a:srgbClr val="34433B"/>
                </a:solidFill>
              </a:rPr>
              <a:t>Android app</a:t>
            </a:r>
            <a:endParaRPr lang="en-US" sz="950" dirty="0"/>
          </a:p>
        </p:txBody>
      </p:sp>
      <p:sp>
        <p:nvSpPr>
          <p:cNvPr id="23" name="Text 19"/>
          <p:cNvSpPr txBox="1"/>
          <p:nvPr/>
        </p:nvSpPr>
        <p:spPr>
          <a:xfrm>
            <a:off x="7818120" y="2103120"/>
            <a:ext cx="3824935" cy="1508760"/>
          </a:xfrm>
          <a:prstGeom prst="rect">
            <a:avLst/>
          </a:prstGeom>
          <a:noFill/>
          <a:ln/>
        </p:spPr>
        <p:txBody>
          <a:bodyPr wrap="square" lIns="0" tIns="0" rIns="0" bIns="0" rtlCol="0" anchor="t"/>
          <a:lstStyle/>
          <a:p>
            <a:pPr marL="165100" indent="-165100">
              <a:spcAft>
                <a:spcPts val="400"/>
              </a:spcAft>
              <a:buSzPct val="100000"/>
              <a:buChar char="•"/>
            </a:pPr>
            <a:r>
              <a:rPr lang="en-US" sz="1000" dirty="0">
                <a:solidFill>
                  <a:srgbClr val="34433B"/>
                </a:solidFill>
              </a:rPr>
              <a:t>Camera scanning through the browser’s native barcode detector, with manual entry always available</a:t>
            </a:r>
            <a:endParaRPr lang="en-US" sz="1000" dirty="0"/>
          </a:p>
          <a:p>
            <a:pPr marL="165100" indent="-165100">
              <a:spcAft>
                <a:spcPts val="400"/>
              </a:spcAft>
              <a:buSzPct val="100000"/>
              <a:buChar char="•"/>
            </a:pPr>
            <a:r>
              <a:rPr lang="en-US" sz="1000" dirty="0">
                <a:solidFill>
                  <a:srgbClr val="34433B"/>
                </a:solidFill>
              </a:rPr>
              <a:t>Bins are released only when stock reaches zero — enforced in one place</a:t>
            </a:r>
            <a:endParaRPr lang="en-US" sz="1000" dirty="0"/>
          </a:p>
          <a:p>
            <a:pPr marL="165100" indent="-165100">
              <a:spcAft>
                <a:spcPts val="400"/>
              </a:spcAft>
              <a:buSzPct val="100000"/>
              <a:buChar char="•"/>
            </a:pPr>
            <a:r>
              <a:rPr lang="en-US" sz="1000" dirty="0">
                <a:solidFill>
                  <a:srgbClr val="34433B"/>
                </a:solidFill>
              </a:rPr>
              <a:t>Served from Cloudflare’s global edge network</a:t>
            </a:r>
            <a:endParaRPr lang="en-US" sz="1000" dirty="0"/>
          </a:p>
        </p:txBody>
      </p:sp>
      <p:sp>
        <p:nvSpPr>
          <p:cNvPr id="24" name="Shape 20"/>
          <p:cNvSpPr/>
          <p:nvPr/>
        </p:nvSpPr>
        <p:spPr>
          <a:xfrm>
            <a:off x="7818120" y="3931920"/>
            <a:ext cx="3824935" cy="2286000"/>
          </a:xfrm>
          <a:prstGeom prst="roundRect">
            <a:avLst>
              <a:gd name="adj" fmla="val 5600"/>
            </a:avLst>
          </a:prstGeom>
          <a:solidFill>
            <a:srgbClr val="06120D"/>
          </a:solidFill>
          <a:ln/>
        </p:spPr>
      </p:sp>
      <p:pic>
        <p:nvPicPr>
          <p:cNvPr id="25" name="Image 2" descr="F:\Office Project\Crita Portfolio\portfolio\ppt\brand\c.png">    </p:cNvPr>
          <p:cNvPicPr>
            <a:picLocks noChangeAspect="1"/>
          </p:cNvPicPr>
          <p:nvPr/>
        </p:nvPicPr>
        <p:blipFill>
          <a:blip r:embed="rId3"/>
          <a:stretch>
            <a:fillRect/>
          </a:stretch>
        </p:blipFill>
        <p:spPr>
          <a:xfrm>
            <a:off x="8092440" y="4201668"/>
            <a:ext cx="182880" cy="134417"/>
          </a:xfrm>
          <a:prstGeom prst="rect">
            <a:avLst/>
          </a:prstGeom>
        </p:spPr>
      </p:pic>
      <p:sp>
        <p:nvSpPr>
          <p:cNvPr id="26" name="Text 21"/>
          <p:cNvSpPr txBox="1"/>
          <p:nvPr/>
        </p:nvSpPr>
        <p:spPr>
          <a:xfrm>
            <a:off x="8357616" y="4160520"/>
            <a:ext cx="3276295" cy="219456"/>
          </a:xfrm>
          <a:prstGeom prst="rect">
            <a:avLst/>
          </a:prstGeom>
          <a:noFill/>
          <a:ln/>
        </p:spPr>
        <p:txBody>
          <a:bodyPr wrap="square" lIns="0" tIns="0" rIns="0" bIns="0" rtlCol="0" anchor="ctr"/>
          <a:lstStyle/>
          <a:p>
            <a:pPr indent="0" marL="0">
              <a:buNone/>
            </a:pPr>
            <a:r>
              <a:rPr lang="en-US" sz="900" b="1" spc="200" kern="0" dirty="0">
                <a:solidFill>
                  <a:srgbClr val="8C938B"/>
                </a:solidFill>
              </a:rPr>
              <a:t>LIVE PRODUCT</a:t>
            </a:r>
            <a:endParaRPr lang="en-US" sz="900" dirty="0"/>
          </a:p>
        </p:txBody>
      </p:sp>
      <p:sp>
        <p:nvSpPr>
          <p:cNvPr id="27" name="Text 22">
            <a:hlinkClick r:id="rId4" tooltip="City Threads"/>
          </p:cNvPr>
          <p:cNvSpPr txBox="1"/>
          <p:nvPr/>
        </p:nvSpPr>
        <p:spPr>
          <a:xfrm>
            <a:off x="8092440" y="4498848"/>
            <a:ext cx="3276295" cy="365760"/>
          </a:xfrm>
          <a:prstGeom prst="rect">
            <a:avLst/>
          </a:prstGeom>
          <a:noFill/>
          <a:ln/>
        </p:spPr>
        <p:txBody>
          <a:bodyPr wrap="square" lIns="0" tIns="0" rIns="0" bIns="0" rtlCol="0" anchor="t"/>
          <a:lstStyle/>
          <a:p>
            <a:pPr indent="0" marL="0">
              <a:buNone/>
            </a:pPr>
            <a:r>
              <a:rPr lang="en-US" sz="1600" b="1" u="sng" dirty="0">
                <a:solidFill>
                  <a:srgbClr val="D6E151"/>
                </a:solidFill>
                <a:hlinkClick r:id="rId4" invalidUrl="" action="" tgtFrame="" tooltip="City Threads" history="1" highlightClick="0" endSnd="0">
                  <a:extLst>
                    <a:ext uri="{A12FA001-AC4F-418D-AE19-62706E023703}">
                      <ahyp:hlinkClr xmlns:ahyp="http://schemas.microsoft.com/office/drawing/2018/hyperlinkcolor" val="tx"/>
                    </a:ext>
                  </a:extLst>
                </a:hlinkClick>
              </a:rPr>
              <a:t>View live demo →</a:t>
            </a:r>
            <a:endParaRPr lang="en-US" sz="1600" dirty="0"/>
          </a:p>
        </p:txBody>
      </p:sp>
      <p:sp>
        <p:nvSpPr>
          <p:cNvPr id="28" name="Text 23"/>
          <p:cNvSpPr txBox="1"/>
          <p:nvPr/>
        </p:nvSpPr>
        <p:spPr>
          <a:xfrm>
            <a:off x="8092440" y="4873752"/>
            <a:ext cx="3276295" cy="228600"/>
          </a:xfrm>
          <a:prstGeom prst="rect">
            <a:avLst/>
          </a:prstGeom>
          <a:noFill/>
          <a:ln/>
        </p:spPr>
        <p:txBody>
          <a:bodyPr wrap="square" lIns="0" tIns="0" rIns="0" bIns="0" rtlCol="0" anchor="t"/>
          <a:lstStyle/>
          <a:p>
            <a:pPr indent="0" marL="0">
              <a:buNone/>
            </a:pPr>
            <a:r>
              <a:rPr lang="en-US" sz="900" dirty="0">
                <a:solidFill>
                  <a:srgbClr val="8C938B"/>
                </a:solidFill>
              </a:rPr>
              <a:t>City Threads</a:t>
            </a:r>
            <a:endParaRPr lang="en-US" sz="900" dirty="0"/>
          </a:p>
        </p:txBody>
      </p:sp>
      <p:sp>
        <p:nvSpPr>
          <p:cNvPr id="29" name="Shape 24">
            <a:hlinkClick r:id="rId5" tooltip="City Threads"/>
          </p:cNvPr>
          <p:cNvSpPr/>
          <p:nvPr/>
        </p:nvSpPr>
        <p:spPr>
          <a:xfrm>
            <a:off x="8092440" y="4873752"/>
            <a:ext cx="905256" cy="228600"/>
          </a:xfrm>
          <a:prstGeom prst="rect">
            <a:avLst/>
          </a:prstGeom>
          <a:solidFill>
            <a:srgbClr val="FFFFFF">
              <a:alpha val="0"/>
            </a:srgbClr>
          </a:solidFill>
          <a:ln/>
        </p:spPr>
      </p:sp>
      <p:sp>
        <p:nvSpPr>
          <p:cNvPr id="30" name="Text 25"/>
          <p:cNvSpPr txBox="1"/>
          <p:nvPr/>
        </p:nvSpPr>
        <p:spPr>
          <a:xfrm>
            <a:off x="8092440" y="5230368"/>
            <a:ext cx="3276295" cy="868680"/>
          </a:xfrm>
          <a:prstGeom prst="rect">
            <a:avLst/>
          </a:prstGeom>
          <a:noFill/>
          <a:ln/>
        </p:spPr>
        <p:txBody>
          <a:bodyPr wrap="square" lIns="0" tIns="0" rIns="0" bIns="0" rtlCol="0" anchor="t"/>
          <a:lstStyle/>
          <a:p>
            <a:pPr indent="0" marL="0">
              <a:spcAft>
                <a:spcPts val="200"/>
              </a:spcAft>
              <a:buNone/>
            </a:pPr>
            <a:r>
              <a:rPr lang="en-US" sz="950" b="1" dirty="0">
                <a:solidFill>
                  <a:srgbClr val="EEF0E6"/>
                </a:solidFill>
              </a:rPr>
              <a:t>Administrator</a:t>
            </a:r>
            <a:endParaRPr lang="en-US" sz="950" dirty="0"/>
          </a:p>
          <a:p>
            <a:pPr indent="0" marL="0">
              <a:spcAft>
                <a:spcPts val="200"/>
              </a:spcAft>
              <a:buNone/>
            </a:pPr>
            <a:r>
              <a:rPr lang="en-US" sz="950" dirty="0">
                <a:solidFill>
                  <a:srgbClr val="BFC4BA"/>
                </a:solidFill>
              </a:rPr>
              <a:t>admin@citythreads.com  ·  Admin@123</a:t>
            </a:r>
            <a:endParaRPr lang="en-US" sz="950" dirty="0"/>
          </a:p>
          <a:p>
            <a:pPr indent="0" marL="0">
              <a:spcAft>
                <a:spcPts val="200"/>
              </a:spcAft>
              <a:buNone/>
            </a:pPr>
            <a:r>
              <a:rPr lang="en-US" sz="950" b="1" dirty="0">
                <a:solidFill>
                  <a:srgbClr val="EEF0E6"/>
                </a:solidFill>
              </a:rPr>
              <a:t>Warehouse Executive</a:t>
            </a:r>
            <a:endParaRPr lang="en-US" sz="950" dirty="0"/>
          </a:p>
          <a:p>
            <a:pPr indent="0" marL="0">
              <a:spcAft>
                <a:spcPts val="200"/>
              </a:spcAft>
              <a:buNone/>
            </a:pPr>
            <a:r>
              <a:rPr lang="en-US" sz="950" dirty="0">
                <a:solidFill>
                  <a:srgbClr val="BFC4BA"/>
                </a:solidFill>
              </a:rPr>
              <a:t>aarav@citythreads.com  ·  Exec@123</a:t>
            </a:r>
            <a:endParaRPr lang="en-US" sz="950" dirty="0"/>
          </a:p>
        </p:txBody>
      </p:sp>
      <p:sp>
        <p:nvSpPr>
          <p:cNvPr id="31" name="Text 26"/>
          <p:cNvSpPr txBox="1"/>
          <p:nvPr/>
        </p:nvSpPr>
        <p:spPr>
          <a:xfrm>
            <a:off x="7818120" y="6272784"/>
            <a:ext cx="3824935" cy="274320"/>
          </a:xfrm>
          <a:prstGeom prst="rect">
            <a:avLst/>
          </a:prstGeom>
          <a:noFill/>
          <a:ln/>
        </p:spPr>
        <p:txBody>
          <a:bodyPr wrap="square" lIns="0" tIns="0" rIns="0" bIns="0" rtlCol="0" anchor="t"/>
          <a:lstStyle/>
          <a:p>
            <a:pPr indent="0" marL="0">
              <a:buNone/>
            </a:pPr>
            <a:r>
              <a:rPr lang="en-US" sz="800" dirty="0">
                <a:solidFill>
                  <a:srgbClr val="5C6A62"/>
                </a:solidFill>
              </a:rPr>
              <a:t>Demonstration environment with sample data.</a:t>
            </a:r>
            <a:endParaRPr lang="en-US" sz="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850">
                <a:solidFill>
                  <a:srgbClr val="5C6A6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F:\Office Project\Crita Portfolio\portfolio\ppt\brand\pattern-c.png">    </p:cNvPr>
          <p:cNvPicPr>
            <a:picLocks noChangeAspect="1"/>
          </p:cNvPicPr>
          <p:nvPr/>
        </p:nvPicPr>
        <p:blipFill>
          <a:blip r:embed="rId1">
            <a:alphaModFix amt="10000"/>
          </a:blip>
          <a:stretch>
            <a:fillRect/>
          </a:stretch>
        </p:blipFill>
        <p:spPr>
          <a:xfrm>
            <a:off x="7863840" y="-274320"/>
            <a:ext cx="4937760" cy="6583680"/>
          </a:xfrm>
          <a:prstGeom prst="rect">
            <a:avLst/>
          </a:prstGeom>
        </p:spPr>
      </p:pic>
      <p:pic>
        <p:nvPicPr>
          <p:cNvPr id="3" name="Image 1" descr="F:\Office Project\Crita Portfolio\portfolio\ppt\brand\c.png">    </p:cNvPr>
          <p:cNvPicPr>
            <a:picLocks noChangeAspect="1"/>
          </p:cNvPicPr>
          <p:nvPr/>
        </p:nvPicPr>
        <p:blipFill>
          <a:blip r:embed="rId2"/>
          <a:stretch>
            <a:fillRect/>
          </a:stretch>
        </p:blipFill>
        <p:spPr>
          <a:xfrm>
            <a:off x="548640" y="1549908"/>
            <a:ext cx="182880" cy="134417"/>
          </a:xfrm>
          <a:prstGeom prst="rect">
            <a:avLst/>
          </a:prstGeom>
        </p:spPr>
      </p:pic>
      <p:sp>
        <p:nvSpPr>
          <p:cNvPr id="4" name="Text 0"/>
          <p:cNvSpPr txBox="1"/>
          <p:nvPr/>
        </p:nvSpPr>
        <p:spPr>
          <a:xfrm>
            <a:off x="813816" y="1508760"/>
            <a:ext cx="6400800" cy="219456"/>
          </a:xfrm>
          <a:prstGeom prst="rect">
            <a:avLst/>
          </a:prstGeom>
          <a:noFill/>
          <a:ln/>
        </p:spPr>
        <p:txBody>
          <a:bodyPr wrap="square" lIns="0" tIns="0" rIns="0" bIns="0" rtlCol="0" anchor="ctr"/>
          <a:lstStyle/>
          <a:p>
            <a:pPr indent="0" marL="0">
              <a:buNone/>
            </a:pPr>
            <a:r>
              <a:rPr lang="en-US" sz="900" b="1" spc="200" kern="0" dirty="0">
                <a:solidFill>
                  <a:srgbClr val="8C938B"/>
                </a:solidFill>
              </a:rPr>
              <a:t>START THE CONVERSATION</a:t>
            </a:r>
            <a:endParaRPr lang="en-US" sz="900" dirty="0"/>
          </a:p>
        </p:txBody>
      </p:sp>
      <p:sp>
        <p:nvSpPr>
          <p:cNvPr id="5" name="Text 1"/>
          <p:cNvSpPr txBox="1"/>
          <p:nvPr/>
        </p:nvSpPr>
        <p:spPr>
          <a:xfrm>
            <a:off x="548640" y="1828800"/>
            <a:ext cx="7498080" cy="2194560"/>
          </a:xfrm>
          <a:prstGeom prst="rect">
            <a:avLst/>
          </a:prstGeom>
          <a:noFill/>
          <a:ln/>
        </p:spPr>
        <p:txBody>
          <a:bodyPr wrap="square" lIns="0" tIns="0" rIns="0" bIns="0" rtlCol="0" anchor="t"/>
          <a:lstStyle/>
          <a:p>
            <a:pPr indent="0" marL="0">
              <a:lnSpc>
                <a:spcPct val="92000"/>
              </a:lnSpc>
              <a:buNone/>
            </a:pPr>
            <a:r>
              <a:rPr lang="en-US" sz="4600" b="1" spc="-120" kern="0" dirty="0">
                <a:solidFill>
                  <a:srgbClr val="EEF0E6"/>
                </a:solidFill>
              </a:rPr>
              <a:t>Let’s build something meaningful together.</a:t>
            </a:r>
            <a:endParaRPr lang="en-US" sz="4600" dirty="0"/>
          </a:p>
        </p:txBody>
      </p:sp>
      <p:sp>
        <p:nvSpPr>
          <p:cNvPr id="6" name="Text 2"/>
          <p:cNvSpPr txBox="1"/>
          <p:nvPr/>
        </p:nvSpPr>
        <p:spPr>
          <a:xfrm>
            <a:off x="548640" y="3703320"/>
            <a:ext cx="6400800" cy="731520"/>
          </a:xfrm>
          <a:prstGeom prst="rect">
            <a:avLst/>
          </a:prstGeom>
          <a:noFill/>
          <a:ln/>
        </p:spPr>
        <p:txBody>
          <a:bodyPr wrap="square" lIns="0" tIns="0" rIns="0" bIns="0" rtlCol="0" anchor="t"/>
          <a:lstStyle/>
          <a:p>
            <a:pPr indent="0" marL="0">
              <a:lnSpc>
                <a:spcPct val="115000"/>
              </a:lnSpc>
              <a:buNone/>
            </a:pPr>
            <a:r>
              <a:rPr lang="en-US" sz="1500" dirty="0">
                <a:solidFill>
                  <a:srgbClr val="BFC4BA"/>
                </a:solidFill>
              </a:rPr>
              <a:t>Tell us where you’re stuck. We’ll reply within one business day with a clear point of view.</a:t>
            </a:r>
            <a:endParaRPr lang="en-US" sz="1500" dirty="0"/>
          </a:p>
        </p:txBody>
      </p:sp>
      <p:sp>
        <p:nvSpPr>
          <p:cNvPr id="7" name="Text 3"/>
          <p:cNvSpPr txBox="1"/>
          <p:nvPr/>
        </p:nvSpPr>
        <p:spPr>
          <a:xfrm>
            <a:off x="548640" y="4526280"/>
            <a:ext cx="5486400" cy="822960"/>
          </a:xfrm>
          <a:prstGeom prst="rect">
            <a:avLst/>
          </a:prstGeom>
          <a:noFill/>
          <a:ln/>
        </p:spPr>
        <p:txBody>
          <a:bodyPr wrap="square" lIns="0" tIns="0" rIns="0" bIns="0" rtlCol="0" anchor="t"/>
          <a:lstStyle/>
          <a:p>
            <a:pPr indent="0" marL="0">
              <a:spcAft>
                <a:spcPts val="400"/>
              </a:spcAft>
              <a:buNone/>
            </a:pPr>
            <a:r>
              <a:rPr lang="en-US" sz="1700" b="1" u="sng" dirty="0">
                <a:solidFill>
                  <a:srgbClr val="D6E151"/>
                </a:solidFill>
                <a:hlinkClick r:id="rId3" invalidUrl="" action="" tgtFrame="" tooltip="" history="1" highlightClick="0" endSnd="0">
                  <a:extLst>
                    <a:ext uri="{A12FA001-AC4F-418D-AE19-62706E023703}">
                      <ahyp:hlinkClr xmlns:ahyp="http://schemas.microsoft.com/office/drawing/2018/hyperlinkcolor" val="tx"/>
                    </a:ext>
                  </a:extLst>
                </a:hlinkClick>
              </a:rPr>
              <a:t>abishek@crita.in</a:t>
            </a:r>
            <a:endParaRPr lang="en-US" sz="1700" dirty="0"/>
          </a:p>
          <a:p>
            <a:pPr indent="0" marL="0">
              <a:spcAft>
                <a:spcPts val="400"/>
              </a:spcAft>
              <a:buNone/>
            </a:pPr>
            <a:r>
              <a:rPr lang="en-US" sz="1700" b="1" u="sng" dirty="0">
                <a:solidFill>
                  <a:srgbClr val="D6E151"/>
                </a:solidFill>
                <a:hlinkClick r:id="rId4" invalidUrl="" action="" tgtFrame="" tooltip="" history="1" highlightClick="0" endSnd="0">
                  <a:extLst>
                    <a:ext uri="{A12FA001-AC4F-418D-AE19-62706E023703}">
                      <ahyp:hlinkClr xmlns:ahyp="http://schemas.microsoft.com/office/drawing/2018/hyperlinkcolor" val="tx"/>
                    </a:ext>
                  </a:extLst>
                </a:hlinkClick>
              </a:rPr>
              <a:t>www.crita.in</a:t>
            </a:r>
            <a:endParaRPr lang="en-US" sz="1700" dirty="0"/>
          </a:p>
        </p:txBody>
      </p:sp>
      <p:pic>
        <p:nvPicPr>
          <p:cNvPr id="8" name="Image 2" descr="Crita">    </p:cNvPr>
          <p:cNvPicPr>
            <a:picLocks noChangeAspect="1"/>
          </p:cNvPicPr>
          <p:nvPr/>
        </p:nvPicPr>
        <p:blipFill>
          <a:blip r:embed="rId5"/>
          <a:stretch>
            <a:fillRect/>
          </a:stretch>
        </p:blipFill>
        <p:spPr>
          <a:xfrm>
            <a:off x="548640" y="6172200"/>
            <a:ext cx="1188720" cy="228884"/>
          </a:xfrm>
          <a:prstGeom prst="rect">
            <a:avLst/>
          </a:prstGeom>
        </p:spPr>
      </p:pic>
      <p:sp>
        <p:nvSpPr>
          <p:cNvPr id="9" name="Text 4"/>
          <p:cNvSpPr txBox="1"/>
          <p:nvPr/>
        </p:nvSpPr>
        <p:spPr>
          <a:xfrm>
            <a:off x="7985455" y="6236208"/>
            <a:ext cx="3657600" cy="201168"/>
          </a:xfrm>
          <a:prstGeom prst="rect">
            <a:avLst/>
          </a:prstGeom>
          <a:noFill/>
          <a:ln/>
        </p:spPr>
        <p:txBody>
          <a:bodyPr wrap="square" lIns="0" tIns="0" rIns="0" bIns="0" rtlCol="0" anchor="t"/>
          <a:lstStyle/>
          <a:p>
            <a:pPr algn="r" indent="0" marL="0">
              <a:buNone/>
            </a:pPr>
            <a:r>
              <a:rPr lang="en-US" sz="850" dirty="0">
                <a:solidFill>
                  <a:srgbClr val="8C938B"/>
                </a:solidFill>
              </a:rPr>
              <a:t>© 2026 Crita Creative LLP</a:t>
            </a:r>
            <a:endParaRPr lang="en-US" sz="850" dirty="0"/>
          </a:p>
        </p:txBody>
      </p:sp>
    </p:spTree>
  </p:cSld>
  <p:clrMapOvr>
    <a:masterClrMapping/>
  </p:clrMapOvr>
</p:sld>
</file>

<file path=ppt/theme/theme1.xml><?xml version="1.0" encoding="utf-8"?>
<a:theme xmlns:a="http://schemas.openxmlformats.org/drawingml/2006/main" name="Crita Portfolio">
  <a:themeElements>
    <a:clrScheme name="Crita Portfolio">
      <a:dk1>
        <a:srgbClr val="0D1813"/>
      </a:dk1>
      <a:lt1>
        <a:srgbClr val="FFFFFF"/>
      </a:lt1>
      <a:dk2>
        <a:srgbClr val="033F2D"/>
      </a:dk2>
      <a:lt2>
        <a:srgbClr val="F5F5EF"/>
      </a:lt2>
      <a:accent1>
        <a:srgbClr val="7FA53F"/>
      </a:accent1>
      <a:accent2>
        <a:srgbClr val="D6E151"/>
      </a:accent2>
      <a:accent3>
        <a:srgbClr val="4E6B31"/>
      </a:accent3>
      <a:accent4>
        <a:srgbClr val="06120D"/>
      </a:accent4>
      <a:accent5>
        <a:srgbClr val="ECEBCB"/>
      </a:accent5>
      <a:accent6>
        <a:srgbClr val="5C6A62"/>
      </a:accent6>
      <a:hlink>
        <a:srgbClr val="4E6B31"/>
      </a:hlink>
      <a:folHlink>
        <a:srgbClr val="4E6B31"/>
      </a:folHlink>
    </a:clrScheme>
    <a:fontScheme name="Crita Portfolio">
      <a:majorFont>
        <a:latin typeface="Satoshi"/>
        <a:ea typeface="Satoshi"/>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toshi"/>
        <a:ea typeface="Satoshi"/>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Crita Creative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Crita Creative LLP — Selected Work 2026</dc:title>
  <dc:subject>Selected software projects by Crita Creative LLP: field-audit operations, scrap-yard inventory, business intelligence and warehouse management platforms.</dc:subject>
  <dc:creator>Crita Creative LLP</dc:creator>
  <cp:lastModifiedBy>Crita Creative LLP</cp:lastModifiedBy>
  <cp:revision>1</cp:revision>
  <dcterms:created xsi:type="dcterms:W3CDTF">2026-10-27T13:45:36Z</dcterms:created>
  <dcterms:modified xsi:type="dcterms:W3CDTF">2026-10-27T13:45:36Z</dcterms:modified>
</cp:coreProperties>
</file>