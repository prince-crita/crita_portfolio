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notesMasterIdLst>
    <p:notesMasterId r:id="rId8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03392ce-c39d-f848-0a4a-fcaf3b4d7977}">
          <p14:sldIdLst>
            <p14:sldId id="256"/>
            <p14:sldId id="257"/>
            <p14:sldId id="258"/>
            <p14:sldId id="259"/>
          </p14:sldIdLst>
        </p14:section>
        <p14:section name="01 · Veloce Scrap Flow" id="{f8a13600-c44b-533c-f85b-79d587be0900}">
          <p14:sldIdLst>
            <p14:sldId id="260"/>
            <p14:sldId id="261"/>
            <p14:sldId id="262"/>
            <p14:sldId id="263"/>
            <p14:sldId id="264"/>
            <p14:sldId id="265"/>
            <p14:sldId id="266"/>
            <p14:sldId id="267"/>
          </p14:sldIdLst>
        </p14:section>
        <p14:section name="02 · Tribal Brew Coffee" id="{302d567d-0f02-fe4c-e402-e0a28cfe34be}">
          <p14:sldIdLst>
            <p14:sldId id="268"/>
            <p14:sldId id="269"/>
            <p14:sldId id="270"/>
            <p14:sldId id="271"/>
            <p14:sldId id="272"/>
            <p14:sldId id="273"/>
            <p14:sldId id="274"/>
            <p14:sldId id="275"/>
          </p14:sldIdLst>
        </p14:section>
        <p14:section name="03 · Clario" id="{3d49c1b1-4a63-5651-79a6-cd523fbc423f}">
          <p14:sldIdLst>
            <p14:sldId id="276"/>
            <p14:sldId id="277"/>
            <p14:sldId id="278"/>
            <p14:sldId id="279"/>
            <p14:sldId id="280"/>
            <p14:sldId id="281"/>
            <p14:sldId id="282"/>
            <p14:sldId id="283"/>
          </p14:sldIdLst>
        </p14:section>
        <p14:section name="04 · SMC Task Management" id="{ea4ae01f-6209-4b62-90f6-66a004e08697}">
          <p14:sldIdLst>
            <p14:sldId id="284"/>
            <p14:sldId id="285"/>
            <p14:sldId id="286"/>
            <p14:sldId id="287"/>
            <p14:sldId id="288"/>
            <p14:sldId id="289"/>
            <p14:sldId id="290"/>
            <p14:sldId id="291"/>
          </p14:sldIdLst>
        </p14:section>
        <p14:section name="05 · AI Sales CRM" id="{50e4d59c-ee76-7ad1-bb01-da5cdbae72fc}">
          <p14:sldIdLst>
            <p14:sldId id="292"/>
            <p14:sldId id="293"/>
            <p14:sldId id="294"/>
            <p14:sldId id="295"/>
            <p14:sldId id="296"/>
            <p14:sldId id="297"/>
            <p14:sldId id="298"/>
            <p14:sldId id="299"/>
          </p14:sldIdLst>
        </p14:section>
        <p14:section name="06 · City Threads" id="{cfde92d5-d0aa-4446-e475-ad6fffbd9706}">
          <p14:sldIdLst>
            <p14:sldId id="300"/>
            <p14:sldId id="301"/>
            <p14:sldId id="302"/>
            <p14:sldId id="303"/>
            <p14:sldId id="304"/>
            <p14:sldId id="305"/>
            <p14:sldId id="306"/>
            <p14:sldId id="307"/>
          </p14:sldIdLst>
        </p14:section>
        <p14:section name="07 · Veloce Trade" id="{5367b22d-a32a-e84c-d232-5a1da2df2266}">
          <p14:sldIdLst>
            <p14:sldId id="308"/>
            <p14:sldId id="309"/>
            <p14:sldId id="310"/>
            <p14:sldId id="311"/>
            <p14:sldId id="312"/>
            <p14:sldId id="313"/>
            <p14:sldId id="314"/>
            <p14:sldId id="315"/>
          </p14:sldIdLst>
        </p14:section>
        <p14:section name="08 · Expense Log" id="{356c87ed-6409-9e1f-6890-3c66cc8de71c}">
          <p14:sldIdLst>
            <p14:sldId id="316"/>
            <p14:sldId id="317"/>
            <p14:sldId id="318"/>
            <p14:sldId id="319"/>
            <p14:sldId id="320"/>
            <p14:sldId id="321"/>
            <p14:sldId id="322"/>
            <p14:sldId id="323"/>
          </p14:sldIdLst>
        </p14:section>
        <p14:section name="09 · Lead Discovery CRM" id="{ce1be35d-f6a7-7573-c0dd-bbff8d44e713}">
          <p14:sldIdLst>
            <p14:sldId id="324"/>
            <p14:sldId id="325"/>
            <p14:sldId id="326"/>
            <p14:sldId id="327"/>
            <p14:sldId id="328"/>
            <p14:sldId id="329"/>
            <p14:sldId id="330"/>
            <p14:sldId id="331"/>
          </p14:sldIdLst>
        </p14:section>
        <p14:section name="10 · Support Portal" id="{bf535ad8-f546-29bc-bb20-97cf5a9fe1d9}">
          <p14:sldIdLst>
            <p14:sldId id="332"/>
            <p14:sldId id="333"/>
            <p14:sldId id="334"/>
            <p14:sldId id="335"/>
            <p14:sldId id="336"/>
            <p14:sldId id="337"/>
            <p14:sldId id="338"/>
            <p14:sldId id="339"/>
          </p14:sldIdLst>
        </p14:section>
        <p14:section name="Closing" id="{21b9bc56-c890-6dc3-cc13-623c54056933}">
          <p14:sldIdLst>
            <p14:sldId id="34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notesMaster" Target="notesMasters/notesMaster1.xml"/><Relationship Id="rId88" Type="http://schemas.openxmlformats.org/officeDocument/2006/relationships/presProps" Target="presProps.xml"/><Relationship Id="rId89" Type="http://schemas.openxmlformats.org/officeDocument/2006/relationships/viewProps" Target="viewProps.xml"/><Relationship Id="rId90" Type="http://schemas.openxmlformats.org/officeDocument/2006/relationships/theme" Target="theme/theme1.xml"/><Relationship Id="rId9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 who we are in one breath.
“Crita is a consulting-led technology partner. We design and build custom business platforms around the way each business actually works.”
What follows: ten platforms we built — Veloce Scrap Flow (yard operations &amp; inventory platform); Tribal Brew Coffee (café pos, back office &amp; ordering app); Clario (business-intelligence platform); SMC Task Management (field operations platform); AI Sales CRM (sales crm with an ai co-pilot); City Threads (warehouse &amp; inventory management); Veloce Trade (b2b material-trading app); Expense Log (expense, approval &amp; budget platform); Lead Discovery CRM (website lead &amp; discovery crm); Support Portal (ticketing &amp; support portal). Screens are from the products themselves; Veloce Trade’s come from its user guide.
Tip: click a project name at the bottom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We combine strategy, product design and engineering to turn fragmented operations into connected systems people actually use. Every project starts with the business, not the brief.
Proof points from crita.in: 18+ projects delivered, 07 industries served.
How we work — “Clarity, then code”: Discover, Strategize, Build, Scale. We earn the right to build by understanding the business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BUILD — six capabilities, each proven by a project in this deck:
1. Operations platforms — Role-based systems that plan, run and audit work across field teams and the office. (see SMC Task Management, Veloce Scrap Flow, Veloce Trade, Support Portal)
2. Inventory &amp; warehousing — Lots, barcodes, bins and ledgers that make every unit of stock traceable. (see Veloce Scrap Flow, City Threads)
3. Business intelligence — Dashboards that turn the systems you already use into clear decisions. (see Clario, Veloce Scrap Flow, Expense Log)
4. Applied AI — Assistants that answer from your own data, with sources — never invented numbers. (see Clario, AI Sales CRM)
5. Mobile-first apps — Designed for one hand on the shop floor and in the field, packaged for Android. (see SMC Task Management, Veloce Scrap Flow, City Threads, Tribal Brew Coffee, Veloce Trade)
6. Multi-tenant foundations — Workspaces, roles, data isolation and audit trails, ready to scale. (see Veloce Scrap Flow, Clario, Expense Log)
Ask the client which of these matters most, then jump to that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SELECTED WORK — ten platforms. Click any card or name to jump to that project; use the section list (left panel) to hide projects you won't present.
01 Veloce Scrap Flow (slide 5) — Veloce, Scrap &amp; recycling. Every kilogram, from weighbridge to dispatch.
02 Tribal Brew Coffee (slide 13) — Tribal Brew Coffee, Café &amp; food service. One menu for every outlet — from the counter to the customer’s phone.
03 Clario (slide 21) — A Crita product, Business intelligence. Understand your business, not just your numbers.
04 SMC Task Management (slide 29) — Shaabi Management Consultancy, Audit &amp; consulting. Field audits, planned, run and closed in one system.
05 AI Sales CRM (slide 37) — A Crita product, Sales &amp; CRM. Leads, pipeline and follow-ups — with an AI co-pilot that reads every deal.
06 City Threads (slide 45) — City Threads Textiles, Textile distribution. Every lot, every bin, every dispatch — accounted for.
07 Veloce Trade (slide 53) — Veloce, Scrap &amp; recycling. List, buy, dispatch and get paid — every truckload on one app.
08 Expense Log (slide 61) — A Crita product, Finance &amp; operations. Every claim approved, reimbursed and measured against budget.
09 Lead Discovery CRM (slide 69) — A Crita product, Sales &amp; marketing. Visitors answer a few questions. The team gets a qualified lead.
10 Support Portal (slide 77) — A Crita product, Customer support. Raise it, track it, resolve it — with every step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VELOCE SCRAP FLOW — Veloce (Scrap &amp; recycling).
One-liner: “Every kilogram, from weighbridge to dispatch.”
A yard operating system for a scrap business: a calculator-fast mobile app for the weighbridge and the sorting floor, and a desktop console that gives management live control across yards and warehouses.
Live: Veloce Scrap Management
Note: Screens from the live demonstration yard.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A scrap yard buys mixed material by weight, sorts it into sellable grades and sells it by the truckload. Every step changes the numbers. Without one system, it is hard to know what is in stock, what is waiting to be sorted and what has actually left the yard — and impossible to see it across several yards.
WHAT WE BUILT
Crita built Scrap Flow as a multi-yard platform. Owners and supervisors work in a mobile app designed like a calculator — big keys, live rates, clear steps — while the platform admin manages yards, warehouses, users and analytics from a desktop console. Every action writes to one inventory ledger, updated in real time.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Weight entry, calculator-fast — Big keys, a live LED display and kg / ton / tonne switching — built for gloved hands at the weighbridge.
2. Segregation that balances — Pick a mixed lot and split it into grades and wastage. Vendor, vehicle and lot history stay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One console for every yard — Warehouses, supervisors, stock and records for each yard — with the admin able to step inside any yard.
4. Platform overview — Headline numbers, alerts and pending actions computed by the system, so nothing waits to be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Inward at the weighbridge — Vendor, vehicle and multiple weighments on an LED-style keypad, with photo evidence. Each load becomes a traceable lot.
2. Sorting that balances — Mixed lots are split into finished grades and wastage; a run can’t close until every kilogram is accounted for.
3. Sell, allocate, dispatch — A sale reserves stock; supervisors load vehicles against it. The same kilograms can’t be sold twice or over-dispatched.
4. Live stock across warehouses — Stock on hand, sale thresholds and pending work per yard and warehouse, updated as it happens.
5. Admin console &amp; analytics — Yards, warehouses, users and permissions, with analytics for inward, sorting, dispatch and materials.
6. Governance built in — Every privileged action is recorded in an audit log with before-and-after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Admin (Desktop console) — Runs the platform across yards. Platform overview with alerts and pending actions; Yards, warehouses and supervisor assignments; Users, roles and access; Analytics and a full audit log.
Owner (Mobile app) — Runs the yard and the trade. Yard dashboard: stock, ready-to-sell and pending lots; Inward, sorting and materials; Sales, invoices and receivables; Dispatch status per invoice.
Supervisor (Mobile app) — Runs the floor in an assigned warehouse. Materials on hand by category; Inward and sorting; Loading vehicles against allocations; Dispatch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Big keys, high contrast, live rates and one clear step at a time — so weighments, sorting and dispatch are recorded where they happen.
Screens: Yard dashboard · LED weight keypad · Segregation run with a load selected · Active dispatch.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Control without being on site — Owners and admins see stock, pending sorting and dispatch status the moment they change.
• Traceable from vendor to buyer — Lots keep their vendor through sorting and dispatch, so every kilogram has a history.
• Mistakes prevented, not corrected — Rules block double-selling, over-dispatch and unbalanced sorting before they happen.
• Ready for more yards — A multi-yard architecture with strict data isolation between yards.
Client quote (Abhirup, Veloce): “We didn’t need another digital tool; we needed a technology partner who understood how our business worked. CRITA helped us simplify processes, connect different parts of the business, and introduce technology where it could create real value.”
DELIVERY: Next.js, TypeScript, PostgreSQL, Real-time updates, Multi-tenant architecture, Android app.
• 2,500+ automated checks across 36 test suites
• Yard data isolated at session, query and database level
• Number-plate recognition built as a separate computer-vision service (YOLOv8 + PaddleOCR)
LIVE DEMO — Veloce Scrap Management
Logins for the live demo are in the presenter copy of this deck.
Next: Tribal Brew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TRIBAL BREW COFFEE — Tribal Brew Coffee (Café &amp; food service).
One-liner: “One menu for every outlet — from the counter to the customer’s phone.”
A point of sale and back office for a multi-outlet coffee chain, with a customer ordering app. Outlet teams bill at the counter, head office runs the menu, offers, outlets and reports from one system, and customers browse the same live menu on their phones.
Live: Tribal Brew Coffee
Note: Live outlet screens, shown without customer details. The customer app is shown with a demonstration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Tribal Brew runs cafés across Bengaluru and Mysuru, plus pop-ups at events. Every counter needs fast billing with the right drink options and taxes, every outlet needs the same menu and prices, and customers now expect to order from their phones.
WHAT WE BUILT
Crita built a web POS for the counter — categories, search, drink options with their own prices, GST on every bill and order status — on a back office where head office manages items, modifier groups, discounts, outlets, staff roles and reports. The customer app reads the same live menu and outlet list, so what customers see is what the counter sells.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Orders at the counter — Tap items, choose milk, roast and sweetener, and the bill — with tax — builds as you go.
2. Every bill, every outlet — Takeaway and held bills per outlet, with status and totals at a glance.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A menu managed once — Items with photos, prices and categories, assigned to the outlets that sell them.
4. The same menu, on the customer’s phone — The ordering app shows each café’s live menu, photos and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Counter-speed POS — Categories, search by name or POS code and a running bill with tax — built for the queue at the counter.
2. Drink options that price themselves — Milk, roast and sweetener choices carry their own surcharges, applied as the order is taken.
3. Bills and order status — Every bill per outlet with its items, GST split and status — ready to pick up, completed or cancelled.
4. One catalogue for every outlet — Items, categories, modifier groups, taxes and charges, managed centrally and assigned to the outlets that sell them.
5. Offers under control — Discounts for staff, reviews, events and subscriptions, defined once by head office.
6. Customer ordering app — Customers pick their café, browse the live menu with photos and prices, and customise drinks before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Head office (Back office · web) — Runs the menu, offers and outlets. Items, categories and modifier groups; Discounts, taxes and charges; Outlets, staff roles and employees; Sales, product, category and tax reports.
Outlet staff (POS · web) — Bills at the counter, fast. Takeaway and held bills for their outlet; Drink options and a running bill with GST; Ready, completed and cancelled status; Printed bills.
Customer (Mobile app) — Orders from the phone. Nearest café and its live menu; Photos, prices and customisable drinks; Every café and its character; Help centre and order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The ordering app opens on the nearest café with its live menu and prices — the same catalogue the counter sells from.
Screens: Home · Menu with live prices · Choose a café · Help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One menu, everywhere — Prices, options and offers change once and reach every outlet and the app.
• Faster counters — Drink options and taxes are applied as the order is taken, not worked out by hand.
• Offers that stay controlled — Discounts are set by head office, not improvised at the counter.
• Ready for direct orders — The customer app runs on the same system as the outlets.
DELIVERY: Angular, React Native (Expo), NestJS API, Razorpay, Google Sign-In, Role-based access.
• Web POS and customer app on one API and one catalogue
• Drink options with their own prices, applied as orders are taken
• GST split on every bill; outlet reports downloadable as PDF or Excel
LIVE DEMO — Tribal Brew Coffee
Logins for the live demo are in the presenter copy of this deck.
Next: Clario.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CLARIO — A Crita product (Business intelligence).
One-liner: “Understand your business, not just your numbers.”
Crita’s own business-intelligence platform. Clario connects to the systems a business already uses — starting with Zoho Books — and turns them into a clear finance command centre, with an assistant that answers in plain words, from the books.
Live: Clario
Note: Shown with a sample company and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Growing businesses keep their figures in accounting software, but turning ledgers into decisions takes reports, spreadsheets and an accountant’s time. Generic AI tools can’t be trusted with financial figures — and every new system adds another place to look.
WHAT WE BUILT
Clario gives each client a private workspace. They connect Zoho Books securely, and Clario turns the data into a finance command centre — overview, trends, receivables, payables and balance sheet. Ask Clario answers questions in plain words using the same figures as the reports, and shows where each answer comes from.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business on one screen — Cash on hand, revenue, profit, collections and receivables — each with its basis and as-of date.
2. Answers, with sources — Ask in plain words. Every answer uses the same figures as the reports and says where they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What to do next — Signals and decision support turn the figures into an ordered list of what deserves attention.
4. Trends that explain themselves — Billing, collections and spending month by month — every chart with a table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Secure connection — Zoho Books connects through OAuth with read-only access, into the client’s own workspace.
2. Finance overview — Cash, revenue, profit, collections, costs and receivables on one screen, with performance signals.
3. Ask Clario — Plain-language questions answered from the books, with the source and date of every figure.
4. Decision support — What needs attention, what to consider next and simple scenarios — clearly labelled as guidance.
5. Trends &amp; receivables — Month-by-month billing, collections and spending; overdue ageing and a full invoice register.
6. Workspaces &amp; roles — Every client works in an isolated workspace with its own members and connected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 be precise about what is live.
Live today: Zoho Books connection, the Finance command centre and Ask Clario, on multi-workspace tenancy.
In development: Tally. Planned: inventory connectors (e.g. Veloce, City Threads) and lead management.
Figures are calculated in code; the AI explains them. Each assistant only answers from its own domain’s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Every view — including Ask Clario — adapts to a phone, so owners can check cash or chase receivables between meetings.
Screens: Finance overview · Answer on mobile · Receivables ·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Clarity without reports — Owners see performance, cash and receivables without building spreadsheets.
• Answers you can trust — Every figure traces back to the books, with its date.
• Guidance, in order — Signals and next steps turn numbers into a short list of decisions.
• Built to grow — Each new system Crita connects becomes another module on the same platform.
DELIVERY: React, TypeScript, Python API, PostgreSQL, Zoho Books API, LLM with scoped tools.
• Deterministic finance calculations — the assistant explains figures, never invents them
• Server-side OAuth with encrypted tokens
• Workspace isolation enforced on the server
LIVE DEMO — Clario
Logins for the live demo are in the presenter copy of this deck.
Next: SMC Task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SMC TASK MANAGEMENT — Shaabi Management Consultancy (Audit &amp; consulting).
One-liner: “Field audits, planned, run and closed in one system.”
A field-audit operations platform for an audit consultancy. Admins plan visits and define each client’s checklist; executives run every visit from their phone; nothing incomplete is lost between visits.
Live: SMC Task Management
Note: Client, contact and staff names in these screens are anonymised to protect SMC’s confidentiality.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SMC’s executives visit client sites every week to verify operations, stock, accounts and reports — and every client needs a different checklist. Tracking was manual: unfinished items relied on memory to reach the next visit, and management had no live view of progress across the team.
WHAT WE BUILT
Crita built a role-based platform that turns each audit visit into a structured, trackable workflow. Admins schedule visits and configure checklists per client. Executives open the visit on their phone, complete each item or record why it couldn’t be done, and close it only when the rules are met. Unfinished work carries forward — with admin approval — into the next visit.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week at a glance — Admins plan visits across the team in a weekly calendar — done, in progress, planned and carried forward, colour-coded.
2. Live operational dashboard — Completion rate, staff performance and task distribution, with every executive’s workload one click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Carry-forward, under control — Nothing moves to the next visit until an admin reviews it, chooses the schedule date and approves.
4. A visit, start to finish — Tasks, subtasks, carried items and an activity trail on one screen — then an automatic summary at 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Visit planning &amp; calendar — Schedule, reschedule and reassign visits across executives in a weekly calendar.
2. Client-specific checklists — Each client gets its own task and subtask template, applied to every new visit automatically.
3. Rules that keep audits complete — A visit closes only when required work is done. The MD meeting must be answered and every open item needs a reason.
4. Carry-forward with approval — Unfinished items move into the next visit with their history — after an admin reviews and approves them.
5. Progress, trail and summary — Live progress per visit, a full activity trail and an automatic summary with a rating when the visit closes.
6. Attendance &amp; leave — Executives punch in and request leave from the app; admins review attendance and approve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Admin (Desktop &amp; mobile) — Plans the week and keeps every visit on track. Dashboard of visits, completion rate and staff performance; Weekly calendar for scheduling and reassignment; Carry-forward approvals and client checklists; Executive workload, attendance and leave.
Field Executive (Mobile-first) — Runs each visit on site, from the phone. Pending visits and carried-forward items at a glance; Checklist per task, with reasons for open items; MD meeting confirmation before closing; Punch in, punch out and leave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Executives run every visit from their phone — checklists, reasons, summaries, attendance. Admins get the same live picture on desktop and mobile.
Screens: Executive dashboard · MD meeting and reasons · Visit summary · Attendance and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Live visibility — Management sees the status of every visit and executive without chasing calls.
• Nothing slips between visits — Unfinished items carry forward with their reason, so follow-ups are never lost.
• Consistent audits — Client-specific checklists and closing rules make every visit complete and comparable.
• Less manual reporting — Progress and visit summaries are produced by the system, not compiled by hand.
DELIVERY: Next.js, TypeScript, PostgreSQL, Prisma, Role-based access, Android app.
• Mobile-first web app with an Android build for field executives
• Executives only ever see the visits assigned to them
• Lean data and instant checklist feedback on mobile networks
LIVE DEMO — SMC Task Management
Logins for the live demo are in the presenter copy of this deck.
Next: AI Sales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SALES CRM — A Crita product (Sales &amp; CRM).
One-liner: “Leads, pipeline and follow-ups — with an AI co-pilot that reads every deal.”
Crita’s sales CRM: leads, contacts, a drag-and-drop pipeline, notes and follow-ups in one workspace, with Google Gemini summarising leads, drafting emails and rating the health of the pipeline.
Live: AI Sales CRM
Note: Shown in the public demo workspace with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Small sales teams track leads in sheets and inboxes. Follow-ups are forgotten, nobody sees the pipeline’s real value, and every email to a prospect starts from a blank page.
WHAT WE BUILT
Crita built a CRM around the sales day: a dashboard of pipeline value, closed revenue and win rate; leads by stage, priority and source; a pipeline board; contacts, notes and follow-ups. Gemini reads each lead to suggest the next best action, drafts the email in the chosen tone and rates the pipeline as a whole.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sales day on one screen — Pipeline value, revenue, win rate and new leads, with the latest movements underneath.
2. Every deal, by stage — A pipeline board with the value of each stage — move a deal by dragging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Ask what to do next — Gemini summarises the lead, scores its risk and suggests the next best action.
4. Pipeline health, scored — One click rates the whole pipeline and explains what is working and where deals 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Pipeline dashboard — Pipeline value, closed revenue, win rate and new leads per month, with the latest lead movements.
2. Leads in order — Stage, priority, source and value on every lead, with a filter for each.
3. Drag-and-drop pipeline — New, qualified, proposal and won columns, with the value of every stage.
4. AI lead summary — A plain-language summary, risk score, suggested priority and next best action for any lead.
5. AI email drafts — Follow-up emails drafted by purpose and tone, ready to copy.
6. Follow-ups that don’t slip — Tasks with priority and status, and overdue work 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 A CRM with the AI built in.
Workspace: Leads (Live), Contacts (Live), Pipeline (Live), Notes (Live), Follow-ups (Live).
AI co-pilot: Lead summaries (Live), Email drafts (Live), Pipeline insights (Live).
Platform: Secure sign-in (Live), Google Gemini (Live).
Gemini works from the CRM’s own records: summaries, drafts and insights come from the leads, notes and pipeline the team already keeps.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Dashboard, leads, pipeline and AI summaries all adapt to a phone — check a deal and its next step on the way in.
Screens: Dashboard · Pipeline · Leads · AI lead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A pipeline you can see — Value, stage and win rate live on the dashboard, not in a spreadsheet.
• Next steps, suggested — Every lead comes with a clear next best action.
• Faster outreach — Follow-up emails are drafted in seconds, in the right tone.
• Nothing forgotten — Follow-ups carry priority and due dates, and overdue work stands out.
DELIVERY: React, Node.js, Express, MongoDB, Google Gemini, JWT auth.
• Gemini summaries, email drafts and pipeline insights from the CRM’s own records
• Drag-and-drop pipeline across stages
• One-click demo workspace for prospects
LIVE DEMO — AI Sales CRM
One-click demo account — choose “Try Demo Account” on the sign-in screen.
Next: City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CITY THREADS — City Threads Textiles (Textile distribution).
One-liner: “Every lot, every bin, every dispatch — accounted for.”
A warehouse management system for a textile distributor: barcoded stock units, a visual map of every rack and bin, and an order-to-dispatch flow — with a one-handed phone app for the warehouse floor.
Live: City Threads
Note: Demonstration environment with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City Threads stores thread stock across racks and bins in two warehouses. With a fragmented, manual process, finding a lot, knowing which space was free and tracing what moved where took time — and depended on the people who remembered.
WHAT WE BUILT
Crita built a warehouse system where every physical lot becomes a stock unit with a permanent ID and barcode. Administrators manage the structure, orders and stock from a desktop workspace; executives receive, move, count, pick and dispatch from their phone — scanning instead of searching.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whole operation, live — Stock, utilisation, locations, count discrepancies and recent sales across both warehouses.
2. Area, rack, bin — A visual map of the floor: capacity, occupancy and blocked locations at every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From order to truck — Sales orders move through picking to dispatch, with every quantity reserved and accounted for.
4. Dispatch with proof — Ready-to-ship orders and a full dispatch history with vehicle numbers and who sent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Barcoded stock units — Every lot gets a permanent Stock ID and Code 128 barcode. Scan it with the phone camera, upload a photo or type the ID.
2. Warehouse explorer — Walk area → rack → bin to see capacity, occupancy and blocked locations, and change the structure in place.
3. Order to dispatch — Purchase orders and goods receipts in; sales orders, pick lists and dispatch out — with stock reserved on the way.
4. Floor operations on the phone — Goods inward, transfer, adjustment, cycle count, picking and dispatch — built for one hand.
5. A ledger that reconciles — Every movement is recorded. Counts verify the shelf without changing stock; differences are corrected with a reason.
6. Commercial visibility — Customers, suppliers, sales and executive performance alongside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Administrator (Desktop workspace) — Sees and shapes the whole operation. Overview of stock, utilisation and recent operations; Warehouse structure: areas, racks and bins; Purchase orders, sales orders and dispatch; Customers, suppliers and users.
Warehouse Executive (Mobile app) — Works the floor, one-handed. Home with capacity and today’s operations; Inward, transfer, adjustment, count, pick and dispatch; Scan or search any stock unit; Personal activity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Executives scan, confirm and move on — inward, transfer, count, pick and dispatch. Administrators plan and review from the desktop.
Screens: Executive home · Stock unit with barcode · Stock transfer · Pick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Find any lot, instantly — Scan a label to see what it is, where it is and what to do next.
• Plan space with confidence — Utilisation and free capacity are visible before put-away.
• Fewer errors on the floor — One identification flow for every operation; counts never change stock silently.
• Real-time visibility — Stock and operations across both warehouses, as they happen.
Client quote (Sreyash, City Threads): “CRITA helped us replace a fragmented inventory process with a much more organised and efficient system. The application gave our team better visibility, reduced manual work, and made it easier to track inventory in real time.”
DELIVERY: Next.js, React, PostgreSQL, Cloudflare Workers, Code 128 barcodes, Android app.
• Camera scanning through the browser’s native barcode detector, with manual entry always available
• Bins are released only when stock reaches zero — enforced in one place
• Served from Cloudflare’s global edge network
LIVE DEMO — City Threads
Demo accounts (Demonstration accounts, also offered on the app’s own login screen.):
   Administrator: admin@citythreads.com  /  Admin@123
   Warehouse Executive: aarav@citythreads.com  /  Exec@123
Next: Veloce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VELOCE TRADE — Veloce (Scrap &amp; recycling).
One-liner: “List, buy, dispatch and get paid — every truckload on one app.”
A mobile trading app for Veloce’s network of material sellers, vendors and recyclers. Clients list material for pickup with its pricing; vendors raise purchase orders, send truckloads, assign drivers, labour and vehicles, upload documents and record payments — with every shipment tracked step by step.
In production — shown in a walkthrough, no public link.
Note: Screens from Veloce Trade’s user guide, with its demonstration accounts. The app is in production with Veloce.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Buying and moving material between companies involves pricing, taxes, trucks, weighment slips, invoices and part payments. When that lives in phone calls and paper, nobody can see where a load is, which documents are missing or what is still owed.
WHAT WE BUILT
Crita built Veloce Trade as a role-based mobile app. Verified companies list material with pricing that includes TDS, TCS and GST; buyers order against listings; and each fulfilment moves through assignment, loading, documents, invoicing, payment and transit — with the people, the vehicle and the proof attached at every step.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Pickups by status — Active, in-transit, completed and cancelled pickups, with payments alongside.
2. List material with its pricing — Zone, quantity, units and payment terms, with the taxes calculated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Every shipment, step by step — Assigned, loading, documents, invoicing, payment and transit — each step timestamped.
4. Money in and out — Paid, payable and receivable totals across bills and invoices.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Verified trading partners — Companies join with GST, PAN, MSME, signatory and bank documents, checked before the account goes live.
2. Listings with pricing built in — Material, zone, quantity and payment terms, with TDS, TCS and GST shown before the listing is created.
3. Purchase orders from listings — Buyers order against a listing, within its available quantity, and set the delivery details.
4. Trucks, drivers and labour — Each fulfilment gets its driver, labour and vehicle from the company’s own resources.
5. Shipments tracked step by step — From assigned to delivered, with weighment slips and location-tagged vehicle photos at the stage that needs them.
6. Payables, receivables and instalments — Payments recorded with bank advice and receipts; dashboards show what is paid, payable and receivable.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Client Executive (Mobile app) — Lists material and tracks pickups. Pickups with pricing and payment terms; Pickup status, history and purchase orders; Contracts and payments; Company documents and profile.
Vendor Executive (Mobile app) — Buys, dispatches and settles. Purchase orders against listings; Fulfilments with driver, labour and vehicle; Documents at each shipment stage; Payables, receivables and instalments.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Every role works from a phone — listing, ordering, loading, documenting and paying, one clear step at a time. Recyclers use the same toolkit.
Screens: Today at a glance · Purchase order from a listing · Weighment slip and vehicle photos · Recording a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Every load visible — Each shipment’s stage, people and vehicle are visible the moment they change.
• Proof at every step — Weighment slips, photos, invoices and payment receipts sit on the shipment they belong to.
• Pricing without surprises — Taxes and payment terms are shown before anything is listed or ordered.
• A verified network — Companies trade only after their documents are checked.
DELIVERY: Mobile app, Role-based workspaces, OTP sign-up, KYC document checks, Location-tagged uploads, Instalment payments.
• A ten-step shipment flow, with a timestamp on every change
• TDS, TCS and GST calculated before a listing is created
• Uploads that need a location are refused without one
LIVE DEMO — Veloce Trade (walkthrough only)
No public link: offer a walkthrough of the Client Executive, Vendor Executive and Recycler views.
Next: Expense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EXPENSE LOG — A Crita product (Finance &amp; operations).
One-liner: “Every claim approved, reimbursed and measured against budget.”
A multi-company expense platform: employees log claims, managers approve them for their department, finance reimburses, and administrators see spend by category, department and payment mode against each department’s budget.
Live: Expense Log
Note: Shown with sample companies and test data; names and emails are anonymised.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Expense claims usually travel by email and messaging apps. Approvals are hard to trace, reimbursements are tracked in spreadsheets, and nobody can compare a department’s spending with its budget until the month is over.
WHAT WE BUILT
Crita built Expense Log around companies and roles. Claims carry their category, department and payment mode; managers approve or reject within their department; finance records reimbursements; and budgets are set per department and month, so reports compare spend with plan.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month in one view — Totals by status, a six-month trend and the split by category, department and payment mode.
2. Every claim, traceable — Filter claims by company, department, category, date or amount, and see where each one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Budgets set in advance — Department budgets by financial month, ready for comparison with actual spend.
4. Reports for finance — Expenses, budgets, approvals, rejections and reimbursements, summarised and drillable.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Spend at a glance — This month, last month, pending, approved and rejected totals, with a six-month trend.
2. Where the money goes — Spend by category, department and payment mode, with the status of every claim.
3. Claims with a status — Every claim with its category, amount and mode — pending, approved, rejected or paid.
4. Budgets by department — Monthly budgets per department and category, exportable to Excel.
5. Reports that answer questions — Expense summary, department, category, reimbursement and budget-versus-actual reports.
6. Companies, departments and roles — Several companies on one platform, each with departments and admin, manager, finance and employee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Administrator (Desktop &amp; mobile) — Sees every company and department. Spend summary, trends and breakdowns; Companies, departments and users; Budgets by department and category; Reports across the business.
Manager (Desktop) — Approves for their department. Department expense tracker with status; Approve or reject claims; Expense categories; Department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Summaries, trends and the expense tracker adapt to a phone, so approvals don’t wait for a desk.
Screens: Expense summary · Trend and category split · Expense tracker ·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Faster approvals — Claims reach the right manager with what they need to decide.
• Budgets that mean something — Spend is compared with each department’s budget as it happens.
• Clear reimbursements — Finance sees what is approved, paid back or still pending.
• Ready for groups — Several companies run on one platform, each with its own departments and users.
DELIVERY: React, FastAPI, Python, JWT roles, Multi-company, Excel export.
• Role-scoped data: managers see their department, administrators every company
• Hierarchical expense categories
• Department budgets by financial month, exportable to Excel
LIVE DEMO — Expense Log
Logins for the live demo are in the presenter copy of this deck.
Next: Lead Discovery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DISCOVERY CRM — A Crita product (Sales &amp; marketing).
One-liner: “Visitors answer a few questions. The team gets a qualified lead.”
Crita’s own lead engine: discovery questionnaires published on the website turn visitors into structured leads, every response gets a fit score and next-step coaching, and the team manages clients, questionnaires and responses in one CRM.
Live: Lead Discovery CRM
Note: Shown with Crita’s internal test responses; contact details are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A typical contact form says who got in touch, not what they need. Teams repeat the same questions before every first meeting and have no consistent way to judge which enquiries fit what they offer.
WHAT WE BUILT
Crita built topic-based discovery questionnaires — branding, workflows and AI, business software, inventory, websites, retail and manufacturing — published on the website and sent as private links. Answers land in a CRM as leads with a fit score, the gaps still open and suggested next steps, beside clients, templates and assignments.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prospect’s side — A short, focused questionnaire for each service, opened from the website or a private link.
2. Every response, organised — Responses by questionnaire and source, newest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Scored before the first call — A fit score, the open questions and next steps — with what the prospect sees marked clearly.
4. The funnel at a glance — Clients, website leads, templates and responses, with pending and completed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Topic questionnaires — A library of discovery questionnaires by service, versioned, with CSV import and export.
2. Published on the website — Each questionnaire has its own page on the website, ready for any visitor.
3. Responses in one place — Every response with its topic, source and date, filterable by questionnaire.
4. Fit score and next steps — Each response is scored against its topic and turned into a summary of what is unclear and what to do next.
5. Clients and assignments — Clients, website leads and questionnaire assignments, tracked from pending to completed.
6. Made for phones — Questionnaires work on a phone, from the first field to the last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Crita team (Web CRM) — Qualifies and follows up. Dashboard of clients, leads and responses; Questionnaire templates and assignments; Responses with fit score and next steps; Clients and website leads.
Prospect (Phone or desktop) — Answers a few focused questions. A questionnaire for the service they need; No account needed; Private links for invited clients; A summary of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Prospects answer on whatever device found you; the team reviews scores and next steps from theirs.
Screens: Discovery questionnaire on a phone · Lead dashboard · Responses by questionnaire · Campaign insight.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Better first meetings — The team arrives knowing the prospect’s goals, gaps and priorities.
• Leads ranked by fit — Scores show which enquiries match what you offer.
• One place for every enquiry — Website leads, invited clients and responses sit together.
• Reusable discovery — Questionnaires are templates: versioned, exportable and easy to add.
DELIVERY: Flutter (web), Firebase Authentication, Cloud Firestore, Firebase Hosting.
• One codebase for the public questionnaires and the CRM
• Fit scores and next-step coaching from every response
• Questionnaires imported and exported as CSV
LIVE DEMO — Lead Discovery CRM
Logins for the live demo are in the presenter copy of this deck.
Next: Support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PORTAL — A Crita product (Customer support).
One-liner: “Raise it, track it, resolve it — with every step on record.”
Crita’s support desk for its clients: a help centre and knowledge base, a simple form to raise tickets with attachments, and an admin queue where each ticket is assigned, reviewed, approved, resolved and closed — with its full history.
Live: Support Portal
Note: Development instance with test tickets; names and emails are anonymised.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When issues arrive by email and phone, nobody clearly owns them, clients can’t see progress, and there is no record of who approved or changed what.
WHAT WE BUILT
Crita built a portal with two sides. Requesters raise tickets by type and priority, attach files and follow their status. Administrators work one queue — assign, review, approve, resolve and close — reply to the requester or add internal notes, and every status change is recorded.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Help first — A public help centre explains how tickets are handled and links to the knowledge base.
2. Raise a ticket — Type, priority, a description and attachments — tied to the requester’s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Work the queue — Every ticket, its requester, owner, priority and status in one filterable list.
4. From review to closed — Conversation, details and the workflow on one screen, with the approver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Help centre and knowledge base — Answers by topic — getting started, accounts, billing, integrations, APIs and troubleshooting.
2. Tickets in a minute — Subject, type, priority and description, with up to ten attachments.
3. One admin queue — Every ticket with its requester, assignee, priority and status, filterable by each.
4. A workflow with approvals — Review, approve, resolve and close — with replies to the requester and notes they never see.
5. Every change on record — Status changes with who made them and when, across every ticket.
6. Ticket types and rules — Ticket types set by administrators, each with or without an approval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Requester (Desktop &amp; mobile) — Raises and follows tickets. Help centre and knowledge base; Tickets by type and priority; Attachments with every ticket; Status of their own tickets.
Administrator (Desktop) — Works the whole queue. Queue of every ticket, with filters; Assign, review, approve, resolve and close; Replies and internal notes; Ticket types, users and full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Clients raise and follow tickets from their phones; the support team can check the queue on the move.
Screens: Support portal home · Raise a ticket · Admin queue · Ticket on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Nothing falls through — Every request has an owner, a status and a history.
• Clients stay informed — Requesters see their tickets and replies without chasing.
• Approvals on record — Tickets that need sign-off record who approved them and when.
• Answers before tickets — A knowledge base handles common questions first.
DELIVERY: React, NestJS API, Role-based access, Audit history, File attachments.
• Requester and administrator portals on one codebase
• An approval step that can be switched on per ticket type
• Internal notes kept apart from replies to the requester
LIVE DEMO — Support Portal
Logins for the live demo are in the presenter copy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ask for the next step.
“Tell us where you’re stuck. We’ll come back within one business day with a clear point of view.”
Suggested next step: a short discovery conversation about their operation.
Contact: abishek@crita.in · www.crita.in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6120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5F5EF"/>
        </a:solidFill>
      </p:bgPr>
    </p:bg>
    <p:spTree>
      <p:nvGrpSpPr>
        <p:cNvPr id="1" name=""/>
        <p:cNvGrpSpPr/>
        <p:nvPr/>
      </p:nvGrpSpPr>
      <p:grpSpPr>
        <a:xfrm>
          <a:off x="0" y="0"/>
          <a:ext cx="0" cy="0"/>
          <a:chOff x="0" y="0"/>
          <a:chExt cx="0" cy="0"/>
        </a:xfrm>
      </p:grpSpPr>
      <p:sp>
        <p:nvSpPr>
          <p:cNvPr id="2" name="Text 0"/>
          <p:cNvSpPr/>
          <p:nvPr/>
        </p:nvSpPr>
        <p:spPr>
          <a:xfrm>
            <a:off x="548640" y="6419088"/>
            <a:ext cx="5486400" cy="201168"/>
          </a:xfrm>
          <a:prstGeom prst="rect">
            <a:avLst/>
          </a:prstGeom>
          <a:noFill/>
          <a:ln/>
        </p:spPr>
        <p:txBody>
          <a:bodyPr wrap="square" lIns="0" tIns="0" rIns="0" bIns="0" rtlCol="0" anchor="ctr"/>
          <a:lstStyle/>
          <a:p>
            <a:pPr indent="0" marL="0">
              <a:buNone/>
            </a:pPr>
            <a:r>
              <a:rPr lang="en-US" sz="850" dirty="0">
                <a:solidFill>
                  <a:srgbClr val="5C6A62"/>
                </a:solidFill>
              </a:rPr>
              <a:t>Crita Creative LLP — Selected work 2026</a:t>
            </a:r>
            <a:endParaRPr lang="en-US" sz="850" dirty="0"/>
          </a:p>
        </p:txBody>
      </p:sp>
      <p:sp>
        <p:nvSpPr>
          <p:cNvPr id="3" name="Text 1"/>
          <p:cNvSpPr/>
          <p:nvPr>
            <p:ph idx="101" type="title" hasCustomPrompt="1"/>
          </p:nvPr>
        </p:nvSpPr>
        <p:spPr>
          <a:xfrm>
            <a:off x="548640" y="768096"/>
            <a:ext cx="9144000" cy="685800"/>
          </a:xfrm>
          <a:prstGeom prst="rect">
            <a:avLst/>
          </a:prstGeom>
          <a:noFill/>
          <a:ln/>
        </p:spPr>
        <p:txBody>
          <a:bodyPr wrap="square" rtlCol="0"/>
          <a:lstStyle>
            <a:lvl1pPr algn="l" indent="0" marL="0">
              <a:buNone/>
              <a:defRPr lang="en-US" sz="2800" b="1" spc="-60" kern="0" dirty="0">
                <a:solidFill>
                  <a:srgbClr val="0D1813"/>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06120D"/>
        </a:solidFill>
      </p:bgPr>
    </p:bg>
    <p:spTree>
      <p:nvGrpSpPr>
        <p:cNvPr id="1" name=""/>
        <p:cNvGrpSpPr/>
        <p:nvPr/>
      </p:nvGrpSpPr>
      <p:grpSpPr>
        <a:xfrm>
          <a:off x="0" y="0"/>
          <a:ext cx="0" cy="0"/>
          <a:chOff x="0" y="0"/>
          <a:chExt cx="0" cy="0"/>
        </a:xfrm>
      </p:grpSpPr>
      <p:sp>
        <p:nvSpPr>
          <p:cNvPr id="2" name="Text 0"/>
          <p:cNvSpPr/>
          <p:nvPr/>
        </p:nvSpPr>
        <p:spPr>
          <a:xfrm>
            <a:off x="548640" y="6419088"/>
            <a:ext cx="5486400" cy="201168"/>
          </a:xfrm>
          <a:prstGeom prst="rect">
            <a:avLst/>
          </a:prstGeom>
          <a:noFill/>
          <a:ln/>
        </p:spPr>
        <p:txBody>
          <a:bodyPr wrap="square" lIns="0" tIns="0" rIns="0" bIns="0" rtlCol="0" anchor="ctr"/>
          <a:lstStyle/>
          <a:p>
            <a:pPr indent="0" marL="0">
              <a:buNone/>
            </a:pPr>
            <a:r>
              <a:rPr lang="en-US" sz="850" dirty="0">
                <a:solidFill>
                  <a:srgbClr val="8C938B"/>
                </a:solidFill>
              </a:rPr>
              <a:t>Crita Creative LLP — Selected work 2026</a:t>
            </a:r>
            <a:endParaRPr lang="en-US" sz="850" dirty="0"/>
          </a:p>
        </p:txBody>
      </p:sp>
      <p:sp>
        <p:nvSpPr>
          <p:cNvPr id="3" name="Text 1"/>
          <p:cNvSpPr/>
          <p:nvPr>
            <p:ph idx="101" type="title" hasCustomPrompt="1"/>
          </p:nvPr>
        </p:nvSpPr>
        <p:spPr>
          <a:xfrm>
            <a:off x="548640" y="768096"/>
            <a:ext cx="9144000" cy="685800"/>
          </a:xfrm>
          <a:prstGeom prst="rect">
            <a:avLst/>
          </a:prstGeom>
          <a:noFill/>
          <a:ln/>
        </p:spPr>
        <p:txBody>
          <a:bodyPr wrap="square" rtlCol="0"/>
          <a:lstStyle>
            <a:lvl1pPr algn="l" indent="0" marL="0">
              <a:buNone/>
              <a:defRPr lang="en-US" sz="2800" b="1" spc="-60" kern="0" dirty="0">
                <a:solidFill>
                  <a:srgbClr val="EEF0E6"/>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roject Intro Light">
    <p:bg>
      <p:bgPr>
        <a:solidFill>
          <a:srgbClr val="F5F5EF"/>
        </a:solidFill>
      </p:bgPr>
    </p:bg>
    <p:spTree>
      <p:nvGrpSpPr>
        <p:cNvPr id="1" name=""/>
        <p:cNvGrpSpPr/>
        <p:nvPr/>
      </p:nvGrpSpPr>
      <p:grpSpPr>
        <a:xfrm>
          <a:off x="0" y="0"/>
          <a:ext cx="0" cy="0"/>
          <a:chOff x="0" y="0"/>
          <a:chExt cx="0" cy="0"/>
        </a:xfrm>
      </p:grpSpPr>
      <p:sp>
        <p:nvSpPr>
          <p:cNvPr id="2" name="Text 0"/>
          <p:cNvSpPr/>
          <p:nvPr/>
        </p:nvSpPr>
        <p:spPr>
          <a:xfrm>
            <a:off x="548640" y="6419088"/>
            <a:ext cx="5486400" cy="201168"/>
          </a:xfrm>
          <a:prstGeom prst="rect">
            <a:avLst/>
          </a:prstGeom>
          <a:noFill/>
          <a:ln/>
        </p:spPr>
        <p:txBody>
          <a:bodyPr wrap="square" lIns="0" tIns="0" rIns="0" bIns="0" rtlCol="0" anchor="ctr"/>
          <a:lstStyle/>
          <a:p>
            <a:pPr indent="0" marL="0">
              <a:buNone/>
            </a:pPr>
            <a:r>
              <a:rPr lang="en-US" sz="850" dirty="0">
                <a:solidFill>
                  <a:srgbClr val="5C6A62"/>
                </a:solidFill>
              </a:rPr>
              <a:t>Crita Creative LLP — Selected work 2026</a:t>
            </a:r>
            <a:endParaRPr lang="en-US" sz="850" dirty="0"/>
          </a:p>
        </p:txBody>
      </p:sp>
      <p:sp>
        <p:nvSpPr>
          <p:cNvPr id="3" name="Text 1"/>
          <p:cNvSpPr/>
          <p:nvPr>
            <p:ph idx="101" type="title" hasCustomPrompt="1"/>
          </p:nvPr>
        </p:nvSpPr>
        <p:spPr>
          <a:xfrm>
            <a:off x="548640" y="896112"/>
            <a:ext cx="4800600" cy="1481328"/>
          </a:xfrm>
          <a:prstGeom prst="rect">
            <a:avLst/>
          </a:prstGeom>
          <a:noFill/>
          <a:ln/>
        </p:spPr>
        <p:txBody>
          <a:bodyPr wrap="square" rtlCol="0"/>
          <a:lstStyle>
            <a:lvl1pPr algn="l" indent="0" marL="0">
              <a:lnSpc>
                <a:spcPct val="92000"/>
              </a:lnSpc>
              <a:buNone/>
              <a:defRPr lang="en-US" sz="4000" b="1" spc="-100" kern="0" dirty="0">
                <a:solidFill>
                  <a:srgbClr val="0D1813"/>
                </a:solidFill>
              </a:defRPr>
            </a:lvl1pPr>
          </a:lstStyle>
          <a:p>
            <a:pPr algn="l" indent="0" marL="0">
              <a:lnSpc>
                <a:spcPct val="92000"/>
              </a:lnSpc>
              <a:buNone/>
            </a:pPr>
            <a:endParaRPr lang="en-US" sz="4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oject Intro Dark">
    <p:bg>
      <p:bgPr>
        <a:solidFill>
          <a:srgbClr val="06120D"/>
        </a:solidFill>
      </p:bgPr>
    </p:bg>
    <p:spTree>
      <p:nvGrpSpPr>
        <p:cNvPr id="1" name=""/>
        <p:cNvGrpSpPr/>
        <p:nvPr/>
      </p:nvGrpSpPr>
      <p:grpSpPr>
        <a:xfrm>
          <a:off x="0" y="0"/>
          <a:ext cx="0" cy="0"/>
          <a:chOff x="0" y="0"/>
          <a:chExt cx="0" cy="0"/>
        </a:xfrm>
      </p:grpSpPr>
      <p:sp>
        <p:nvSpPr>
          <p:cNvPr id="2" name="Text 0"/>
          <p:cNvSpPr/>
          <p:nvPr/>
        </p:nvSpPr>
        <p:spPr>
          <a:xfrm>
            <a:off x="548640" y="6419088"/>
            <a:ext cx="5486400" cy="201168"/>
          </a:xfrm>
          <a:prstGeom prst="rect">
            <a:avLst/>
          </a:prstGeom>
          <a:noFill/>
          <a:ln/>
        </p:spPr>
        <p:txBody>
          <a:bodyPr wrap="square" lIns="0" tIns="0" rIns="0" bIns="0" rtlCol="0" anchor="ctr"/>
          <a:lstStyle/>
          <a:p>
            <a:pPr indent="0" marL="0">
              <a:buNone/>
            </a:pPr>
            <a:r>
              <a:rPr lang="en-US" sz="850" dirty="0">
                <a:solidFill>
                  <a:srgbClr val="8C938B"/>
                </a:solidFill>
              </a:rPr>
              <a:t>Crita Creative LLP — Selected work 2026</a:t>
            </a:r>
            <a:endParaRPr lang="en-US" sz="850" dirty="0"/>
          </a:p>
        </p:txBody>
      </p:sp>
      <p:sp>
        <p:nvSpPr>
          <p:cNvPr id="3" name="Text 1"/>
          <p:cNvSpPr/>
          <p:nvPr>
            <p:ph idx="101" type="title" hasCustomPrompt="1"/>
          </p:nvPr>
        </p:nvSpPr>
        <p:spPr>
          <a:xfrm>
            <a:off x="548640" y="896112"/>
            <a:ext cx="4800600" cy="1481328"/>
          </a:xfrm>
          <a:prstGeom prst="rect">
            <a:avLst/>
          </a:prstGeom>
          <a:noFill/>
          <a:ln/>
        </p:spPr>
        <p:txBody>
          <a:bodyPr wrap="square" rtlCol="0"/>
          <a:lstStyle>
            <a:lvl1pPr algn="l" indent="0" marL="0">
              <a:lnSpc>
                <a:spcPct val="92000"/>
              </a:lnSpc>
              <a:buNone/>
              <a:defRPr lang="en-US" sz="4000" b="1" spc="-100" kern="0" dirty="0">
                <a:solidFill>
                  <a:srgbClr val="EEF0E6"/>
                </a:solidFill>
              </a:defRPr>
            </a:lvl1pPr>
          </a:lstStyle>
          <a:p>
            <a:pPr algn="l" indent="0" marL="0">
              <a:lnSpc>
                <a:spcPct val="92000"/>
              </a:lnSpc>
              <a:buNone/>
            </a:pPr>
            <a:endParaRPr lang="en-US" sz="4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 Target="slide5.xml"/><Relationship Id="rId5" Type="http://schemas.openxmlformats.org/officeDocument/2006/relationships/slide" Target="slide13.xml"/><Relationship Id="rId6" Type="http://schemas.openxmlformats.org/officeDocument/2006/relationships/slide" Target="slide21.xml"/><Relationship Id="rId7" Type="http://schemas.openxmlformats.org/officeDocument/2006/relationships/slide" Target="slide29.xml"/><Relationship Id="rId8" Type="http://schemas.openxmlformats.org/officeDocument/2006/relationships/slide" Target="slide37.xml"/><Relationship Id="rId9" Type="http://schemas.openxmlformats.org/officeDocument/2006/relationships/slide" Target="slide45.xml"/><Relationship Id="rId10" Type="http://schemas.openxmlformats.org/officeDocument/2006/relationships/slide" Target="slide53.xml"/><Relationship Id="rId11" Type="http://schemas.openxmlformats.org/officeDocument/2006/relationships/slide" Target="slide61.xml"/><Relationship Id="rId12" Type="http://schemas.openxmlformats.org/officeDocument/2006/relationships/slide" Target="slide69.xml"/><Relationship Id="rId13" Type="http://schemas.openxmlformats.org/officeDocument/2006/relationships/slide" Target="slide77.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14" Type="http://schemas.openxmlformats.org/officeDocument/2006/relationships/slideLayout" Target="../slideLayouts/slideLayout2.xml"/><Relationship Id="rId1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 Target="slide5.xml"/><Relationship Id="rId5" Type="http://schemas.openxmlformats.org/officeDocument/2006/relationships/slide" Target="slide13.xml"/><Relationship Id="rId7" Type="http://schemas.openxmlformats.org/officeDocument/2006/relationships/slide" Target="slide21.xml"/><Relationship Id="rId9" Type="http://schemas.openxmlformats.org/officeDocument/2006/relationships/slide" Target="slide29.xml"/><Relationship Id="rId11" Type="http://schemas.openxmlformats.org/officeDocument/2006/relationships/slide" Target="slide37.xml"/><Relationship Id="rId13" Type="http://schemas.openxmlformats.org/officeDocument/2006/relationships/slide" Target="slide45.xml"/><Relationship Id="rId15" Type="http://schemas.openxmlformats.org/officeDocument/2006/relationships/slide" Target="slide53.xml"/><Relationship Id="rId17" Type="http://schemas.openxmlformats.org/officeDocument/2006/relationships/slide" Target="slide61.xml"/><Relationship Id="rId19" Type="http://schemas.openxmlformats.org/officeDocument/2006/relationships/slide" Target="slide69.xml"/><Relationship Id="rId21" Type="http://schemas.openxmlformats.org/officeDocument/2006/relationships/slide" Target="slide77.xml"/><Relationship Id="rId1" Type="http://schemas.openxmlformats.org/officeDocument/2006/relationships/image" Target="../media/image-4-1.png"/><Relationship Id="rId2" Type="http://schemas.openxmlformats.org/officeDocument/2006/relationships/image" Target="../media/image-4-2.jpg"/><Relationship Id="rId4" Type="http://schemas.openxmlformats.org/officeDocument/2006/relationships/image" Target="../media/image-4-3.jpg"/><Relationship Id="rId6" Type="http://schemas.openxmlformats.org/officeDocument/2006/relationships/image" Target="../media/image-4-4.jpg"/><Relationship Id="rId8" Type="http://schemas.openxmlformats.org/officeDocument/2006/relationships/image" Target="../media/image-4-5.jpg"/><Relationship Id="rId10" Type="http://schemas.openxmlformats.org/officeDocument/2006/relationships/image" Target="../media/image-4-6.jpg"/><Relationship Id="rId12" Type="http://schemas.openxmlformats.org/officeDocument/2006/relationships/image" Target="../media/image-4-7.jpg"/><Relationship Id="rId14" Type="http://schemas.openxmlformats.org/officeDocument/2006/relationships/image" Target="../media/image-4-8.jpg"/><Relationship Id="rId16" Type="http://schemas.openxmlformats.org/officeDocument/2006/relationships/image" Target="../media/image-4-9.jpg"/><Relationship Id="rId18" Type="http://schemas.openxmlformats.org/officeDocument/2006/relationships/image" Target="../media/image-4-10.jpg"/><Relationship Id="rId20" Type="http://schemas.openxmlformats.org/officeDocument/2006/relationships/image" Target="../media/image-4-11.jpg"/><Relationship Id="rId22" Type="http://schemas.openxmlformats.org/officeDocument/2006/relationships/slideLayout" Target="../slideLayouts/slideLayout3.xml"/><Relationship Id="rId2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6.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image" Target="../media/image-6-3.jp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hyperlink" Target="https://scrap-flow-veloce-crita.vercel.app/" TargetMode="External"/><Relationship Id="rId5" Type="http://schemas.openxmlformats.org/officeDocument/2006/relationships/hyperlink" Target="https://scrap-flow-veloce-crita.vercel.app/" TargetMode="External"/><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image" Target="../media/image-12-1.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6.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3.jp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5" Type="http://schemas.openxmlformats.org/officeDocument/2006/relationships/hyperlink" Target="https://server.crita.in/tbc/login" TargetMode="External"/><Relationship Id="rId6" Type="http://schemas.openxmlformats.org/officeDocument/2006/relationships/hyperlink" Target="https://server.crita.in/tbc/login" TargetMode="External"/><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image" Target="../media/image-20-1.png"/><Relationship Id="rId4" Type="http://schemas.openxmlformats.org/officeDocument/2006/relationships/image" Target="../media/image-20-1.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jpg"/><Relationship Id="rId3" Type="http://schemas.openxmlformats.org/officeDocument/2006/relationships/slideLayout" Target="../slideLayouts/slideLayout5.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image" Target="../media/image-22-3.jpg"/><Relationship Id="rId4" Type="http://schemas.openxmlformats.org/officeDocument/2006/relationships/slideLayout" Target="../slideLayouts/slideLayout3.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3.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5" Type="http://schemas.openxmlformats.org/officeDocument/2006/relationships/hyperlink" Target="https://clariocrita.vercel.app/login?next=%2F" TargetMode="External"/><Relationship Id="rId6" Type="http://schemas.openxmlformats.org/officeDocument/2006/relationships/hyperlink" Target="https://clariocrita.vercel.app/login?next=%2F" TargetMode="External"/><Relationship Id="rId1" Type="http://schemas.openxmlformats.org/officeDocument/2006/relationships/image" Target="../media/image-28-1.png"/><Relationship Id="rId2" Type="http://schemas.openxmlformats.org/officeDocument/2006/relationships/image" Target="../media/image-28-1.png"/><Relationship Id="rId3" Type="http://schemas.openxmlformats.org/officeDocument/2006/relationships/image" Target="../media/image-28-1.png"/><Relationship Id="rId4" Type="http://schemas.openxmlformats.org/officeDocument/2006/relationships/image" Target="../media/image-28-1.png"/><Relationship Id="rId7" Type="http://schemas.openxmlformats.org/officeDocument/2006/relationships/slideLayout" Target="../slideLayouts/slideLayout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6.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1.png"/><Relationship Id="rId3" Type="http://schemas.openxmlformats.org/officeDocument/2006/relationships/image" Target="../media/image-30-3.jp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jpg"/><Relationship Id="rId3" Type="http://schemas.openxmlformats.org/officeDocument/2006/relationships/image" Target="../media/image-32-3.jpg"/><Relationship Id="rId4" Type="http://schemas.openxmlformats.org/officeDocument/2006/relationships/slideLayout" Target="../slideLayouts/slideLayout3.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jpg"/><Relationship Id="rId3" Type="http://schemas.openxmlformats.org/officeDocument/2006/relationships/slideLayout" Target="../slideLayouts/slideLayout3.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jpg"/><Relationship Id="rId3" Type="http://schemas.openxmlformats.org/officeDocument/2006/relationships/image" Target="../media/image-34-3.jp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jp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5" Type="http://schemas.openxmlformats.org/officeDocument/2006/relationships/hyperlink" Target="https://smc-crita.vercel.app/login" TargetMode="External"/><Relationship Id="rId6" Type="http://schemas.openxmlformats.org/officeDocument/2006/relationships/hyperlink" Target="https://smc-crita.vercel.app/login" TargetMode="External"/><Relationship Id="rId1" Type="http://schemas.openxmlformats.org/officeDocument/2006/relationships/image" Target="../media/image-36-1.png"/><Relationship Id="rId2" Type="http://schemas.openxmlformats.org/officeDocument/2006/relationships/image" Target="../media/image-36-1.png"/><Relationship Id="rId3" Type="http://schemas.openxmlformats.org/officeDocument/2006/relationships/image" Target="../media/image-36-1.png"/><Relationship Id="rId4" Type="http://schemas.openxmlformats.org/officeDocument/2006/relationships/image" Target="../media/image-36-1.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jpg"/><Relationship Id="rId3" Type="http://schemas.openxmlformats.org/officeDocument/2006/relationships/slideLayout" Target="../slideLayouts/slideLayout5.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1.png"/><Relationship Id="rId3" Type="http://schemas.openxmlformats.org/officeDocument/2006/relationships/image" Target="../media/image-38-3.jpg"/><Relationship Id="rId4" Type="http://schemas.openxmlformats.org/officeDocument/2006/relationships/slideLayout" Target="../slideLayouts/slideLayout3.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jpg"/><Relationship Id="rId3" Type="http://schemas.openxmlformats.org/officeDocument/2006/relationships/image" Target="../media/image-39-3.jpg"/><Relationship Id="rId4" Type="http://schemas.openxmlformats.org/officeDocument/2006/relationships/slideLayout" Target="../slideLayouts/slideLayout3.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jpg"/><Relationship Id="rId3" Type="http://schemas.openxmlformats.org/officeDocument/2006/relationships/image" Target="../media/image-40-3.jpg"/><Relationship Id="rId4" Type="http://schemas.openxmlformats.org/officeDocument/2006/relationships/slideLayout" Target="../slideLayouts/slideLayout3.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jpg"/><Relationship Id="rId3" Type="http://schemas.openxmlformats.org/officeDocument/2006/relationships/slideLayout" Target="../slideLayouts/slideLayout3.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jpg"/><Relationship Id="rId3" Type="http://schemas.openxmlformats.org/officeDocument/2006/relationships/slideLayout" Target="../slideLayouts/slideLayout3.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5" Type="http://schemas.openxmlformats.org/officeDocument/2006/relationships/hyperlink" Target="https://crita-crm.vercel.app/" TargetMode="External"/><Relationship Id="rId6" Type="http://schemas.openxmlformats.org/officeDocument/2006/relationships/hyperlink" Target="https://crita-crm.vercel.app/" TargetMode="External"/><Relationship Id="rId1" Type="http://schemas.openxmlformats.org/officeDocument/2006/relationships/image" Target="../media/image-44-1.png"/><Relationship Id="rId2" Type="http://schemas.openxmlformats.org/officeDocument/2006/relationships/image" Target="../media/image-44-1.png"/><Relationship Id="rId3" Type="http://schemas.openxmlformats.org/officeDocument/2006/relationships/image" Target="../media/image-44-1.png"/><Relationship Id="rId4" Type="http://schemas.openxmlformats.org/officeDocument/2006/relationships/image" Target="../media/image-44-1.png"/><Relationship Id="rId7" Type="http://schemas.openxmlformats.org/officeDocument/2006/relationships/slideLayout" Target="../slideLayouts/slideLayout3.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jpg"/><Relationship Id="rId3" Type="http://schemas.openxmlformats.org/officeDocument/2006/relationships/slideLayout" Target="../slideLayouts/slideLayout5.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1.png"/><Relationship Id="rId3" Type="http://schemas.openxmlformats.org/officeDocument/2006/relationships/image" Target="../media/image-46-3.jpg"/><Relationship Id="rId4" Type="http://schemas.openxmlformats.org/officeDocument/2006/relationships/slideLayout" Target="../slideLayouts/slideLayout3.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jpg"/><Relationship Id="rId3" Type="http://schemas.openxmlformats.org/officeDocument/2006/relationships/image" Target="../media/image-47-3.jpg"/><Relationship Id="rId4" Type="http://schemas.openxmlformats.org/officeDocument/2006/relationships/slideLayout" Target="../slideLayouts/slideLayout3.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jpg"/><Relationship Id="rId3" Type="http://schemas.openxmlformats.org/officeDocument/2006/relationships/image" Target="../media/image-48-3.jpg"/><Relationship Id="rId4" Type="http://schemas.openxmlformats.org/officeDocument/2006/relationships/slideLayout" Target="../slideLayouts/slideLayout3.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jpg"/><Relationship Id="rId3" Type="http://schemas.openxmlformats.org/officeDocument/2006/relationships/slideLayout" Target="../slideLayouts/slideLayout3.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jpg"/><Relationship Id="rId3" Type="http://schemas.openxmlformats.org/officeDocument/2006/relationships/image" Target="../media/image-50-3.jpg"/><Relationship Id="rId4" Type="http://schemas.openxmlformats.org/officeDocument/2006/relationships/slideLayout" Target="../slideLayouts/slideLayout3.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jpg"/><Relationship Id="rId3" Type="http://schemas.openxmlformats.org/officeDocument/2006/relationships/slideLayout" Target="../slideLayouts/slideLayout3.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4" Type="http://schemas.openxmlformats.org/officeDocument/2006/relationships/hyperlink" Target="https://city-threads-prototype.prince-4a5.workers.dev/" TargetMode="External"/><Relationship Id="rId5" Type="http://schemas.openxmlformats.org/officeDocument/2006/relationships/hyperlink" Target="https://city-threads-prototype.prince-4a5.workers.dev/" TargetMode="External"/><Relationship Id="rId1" Type="http://schemas.openxmlformats.org/officeDocument/2006/relationships/image" Target="../media/image-52-1.png"/><Relationship Id="rId2" Type="http://schemas.openxmlformats.org/officeDocument/2006/relationships/image" Target="../media/image-52-1.png"/><Relationship Id="rId3" Type="http://schemas.openxmlformats.org/officeDocument/2006/relationships/image" Target="../media/image-52-1.png"/><Relationship Id="rId6" Type="http://schemas.openxmlformats.org/officeDocument/2006/relationships/slideLayout" Target="../slideLayouts/slideLayout3.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jpg"/><Relationship Id="rId3" Type="http://schemas.openxmlformats.org/officeDocument/2006/relationships/slideLayout" Target="../slideLayouts/slideLayout6.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1.png"/><Relationship Id="rId3" Type="http://schemas.openxmlformats.org/officeDocument/2006/relationships/image" Target="../media/image-54-3.jpg"/><Relationship Id="rId4" Type="http://schemas.openxmlformats.org/officeDocument/2006/relationships/slideLayout" Target="../slideLayouts/slideLayout3.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jpg"/><Relationship Id="rId3" Type="http://schemas.openxmlformats.org/officeDocument/2006/relationships/image" Target="../media/image-55-3.jpg"/><Relationship Id="rId4" Type="http://schemas.openxmlformats.org/officeDocument/2006/relationships/slideLayout" Target="../slideLayouts/slideLayout3.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slideLayout" Target="../slideLayouts/slideLayout3.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jpg"/><Relationship Id="rId3" Type="http://schemas.openxmlformats.org/officeDocument/2006/relationships/slideLayout" Target="../slideLayouts/slideLayout3.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slideLayout" Target="../slideLayouts/slideLayout4.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jpg"/><Relationship Id="rId3" Type="http://schemas.openxmlformats.org/officeDocument/2006/relationships/slideLayout" Target="../slideLayouts/slideLayout4.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5" Type="http://schemas.openxmlformats.org/officeDocument/2006/relationships/hyperlink" Target="mailto:abishek@crita.in" TargetMode="External"/><Relationship Id="rId1" Type="http://schemas.openxmlformats.org/officeDocument/2006/relationships/image" Target="../media/image-60-1.png"/><Relationship Id="rId2" Type="http://schemas.openxmlformats.org/officeDocument/2006/relationships/image" Target="../media/image-60-1.png"/><Relationship Id="rId3" Type="http://schemas.openxmlformats.org/officeDocument/2006/relationships/image" Target="../media/image-60-1.png"/><Relationship Id="rId4" Type="http://schemas.openxmlformats.org/officeDocument/2006/relationships/image" Target="../media/image-60-1.png"/><Relationship Id="rId6" Type="http://schemas.openxmlformats.org/officeDocument/2006/relationships/slideLayout" Target="../slideLayouts/slideLayout3.xml"/><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jpg"/><Relationship Id="rId3" Type="http://schemas.openxmlformats.org/officeDocument/2006/relationships/slideLayout" Target="../slideLayouts/slideLayout5.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1.png"/><Relationship Id="rId3" Type="http://schemas.openxmlformats.org/officeDocument/2006/relationships/image" Target="../media/image-62-3.jpg"/><Relationship Id="rId4" Type="http://schemas.openxmlformats.org/officeDocument/2006/relationships/slideLayout" Target="../slideLayouts/slideLayout3.xm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jpg"/><Relationship Id="rId3" Type="http://schemas.openxmlformats.org/officeDocument/2006/relationships/image" Target="../media/image-63-3.jpg"/><Relationship Id="rId4" Type="http://schemas.openxmlformats.org/officeDocument/2006/relationships/slideLayout" Target="../slideLayouts/slideLayout3.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jpg"/><Relationship Id="rId3" Type="http://schemas.openxmlformats.org/officeDocument/2006/relationships/image" Target="../media/image-64-3.jpg"/><Relationship Id="rId4" Type="http://schemas.openxmlformats.org/officeDocument/2006/relationships/slideLayout" Target="../slideLayouts/slideLayout3.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jpg"/><Relationship Id="rId3" Type="http://schemas.openxmlformats.org/officeDocument/2006/relationships/slideLayout" Target="../slideLayouts/slideLayout3.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jpg"/><Relationship Id="rId3" Type="http://schemas.openxmlformats.org/officeDocument/2006/relationships/image" Target="../media/image-66-3.jpg"/><Relationship Id="rId4" Type="http://schemas.openxmlformats.org/officeDocument/2006/relationships/slideLayout" Target="../slideLayouts/slideLayout3.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jpg"/><Relationship Id="rId3" Type="http://schemas.openxmlformats.org/officeDocument/2006/relationships/slideLayout" Target="../slideLayouts/slideLayout3.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5" Type="http://schemas.openxmlformats.org/officeDocument/2006/relationships/hyperlink" Target="https://expense-logger-one.vercel.app/" TargetMode="External"/><Relationship Id="rId6" Type="http://schemas.openxmlformats.org/officeDocument/2006/relationships/hyperlink" Target="https://expense-logger-one.vercel.app/" TargetMode="External"/><Relationship Id="rId1" Type="http://schemas.openxmlformats.org/officeDocument/2006/relationships/image" Target="../media/image-68-1.png"/><Relationship Id="rId2" Type="http://schemas.openxmlformats.org/officeDocument/2006/relationships/image" Target="../media/image-68-1.png"/><Relationship Id="rId3" Type="http://schemas.openxmlformats.org/officeDocument/2006/relationships/image" Target="../media/image-68-1.png"/><Relationship Id="rId4" Type="http://schemas.openxmlformats.org/officeDocument/2006/relationships/image" Target="../media/image-68-1.png"/><Relationship Id="rId7" Type="http://schemas.openxmlformats.org/officeDocument/2006/relationships/slideLayout" Target="../slideLayouts/slideLayout3.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jpg"/><Relationship Id="rId3" Type="http://schemas.openxmlformats.org/officeDocument/2006/relationships/slideLayout" Target="../slideLayouts/slideLayout6.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1.png"/><Relationship Id="rId3" Type="http://schemas.openxmlformats.org/officeDocument/2006/relationships/image" Target="../media/image-70-3.jpg"/><Relationship Id="rId4" Type="http://schemas.openxmlformats.org/officeDocument/2006/relationships/slideLayout" Target="../slideLayouts/slideLayout3.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jpg"/><Relationship Id="rId3" Type="http://schemas.openxmlformats.org/officeDocument/2006/relationships/image" Target="../media/image-71-3.jpg"/><Relationship Id="rId4" Type="http://schemas.openxmlformats.org/officeDocument/2006/relationships/slideLayout" Target="../slideLayouts/slideLayout3.xml"/><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jpg"/><Relationship Id="rId3" Type="http://schemas.openxmlformats.org/officeDocument/2006/relationships/image" Target="../media/image-72-3.jpg"/><Relationship Id="rId4" Type="http://schemas.openxmlformats.org/officeDocument/2006/relationships/slideLayout" Target="../slideLayouts/slideLayout3.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jpg"/><Relationship Id="rId3" Type="http://schemas.openxmlformats.org/officeDocument/2006/relationships/slideLayout" Target="../slideLayouts/slideLayout3.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jpg"/><Relationship Id="rId3" Type="http://schemas.openxmlformats.org/officeDocument/2006/relationships/image" Target="../media/image-74-3.jpg"/><Relationship Id="rId4" Type="http://schemas.openxmlformats.org/officeDocument/2006/relationships/slideLayout" Target="../slideLayouts/slideLayout4.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jpg"/><Relationship Id="rId3" Type="http://schemas.openxmlformats.org/officeDocument/2006/relationships/slideLayout" Target="../slideLayouts/slideLayout4.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5" Type="http://schemas.openxmlformats.org/officeDocument/2006/relationships/hyperlink" Target="https://critacreativellp-dev.web.app/" TargetMode="External"/><Relationship Id="rId6" Type="http://schemas.openxmlformats.org/officeDocument/2006/relationships/hyperlink" Target="https://critacreativellp-dev.web.app/" TargetMode="External"/><Relationship Id="rId1" Type="http://schemas.openxmlformats.org/officeDocument/2006/relationships/image" Target="../media/image-76-1.png"/><Relationship Id="rId2" Type="http://schemas.openxmlformats.org/officeDocument/2006/relationships/image" Target="../media/image-76-1.png"/><Relationship Id="rId3" Type="http://schemas.openxmlformats.org/officeDocument/2006/relationships/image" Target="../media/image-76-1.png"/><Relationship Id="rId4" Type="http://schemas.openxmlformats.org/officeDocument/2006/relationships/image" Target="../media/image-76-1.png"/><Relationship Id="rId7" Type="http://schemas.openxmlformats.org/officeDocument/2006/relationships/slideLayout" Target="../slideLayouts/slideLayout3.xml"/><Relationship Id="rId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jpg"/><Relationship Id="rId3" Type="http://schemas.openxmlformats.org/officeDocument/2006/relationships/slideLayout" Target="../slideLayouts/slideLayout5.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1.png"/><Relationship Id="rId3" Type="http://schemas.openxmlformats.org/officeDocument/2006/relationships/image" Target="../media/image-78-3.jpg"/><Relationship Id="rId4" Type="http://schemas.openxmlformats.org/officeDocument/2006/relationships/slideLayout" Target="../slideLayouts/slideLayout3.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jpg"/><Relationship Id="rId3" Type="http://schemas.openxmlformats.org/officeDocument/2006/relationships/image" Target="../media/image-79-3.jpg"/><Relationship Id="rId4" Type="http://schemas.openxmlformats.org/officeDocument/2006/relationships/slideLayout" Target="../slideLayouts/slideLayout3.xm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jpg"/><Relationship Id="rId3" Type="http://schemas.openxmlformats.org/officeDocument/2006/relationships/image" Target="../media/image-80-3.jpg"/><Relationship Id="rId4" Type="http://schemas.openxmlformats.org/officeDocument/2006/relationships/slideLayout" Target="../slideLayouts/slideLayout3.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jpg"/><Relationship Id="rId3" Type="http://schemas.openxmlformats.org/officeDocument/2006/relationships/slideLayout" Target="../slideLayouts/slideLayout3.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jpg"/><Relationship Id="rId3" Type="http://schemas.openxmlformats.org/officeDocument/2006/relationships/image" Target="../media/image-82-3.jpg"/><Relationship Id="rId4" Type="http://schemas.openxmlformats.org/officeDocument/2006/relationships/slideLayout" Target="../slideLayouts/slideLayout3.xml"/><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jpg"/><Relationship Id="rId3" Type="http://schemas.openxmlformats.org/officeDocument/2006/relationships/slideLayout" Target="../slideLayouts/slideLayout3.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5" Type="http://schemas.openxmlformats.org/officeDocument/2006/relationships/hyperlink" Target="https://server.crita.in/support-ticket/dev" TargetMode="External"/><Relationship Id="rId6" Type="http://schemas.openxmlformats.org/officeDocument/2006/relationships/hyperlink" Target="https://server.crita.in/support-ticket/dev" TargetMode="External"/><Relationship Id="rId1" Type="http://schemas.openxmlformats.org/officeDocument/2006/relationships/image" Target="../media/image-84-1.png"/><Relationship Id="rId2" Type="http://schemas.openxmlformats.org/officeDocument/2006/relationships/image" Target="../media/image-84-1.png"/><Relationship Id="rId3" Type="http://schemas.openxmlformats.org/officeDocument/2006/relationships/image" Target="../media/image-84-1.png"/><Relationship Id="rId4" Type="http://schemas.openxmlformats.org/officeDocument/2006/relationships/image" Target="../media/image-84-1.png"/><Relationship Id="rId7" Type="http://schemas.openxmlformats.org/officeDocument/2006/relationships/slideLayout" Target="../slideLayouts/slideLayout3.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3" Type="http://schemas.openxmlformats.org/officeDocument/2006/relationships/hyperlink" Target="mailto:abishek@crita.in" TargetMode="External"/><Relationship Id="rId4" Type="http://schemas.openxmlformats.org/officeDocument/2006/relationships/hyperlink" Target="https://www.crita.in" TargetMode="External"/><Relationship Id="rId1" Type="http://schemas.openxmlformats.org/officeDocument/2006/relationships/image" Target="../media/image-85-1.png"/><Relationship Id="rId2" Type="http://schemas.openxmlformats.org/officeDocument/2006/relationships/image" Target="../media/image-85-2.png"/><Relationship Id="rId5" Type="http://schemas.openxmlformats.org/officeDocument/2006/relationships/image" Target="../media/image-85-3.png"/><Relationship Id="rId6" Type="http://schemas.openxmlformats.org/officeDocument/2006/relationships/slideLayout" Target="../slideLayouts/slideLayout2.xml"/><Relationship Id="rId7" Type="http://schemas.openxmlformats.org/officeDocument/2006/relationships/notesSlide" Target="../notesSlides/notesSlide8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rita">    </p:cNvPr>
          <p:cNvPicPr>
            <a:picLocks noChangeAspect="1"/>
          </p:cNvPicPr>
          <p:nvPr/>
        </p:nvPicPr>
        <p:blipFill>
          <a:blip r:embed="rId1"/>
          <a:stretch>
            <a:fillRect/>
          </a:stretch>
        </p:blipFill>
        <p:spPr>
          <a:xfrm>
            <a:off x="548640" y="502920"/>
            <a:ext cx="1417320" cy="272900"/>
          </a:xfrm>
          <a:prstGeom prst="rect">
            <a:avLst/>
          </a:prstGeom>
        </p:spPr>
      </p:pic>
      <p:sp>
        <p:nvSpPr>
          <p:cNvPr id="3" name="Text 0"/>
          <p:cNvSpPr txBox="1"/>
          <p:nvPr/>
        </p:nvSpPr>
        <p:spPr>
          <a:xfrm>
            <a:off x="8534095" y="530352"/>
            <a:ext cx="3108960" cy="219456"/>
          </a:xfrm>
          <a:prstGeom prst="rect">
            <a:avLst/>
          </a:prstGeom>
          <a:noFill/>
          <a:ln/>
        </p:spPr>
        <p:txBody>
          <a:bodyPr wrap="square" lIns="0" tIns="0" rIns="0" bIns="0" rtlCol="0" anchor="ctr"/>
          <a:lstStyle/>
          <a:p>
            <a:pPr algn="r" indent="0" marL="0">
              <a:buNone/>
            </a:pPr>
            <a:r>
              <a:rPr lang="en-US" sz="900" b="1" spc="200" kern="0" dirty="0">
                <a:solidFill>
                  <a:srgbClr val="8C938B"/>
                </a:solidFill>
              </a:rPr>
              <a:t>SELECTED WORK 2026</a:t>
            </a:r>
            <a:endParaRPr lang="en-US" sz="900" dirty="0"/>
          </a:p>
        </p:txBody>
      </p:sp>
      <p:pic>
        <p:nvPicPr>
          <p:cNvPr id="4" name="Image 1" descr="F:\Office Project\Crita Portfolio\portfolio\ppt\brand\c.png">    </p:cNvPr>
          <p:cNvPicPr>
            <a:picLocks noChangeAspect="1"/>
          </p:cNvPicPr>
          <p:nvPr/>
        </p:nvPicPr>
        <p:blipFill>
          <a:blip r:embed="rId2"/>
          <a:stretch>
            <a:fillRect/>
          </a:stretch>
        </p:blipFill>
        <p:spPr>
          <a:xfrm>
            <a:off x="548640" y="1613916"/>
            <a:ext cx="182880" cy="134417"/>
          </a:xfrm>
          <a:prstGeom prst="rect">
            <a:avLst/>
          </a:prstGeom>
        </p:spPr>
      </p:pic>
      <p:sp>
        <p:nvSpPr>
          <p:cNvPr id="5" name="Text 1"/>
          <p:cNvSpPr txBox="1"/>
          <p:nvPr/>
        </p:nvSpPr>
        <p:spPr>
          <a:xfrm>
            <a:off x="813816" y="1572768"/>
            <a:ext cx="4206240" cy="219456"/>
          </a:xfrm>
          <a:prstGeom prst="rect">
            <a:avLst/>
          </a:prstGeom>
          <a:noFill/>
          <a:ln/>
        </p:spPr>
        <p:txBody>
          <a:bodyPr wrap="square" lIns="0" tIns="0" rIns="0" bIns="0" rtlCol="0" anchor="ctr"/>
          <a:lstStyle/>
          <a:p>
            <a:pPr indent="0" marL="0">
              <a:buNone/>
            </a:pPr>
            <a:r>
              <a:rPr lang="en-US" sz="900" b="1" spc="200" kern="0" dirty="0">
                <a:solidFill>
                  <a:srgbClr val="8C938B"/>
                </a:solidFill>
              </a:rPr>
              <a:t>CONSULTING-LED TECHNOLOGY PARTNER</a:t>
            </a:r>
            <a:endParaRPr lang="en-US" sz="900" dirty="0"/>
          </a:p>
        </p:txBody>
      </p:sp>
      <p:sp>
        <p:nvSpPr>
          <p:cNvPr id="6" name="Text 2"/>
          <p:cNvSpPr txBox="1"/>
          <p:nvPr/>
        </p:nvSpPr>
        <p:spPr>
          <a:xfrm>
            <a:off x="548640" y="1901952"/>
            <a:ext cx="5212080" cy="2331720"/>
          </a:xfrm>
          <a:prstGeom prst="rect">
            <a:avLst/>
          </a:prstGeom>
          <a:noFill/>
          <a:ln/>
        </p:spPr>
        <p:txBody>
          <a:bodyPr wrap="square" lIns="0" tIns="0" rIns="0" bIns="0" rtlCol="0" anchor="t"/>
          <a:lstStyle/>
          <a:p>
            <a:pPr indent="0" marL="0">
              <a:lnSpc>
                <a:spcPct val="90000"/>
              </a:lnSpc>
              <a:buNone/>
            </a:pPr>
            <a:r>
              <a:rPr lang="en-US" sz="4400" b="1" spc="-120" kern="0" dirty="0">
                <a:solidFill>
                  <a:srgbClr val="EEF0E6"/>
                </a:solidFill>
              </a:rPr>
              <a:t>Software that brings </a:t>
            </a:r>
            <a:pPr indent="0" marL="0">
              <a:lnSpc>
                <a:spcPct val="90000"/>
              </a:lnSpc>
              <a:buNone/>
            </a:pPr>
            <a:r>
              <a:rPr lang="en-US" sz="4400" b="1" spc="-120" kern="0" dirty="0">
                <a:solidFill>
                  <a:srgbClr val="D6E151"/>
                </a:solidFill>
              </a:rPr>
              <a:t>clarity</a:t>
            </a:r>
            <a:pPr indent="0" marL="0">
              <a:lnSpc>
                <a:spcPct val="90000"/>
              </a:lnSpc>
              <a:buNone/>
            </a:pPr>
            <a:r>
              <a:rPr lang="en-US" sz="4400" b="1" spc="-120" kern="0" dirty="0">
                <a:solidFill>
                  <a:srgbClr val="EEF0E6"/>
                </a:solidFill>
              </a:rPr>
              <a:t> to complex operations.</a:t>
            </a:r>
            <a:endParaRPr lang="en-US" sz="4400" dirty="0"/>
          </a:p>
        </p:txBody>
      </p:sp>
      <p:sp>
        <p:nvSpPr>
          <p:cNvPr id="7" name="Text 3"/>
          <p:cNvSpPr txBox="1"/>
          <p:nvPr/>
        </p:nvSpPr>
        <p:spPr>
          <a:xfrm>
            <a:off x="548640" y="4315968"/>
            <a:ext cx="4846320" cy="1051560"/>
          </a:xfrm>
          <a:prstGeom prst="rect">
            <a:avLst/>
          </a:prstGeom>
          <a:noFill/>
          <a:ln/>
        </p:spPr>
        <p:txBody>
          <a:bodyPr wrap="square" lIns="0" tIns="0" rIns="0" bIns="0" rtlCol="0" anchor="t"/>
          <a:lstStyle/>
          <a:p>
            <a:pPr indent="0" marL="0">
              <a:lnSpc>
                <a:spcPct val="112000"/>
              </a:lnSpc>
              <a:buNone/>
            </a:pPr>
            <a:r>
              <a:rPr lang="en-US" sz="1300" dirty="0">
                <a:solidFill>
                  <a:srgbClr val="BFC4BA"/>
                </a:solidFill>
              </a:rPr>
              <a:t>Crita Creative LLP is a consulting-led technology partner. We design and build custom business platforms — for field teams, warehouses, scrap yards and finance — around the way each business actually works.</a:t>
            </a:r>
            <a:endParaRPr lang="en-US" sz="1300" dirty="0"/>
          </a:p>
        </p:txBody>
      </p:sp>
      <p:pic>
        <p:nvPicPr>
          <p:cNvPr id="8" name="Image 2" descr="Screens from SMC Task Management, Clario, Veloce Scrap Flow and City Threads">    </p:cNvPr>
          <p:cNvPicPr>
            <a:picLocks noChangeAspect="1"/>
          </p:cNvPicPr>
          <p:nvPr/>
        </p:nvPicPr>
        <p:blipFill>
          <a:blip r:embed="rId3"/>
          <a:stretch>
            <a:fillRect/>
          </a:stretch>
        </p:blipFill>
        <p:spPr>
          <a:xfrm>
            <a:off x="5691998" y="991372"/>
            <a:ext cx="6263924" cy="4752116"/>
          </a:xfrm>
          <a:prstGeom prst="rect">
            <a:avLst/>
          </a:prstGeom>
        </p:spPr>
      </p:pic>
      <p:sp>
        <p:nvSpPr>
          <p:cNvPr id="9" name="Shape 4"/>
          <p:cNvSpPr/>
          <p:nvPr/>
        </p:nvSpPr>
        <p:spPr>
          <a:xfrm>
            <a:off x="548640" y="5596128"/>
            <a:ext cx="11094415" cy="0"/>
          </a:xfrm>
          <a:prstGeom prst="line">
            <a:avLst/>
          </a:prstGeom>
          <a:noFill/>
          <a:ln w="9525">
            <a:solidFill>
              <a:srgbClr val="2A3832"/>
            </a:solidFill>
            <a:prstDash val="solid"/>
          </a:ln>
        </p:spPr>
      </p:sp>
      <p:sp>
        <p:nvSpPr>
          <p:cNvPr id="10" name="Text 5"/>
          <p:cNvSpPr txBox="1"/>
          <p:nvPr/>
        </p:nvSpPr>
        <p:spPr>
          <a:xfrm>
            <a:off x="548640" y="5705856"/>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01  </a:t>
            </a:r>
            <a:pPr indent="0" marL="0">
              <a:buNone/>
            </a:pPr>
            <a:r>
              <a:rPr lang="en-US" sz="1100" b="1" dirty="0">
                <a:solidFill>
                  <a:srgbClr val="EEF0E6"/>
                </a:solidFill>
              </a:rPr>
              <a:t>Veloce Scrap Flow</a:t>
            </a:r>
            <a:endParaRPr lang="en-US" sz="900" dirty="0"/>
          </a:p>
        </p:txBody>
      </p:sp>
      <p:sp>
        <p:nvSpPr>
          <p:cNvPr id="11" name="Shape 6">
            <a:hlinkClick r:id="rId4" tooltip="Go to Veloce Scrap Flow" action="ppaction://hlinksldjump"/>
          </p:cNvPr>
          <p:cNvSpPr/>
          <p:nvPr/>
        </p:nvSpPr>
        <p:spPr>
          <a:xfrm>
            <a:off x="548640" y="5705856"/>
            <a:ext cx="2109155" cy="292608"/>
          </a:xfrm>
          <a:prstGeom prst="rect">
            <a:avLst/>
          </a:prstGeom>
          <a:solidFill>
            <a:srgbClr val="FFFFFF">
              <a:alpha val="0"/>
            </a:srgbClr>
          </a:solidFill>
          <a:ln/>
        </p:spPr>
      </p:sp>
      <p:sp>
        <p:nvSpPr>
          <p:cNvPr id="12" name="Text 7"/>
          <p:cNvSpPr txBox="1"/>
          <p:nvPr/>
        </p:nvSpPr>
        <p:spPr>
          <a:xfrm>
            <a:off x="2767523" y="5705856"/>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02  </a:t>
            </a:r>
            <a:pPr indent="0" marL="0">
              <a:buNone/>
            </a:pPr>
            <a:r>
              <a:rPr lang="en-US" sz="1100" b="1" dirty="0">
                <a:solidFill>
                  <a:srgbClr val="EEF0E6"/>
                </a:solidFill>
              </a:rPr>
              <a:t>Tribal Brew Coffee</a:t>
            </a:r>
            <a:endParaRPr lang="en-US" sz="900" dirty="0"/>
          </a:p>
        </p:txBody>
      </p:sp>
      <p:sp>
        <p:nvSpPr>
          <p:cNvPr id="13" name="Shape 8">
            <a:hlinkClick r:id="rId5" tooltip="Go to Tribal Brew Coffee" action="ppaction://hlinksldjump"/>
          </p:cNvPr>
          <p:cNvSpPr/>
          <p:nvPr/>
        </p:nvSpPr>
        <p:spPr>
          <a:xfrm>
            <a:off x="2767523" y="5705856"/>
            <a:ext cx="2109155" cy="292608"/>
          </a:xfrm>
          <a:prstGeom prst="rect">
            <a:avLst/>
          </a:prstGeom>
          <a:solidFill>
            <a:srgbClr val="FFFFFF">
              <a:alpha val="0"/>
            </a:srgbClr>
          </a:solidFill>
          <a:ln/>
        </p:spPr>
      </p:sp>
      <p:sp>
        <p:nvSpPr>
          <p:cNvPr id="14" name="Text 9"/>
          <p:cNvSpPr txBox="1"/>
          <p:nvPr/>
        </p:nvSpPr>
        <p:spPr>
          <a:xfrm>
            <a:off x="4986406" y="5705856"/>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03  </a:t>
            </a:r>
            <a:pPr indent="0" marL="0">
              <a:buNone/>
            </a:pPr>
            <a:r>
              <a:rPr lang="en-US" sz="1100" b="1" dirty="0">
                <a:solidFill>
                  <a:srgbClr val="EEF0E6"/>
                </a:solidFill>
              </a:rPr>
              <a:t>Clario</a:t>
            </a:r>
            <a:endParaRPr lang="en-US" sz="900" dirty="0"/>
          </a:p>
        </p:txBody>
      </p:sp>
      <p:sp>
        <p:nvSpPr>
          <p:cNvPr id="15" name="Shape 10">
            <a:hlinkClick r:id="rId6" tooltip="Go to Clario" action="ppaction://hlinksldjump"/>
          </p:cNvPr>
          <p:cNvSpPr/>
          <p:nvPr/>
        </p:nvSpPr>
        <p:spPr>
          <a:xfrm>
            <a:off x="4986406" y="5705856"/>
            <a:ext cx="2109155" cy="292608"/>
          </a:xfrm>
          <a:prstGeom prst="rect">
            <a:avLst/>
          </a:prstGeom>
          <a:solidFill>
            <a:srgbClr val="FFFFFF">
              <a:alpha val="0"/>
            </a:srgbClr>
          </a:solidFill>
          <a:ln/>
        </p:spPr>
      </p:sp>
      <p:sp>
        <p:nvSpPr>
          <p:cNvPr id="16" name="Text 11"/>
          <p:cNvSpPr txBox="1"/>
          <p:nvPr/>
        </p:nvSpPr>
        <p:spPr>
          <a:xfrm>
            <a:off x="7205289" y="5705856"/>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04  </a:t>
            </a:r>
            <a:pPr indent="0" marL="0">
              <a:buNone/>
            </a:pPr>
            <a:r>
              <a:rPr lang="en-US" sz="1100" b="1" dirty="0">
                <a:solidFill>
                  <a:srgbClr val="EEF0E6"/>
                </a:solidFill>
              </a:rPr>
              <a:t>SMC Task Management</a:t>
            </a:r>
            <a:endParaRPr lang="en-US" sz="900" dirty="0"/>
          </a:p>
        </p:txBody>
      </p:sp>
      <p:sp>
        <p:nvSpPr>
          <p:cNvPr id="17" name="Shape 12">
            <a:hlinkClick r:id="rId7" tooltip="Go to SMC Task Management" action="ppaction://hlinksldjump"/>
          </p:cNvPr>
          <p:cNvSpPr/>
          <p:nvPr/>
        </p:nvSpPr>
        <p:spPr>
          <a:xfrm>
            <a:off x="7205289" y="5705856"/>
            <a:ext cx="2109155" cy="292608"/>
          </a:xfrm>
          <a:prstGeom prst="rect">
            <a:avLst/>
          </a:prstGeom>
          <a:solidFill>
            <a:srgbClr val="FFFFFF">
              <a:alpha val="0"/>
            </a:srgbClr>
          </a:solidFill>
          <a:ln/>
        </p:spPr>
      </p:sp>
      <p:sp>
        <p:nvSpPr>
          <p:cNvPr id="18" name="Text 13"/>
          <p:cNvSpPr txBox="1"/>
          <p:nvPr/>
        </p:nvSpPr>
        <p:spPr>
          <a:xfrm>
            <a:off x="9424172" y="5705856"/>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05  </a:t>
            </a:r>
            <a:pPr indent="0" marL="0">
              <a:buNone/>
            </a:pPr>
            <a:r>
              <a:rPr lang="en-US" sz="1100" b="1" dirty="0">
                <a:solidFill>
                  <a:srgbClr val="EEF0E6"/>
                </a:solidFill>
              </a:rPr>
              <a:t>AI Sales CRM</a:t>
            </a:r>
            <a:endParaRPr lang="en-US" sz="900" dirty="0"/>
          </a:p>
        </p:txBody>
      </p:sp>
      <p:sp>
        <p:nvSpPr>
          <p:cNvPr id="19" name="Shape 14">
            <a:hlinkClick r:id="rId8" tooltip="Go to AI Sales CRM" action="ppaction://hlinksldjump"/>
          </p:cNvPr>
          <p:cNvSpPr/>
          <p:nvPr/>
        </p:nvSpPr>
        <p:spPr>
          <a:xfrm>
            <a:off x="9424172" y="5705856"/>
            <a:ext cx="2109155" cy="292608"/>
          </a:xfrm>
          <a:prstGeom prst="rect">
            <a:avLst/>
          </a:prstGeom>
          <a:solidFill>
            <a:srgbClr val="FFFFFF">
              <a:alpha val="0"/>
            </a:srgbClr>
          </a:solidFill>
          <a:ln/>
        </p:spPr>
      </p:sp>
      <p:sp>
        <p:nvSpPr>
          <p:cNvPr id="20" name="Text 15"/>
          <p:cNvSpPr txBox="1"/>
          <p:nvPr/>
        </p:nvSpPr>
        <p:spPr>
          <a:xfrm>
            <a:off x="548640" y="6089904"/>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06  </a:t>
            </a:r>
            <a:pPr indent="0" marL="0">
              <a:buNone/>
            </a:pPr>
            <a:r>
              <a:rPr lang="en-US" sz="1100" b="1" dirty="0">
                <a:solidFill>
                  <a:srgbClr val="EEF0E6"/>
                </a:solidFill>
              </a:rPr>
              <a:t>City Threads</a:t>
            </a:r>
            <a:endParaRPr lang="en-US" sz="900" dirty="0"/>
          </a:p>
        </p:txBody>
      </p:sp>
      <p:sp>
        <p:nvSpPr>
          <p:cNvPr id="21" name="Shape 16">
            <a:hlinkClick r:id="rId9" tooltip="Go to City Threads" action="ppaction://hlinksldjump"/>
          </p:cNvPr>
          <p:cNvSpPr/>
          <p:nvPr/>
        </p:nvSpPr>
        <p:spPr>
          <a:xfrm>
            <a:off x="548640" y="6089904"/>
            <a:ext cx="2109155" cy="292608"/>
          </a:xfrm>
          <a:prstGeom prst="rect">
            <a:avLst/>
          </a:prstGeom>
          <a:solidFill>
            <a:srgbClr val="FFFFFF">
              <a:alpha val="0"/>
            </a:srgbClr>
          </a:solidFill>
          <a:ln/>
        </p:spPr>
      </p:sp>
      <p:sp>
        <p:nvSpPr>
          <p:cNvPr id="22" name="Text 17"/>
          <p:cNvSpPr txBox="1"/>
          <p:nvPr/>
        </p:nvSpPr>
        <p:spPr>
          <a:xfrm>
            <a:off x="2767523" y="6089904"/>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07  </a:t>
            </a:r>
            <a:pPr indent="0" marL="0">
              <a:buNone/>
            </a:pPr>
            <a:r>
              <a:rPr lang="en-US" sz="1100" b="1" dirty="0">
                <a:solidFill>
                  <a:srgbClr val="EEF0E6"/>
                </a:solidFill>
              </a:rPr>
              <a:t>Veloce Trade</a:t>
            </a:r>
            <a:endParaRPr lang="en-US" sz="900" dirty="0"/>
          </a:p>
        </p:txBody>
      </p:sp>
      <p:sp>
        <p:nvSpPr>
          <p:cNvPr id="23" name="Shape 18">
            <a:hlinkClick r:id="rId10" tooltip="Go to Veloce Trade" action="ppaction://hlinksldjump"/>
          </p:cNvPr>
          <p:cNvSpPr/>
          <p:nvPr/>
        </p:nvSpPr>
        <p:spPr>
          <a:xfrm>
            <a:off x="2767523" y="6089904"/>
            <a:ext cx="2109155" cy="292608"/>
          </a:xfrm>
          <a:prstGeom prst="rect">
            <a:avLst/>
          </a:prstGeom>
          <a:solidFill>
            <a:srgbClr val="FFFFFF">
              <a:alpha val="0"/>
            </a:srgbClr>
          </a:solidFill>
          <a:ln/>
        </p:spPr>
      </p:sp>
      <p:sp>
        <p:nvSpPr>
          <p:cNvPr id="24" name="Text 19"/>
          <p:cNvSpPr txBox="1"/>
          <p:nvPr/>
        </p:nvSpPr>
        <p:spPr>
          <a:xfrm>
            <a:off x="4986406" y="6089904"/>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08  </a:t>
            </a:r>
            <a:pPr indent="0" marL="0">
              <a:buNone/>
            </a:pPr>
            <a:r>
              <a:rPr lang="en-US" sz="1100" b="1" dirty="0">
                <a:solidFill>
                  <a:srgbClr val="EEF0E6"/>
                </a:solidFill>
              </a:rPr>
              <a:t>Expense Log</a:t>
            </a:r>
            <a:endParaRPr lang="en-US" sz="900" dirty="0"/>
          </a:p>
        </p:txBody>
      </p:sp>
      <p:sp>
        <p:nvSpPr>
          <p:cNvPr id="25" name="Shape 20">
            <a:hlinkClick r:id="rId11" tooltip="Go to Expense Log" action="ppaction://hlinksldjump"/>
          </p:cNvPr>
          <p:cNvSpPr/>
          <p:nvPr/>
        </p:nvSpPr>
        <p:spPr>
          <a:xfrm>
            <a:off x="4986406" y="6089904"/>
            <a:ext cx="2109155" cy="292608"/>
          </a:xfrm>
          <a:prstGeom prst="rect">
            <a:avLst/>
          </a:prstGeom>
          <a:solidFill>
            <a:srgbClr val="FFFFFF">
              <a:alpha val="0"/>
            </a:srgbClr>
          </a:solidFill>
          <a:ln/>
        </p:spPr>
      </p:sp>
      <p:sp>
        <p:nvSpPr>
          <p:cNvPr id="26" name="Text 21"/>
          <p:cNvSpPr txBox="1"/>
          <p:nvPr/>
        </p:nvSpPr>
        <p:spPr>
          <a:xfrm>
            <a:off x="7205289" y="6089904"/>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09  </a:t>
            </a:r>
            <a:pPr indent="0" marL="0">
              <a:buNone/>
            </a:pPr>
            <a:r>
              <a:rPr lang="en-US" sz="1100" b="1" dirty="0">
                <a:solidFill>
                  <a:srgbClr val="EEF0E6"/>
                </a:solidFill>
              </a:rPr>
              <a:t>Lead Discovery CRM</a:t>
            </a:r>
            <a:endParaRPr lang="en-US" sz="900" dirty="0"/>
          </a:p>
        </p:txBody>
      </p:sp>
      <p:sp>
        <p:nvSpPr>
          <p:cNvPr id="27" name="Shape 22">
            <a:hlinkClick r:id="rId12" tooltip="Go to Lead Discovery CRM" action="ppaction://hlinksldjump"/>
          </p:cNvPr>
          <p:cNvSpPr/>
          <p:nvPr/>
        </p:nvSpPr>
        <p:spPr>
          <a:xfrm>
            <a:off x="7205289" y="6089904"/>
            <a:ext cx="2109155" cy="292608"/>
          </a:xfrm>
          <a:prstGeom prst="rect">
            <a:avLst/>
          </a:prstGeom>
          <a:solidFill>
            <a:srgbClr val="FFFFFF">
              <a:alpha val="0"/>
            </a:srgbClr>
          </a:solidFill>
          <a:ln/>
        </p:spPr>
      </p:sp>
      <p:sp>
        <p:nvSpPr>
          <p:cNvPr id="28" name="Text 23"/>
          <p:cNvSpPr txBox="1"/>
          <p:nvPr/>
        </p:nvSpPr>
        <p:spPr>
          <a:xfrm>
            <a:off x="9424172" y="6089904"/>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10  </a:t>
            </a:r>
            <a:pPr indent="0" marL="0">
              <a:buNone/>
            </a:pPr>
            <a:r>
              <a:rPr lang="en-US" sz="1100" b="1" dirty="0">
                <a:solidFill>
                  <a:srgbClr val="EEF0E6"/>
                </a:solidFill>
              </a:rPr>
              <a:t>Support Portal</a:t>
            </a:r>
            <a:endParaRPr lang="en-US" sz="900" dirty="0"/>
          </a:p>
        </p:txBody>
      </p:sp>
      <p:sp>
        <p:nvSpPr>
          <p:cNvPr id="29" name="Shape 24">
            <a:hlinkClick r:id="rId13" tooltip="Go to Support Portal" action="ppaction://hlinksldjump"/>
          </p:cNvPr>
          <p:cNvSpPr/>
          <p:nvPr/>
        </p:nvSpPr>
        <p:spPr>
          <a:xfrm>
            <a:off x="9424172" y="6089904"/>
            <a:ext cx="2109155" cy="292608"/>
          </a:xfrm>
          <a:prstGeom prst="rect">
            <a:avLst/>
          </a:prstGeom>
          <a:solidFill>
            <a:srgbClr val="FFFFFF">
              <a:alpha val="0"/>
            </a:srgbClr>
          </a:solidFill>
          <a:ln/>
        </p:spPr>
      </p:sp>
    </p:spTree>
  </p:cSld>
  <p:clrMapOvr>
    <a:masterClrMapping/>
  </p:clrMapOvr>
  <p:transition spd="slow">
    <p:fade thruBlk="1"/>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WHO WE ARE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Crita Creative LLP</a:t>
            </a:r>
            <a:endParaRPr lang="en-US" sz="2800" dirty="0"/>
          </a:p>
        </p:txBody>
      </p:sp>
      <p:sp>
        <p:nvSpPr>
          <p:cNvPr id="5" name="Text 2"/>
          <p:cNvSpPr txBox="1"/>
          <p:nvPr/>
        </p:nvSpPr>
        <p:spPr>
          <a:xfrm>
            <a:off x="548640" y="1417320"/>
            <a:ext cx="6400800" cy="292608"/>
          </a:xfrm>
          <a:prstGeom prst="rect">
            <a:avLst/>
          </a:prstGeom>
          <a:noFill/>
          <a:ln/>
        </p:spPr>
        <p:txBody>
          <a:bodyPr wrap="square" lIns="0" tIns="0" rIns="0" bIns="0" rtlCol="0" anchor="t"/>
          <a:lstStyle/>
          <a:p>
            <a:pPr indent="0" marL="0">
              <a:buNone/>
            </a:pPr>
            <a:r>
              <a:rPr lang="en-US" sz="1400" b="1" dirty="0">
                <a:solidFill>
                  <a:srgbClr val="7FA53F"/>
                </a:solidFill>
              </a:rPr>
              <a:t>Consulting-led technology partner</a:t>
            </a:r>
            <a:endParaRPr lang="en-US" sz="1400" dirty="0"/>
          </a:p>
        </p:txBody>
      </p:sp>
      <p:sp>
        <p:nvSpPr>
          <p:cNvPr id="6" name="Text 3"/>
          <p:cNvSpPr txBox="1"/>
          <p:nvPr/>
        </p:nvSpPr>
        <p:spPr>
          <a:xfrm>
            <a:off x="548640" y="1874520"/>
            <a:ext cx="6949440" cy="1417320"/>
          </a:xfrm>
          <a:prstGeom prst="rect">
            <a:avLst/>
          </a:prstGeom>
          <a:noFill/>
          <a:ln/>
        </p:spPr>
        <p:txBody>
          <a:bodyPr wrap="square" lIns="0" tIns="0" rIns="0" bIns="0" rtlCol="0" anchor="t"/>
          <a:lstStyle/>
          <a:p>
            <a:pPr indent="0" marL="0">
              <a:lnSpc>
                <a:spcPct val="112000"/>
              </a:lnSpc>
              <a:buNone/>
            </a:pPr>
            <a:r>
              <a:rPr lang="en-US" sz="1900" dirty="0">
                <a:solidFill>
                  <a:srgbClr val="0D1813"/>
                </a:solidFill>
                <a:latin typeface="Satoshi Medium" pitchFamily="34" charset="0"/>
                <a:ea typeface="Satoshi Medium" pitchFamily="34" charset="-122"/>
                <a:cs typeface="Satoshi Medium" pitchFamily="34" charset="-120"/>
              </a:rPr>
              <a:t>We combine strategy, product design and engineering to turn fragmented operations into connected systems people actually use. Every project starts with the business, not the brief.</a:t>
            </a:r>
            <a:endParaRPr lang="en-US" sz="1900" dirty="0"/>
          </a:p>
        </p:txBody>
      </p:sp>
      <p:sp>
        <p:nvSpPr>
          <p:cNvPr id="7" name="Text 4"/>
          <p:cNvSpPr txBox="1"/>
          <p:nvPr/>
        </p:nvSpPr>
        <p:spPr>
          <a:xfrm>
            <a:off x="548640" y="3310128"/>
            <a:ext cx="6675120" cy="868680"/>
          </a:xfrm>
          <a:prstGeom prst="rect">
            <a:avLst/>
          </a:prstGeom>
          <a:noFill/>
          <a:ln/>
        </p:spPr>
        <p:txBody>
          <a:bodyPr wrap="square" lIns="0" tIns="0" rIns="0" bIns="0" rtlCol="0" anchor="t"/>
          <a:lstStyle/>
          <a:p>
            <a:pPr indent="0" marL="0">
              <a:lnSpc>
                <a:spcPct val="115000"/>
              </a:lnSpc>
              <a:buNone/>
            </a:pPr>
            <a:r>
              <a:rPr lang="en-US" sz="1200" dirty="0">
                <a:solidFill>
                  <a:srgbClr val="5C6A62"/>
                </a:solidFill>
              </a:rPr>
              <a:t>Crita Creative LLP is a consulting-led technology partner. We design and build custom business platforms — for field teams, warehouses, scrap yards and finance — around the way each business actually works.</a:t>
            </a:r>
            <a:endParaRPr lang="en-US" sz="1200" dirty="0"/>
          </a:p>
        </p:txBody>
      </p:sp>
      <p:sp>
        <p:nvSpPr>
          <p:cNvPr id="8" name="Text 5"/>
          <p:cNvSpPr txBox="1"/>
          <p:nvPr/>
        </p:nvSpPr>
        <p:spPr>
          <a:xfrm>
            <a:off x="8595360" y="1325880"/>
            <a:ext cx="3017520" cy="777240"/>
          </a:xfrm>
          <a:prstGeom prst="rect">
            <a:avLst/>
          </a:prstGeom>
          <a:noFill/>
          <a:ln/>
        </p:spPr>
        <p:txBody>
          <a:bodyPr wrap="square" lIns="0" tIns="0" rIns="0" bIns="0" rtlCol="0" anchor="t"/>
          <a:lstStyle/>
          <a:p>
            <a:pPr indent="0" marL="0">
              <a:buNone/>
            </a:pPr>
            <a:r>
              <a:rPr lang="en-US" sz="5400" b="1" spc="-200" kern="0" dirty="0">
                <a:solidFill>
                  <a:srgbClr val="0D1813"/>
                </a:solidFill>
              </a:rPr>
              <a:t>18+</a:t>
            </a:r>
            <a:endParaRPr lang="en-US" sz="5400" dirty="0"/>
          </a:p>
        </p:txBody>
      </p:sp>
      <p:sp>
        <p:nvSpPr>
          <p:cNvPr id="9" name="Text 6"/>
          <p:cNvSpPr txBox="1"/>
          <p:nvPr/>
        </p:nvSpPr>
        <p:spPr>
          <a:xfrm>
            <a:off x="8595360" y="2112264"/>
            <a:ext cx="3017520" cy="274320"/>
          </a:xfrm>
          <a:prstGeom prst="rect">
            <a:avLst/>
          </a:prstGeom>
          <a:noFill/>
          <a:ln/>
        </p:spPr>
        <p:txBody>
          <a:bodyPr wrap="square" lIns="0" tIns="0" rIns="0" bIns="0" rtlCol="0" anchor="t"/>
          <a:lstStyle/>
          <a:p>
            <a:pPr indent="0" marL="0">
              <a:buNone/>
            </a:pPr>
            <a:r>
              <a:rPr lang="en-US" sz="1150" dirty="0">
                <a:solidFill>
                  <a:srgbClr val="5C6A62"/>
                </a:solidFill>
              </a:rPr>
              <a:t>Projects delivered</a:t>
            </a:r>
            <a:endParaRPr lang="en-US" sz="1150" dirty="0"/>
          </a:p>
        </p:txBody>
      </p:sp>
      <p:sp>
        <p:nvSpPr>
          <p:cNvPr id="10" name="Text 7"/>
          <p:cNvSpPr txBox="1"/>
          <p:nvPr/>
        </p:nvSpPr>
        <p:spPr>
          <a:xfrm>
            <a:off x="8595360" y="2697480"/>
            <a:ext cx="3017520" cy="777240"/>
          </a:xfrm>
          <a:prstGeom prst="rect">
            <a:avLst/>
          </a:prstGeom>
          <a:noFill/>
          <a:ln/>
        </p:spPr>
        <p:txBody>
          <a:bodyPr wrap="square" lIns="0" tIns="0" rIns="0" bIns="0" rtlCol="0" anchor="t"/>
          <a:lstStyle/>
          <a:p>
            <a:pPr indent="0" marL="0">
              <a:buNone/>
            </a:pPr>
            <a:r>
              <a:rPr lang="en-US" sz="5400" b="1" spc="-200" kern="0" dirty="0">
                <a:solidFill>
                  <a:srgbClr val="0D1813"/>
                </a:solidFill>
              </a:rPr>
              <a:t>07</a:t>
            </a:r>
            <a:endParaRPr lang="en-US" sz="5400" dirty="0"/>
          </a:p>
        </p:txBody>
      </p:sp>
      <p:sp>
        <p:nvSpPr>
          <p:cNvPr id="11" name="Text 8"/>
          <p:cNvSpPr txBox="1"/>
          <p:nvPr/>
        </p:nvSpPr>
        <p:spPr>
          <a:xfrm>
            <a:off x="8595360" y="3483864"/>
            <a:ext cx="3017520" cy="274320"/>
          </a:xfrm>
          <a:prstGeom prst="rect">
            <a:avLst/>
          </a:prstGeom>
          <a:noFill/>
          <a:ln/>
        </p:spPr>
        <p:txBody>
          <a:bodyPr wrap="square" lIns="0" tIns="0" rIns="0" bIns="0" rtlCol="0" anchor="t"/>
          <a:lstStyle/>
          <a:p>
            <a:pPr indent="0" marL="0">
              <a:buNone/>
            </a:pPr>
            <a:r>
              <a:rPr lang="en-US" sz="1150" dirty="0">
                <a:solidFill>
                  <a:srgbClr val="5C6A62"/>
                </a:solidFill>
              </a:rPr>
              <a:t>Industries served</a:t>
            </a:r>
            <a:endParaRPr lang="en-US" sz="1150" dirty="0"/>
          </a:p>
        </p:txBody>
      </p:sp>
      <p:sp>
        <p:nvSpPr>
          <p:cNvPr id="12" name="Text 9"/>
          <p:cNvSpPr txBox="1"/>
          <p:nvPr/>
        </p:nvSpPr>
        <p:spPr>
          <a:xfrm>
            <a:off x="8595360" y="3931920"/>
            <a:ext cx="3017520" cy="228600"/>
          </a:xfrm>
          <a:prstGeom prst="rect">
            <a:avLst/>
          </a:prstGeom>
          <a:noFill/>
          <a:ln/>
        </p:spPr>
        <p:txBody>
          <a:bodyPr wrap="square" lIns="0" tIns="0" rIns="0" bIns="0" rtlCol="0" anchor="t"/>
          <a:lstStyle/>
          <a:p>
            <a:pPr indent="0" marL="0">
              <a:buNone/>
            </a:pPr>
            <a:r>
              <a:rPr lang="en-US" sz="900" dirty="0">
                <a:solidFill>
                  <a:srgbClr val="5C6A62"/>
                </a:solidFill>
              </a:rPr>
              <a:t>Figures from crita.in.</a:t>
            </a:r>
            <a:endParaRPr lang="en-US" sz="90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HOW WE WORK — CLARITY, THEN CODE.</a:t>
            </a:r>
            <a:endParaRPr lang="en-US" sz="900" dirty="0"/>
          </a:p>
        </p:txBody>
      </p:sp>
      <p:sp>
        <p:nvSpPr>
          <p:cNvPr id="15" name="Shape 11"/>
          <p:cNvSpPr/>
          <p:nvPr/>
        </p:nvSpPr>
        <p:spPr>
          <a:xfrm>
            <a:off x="548640" y="4892040"/>
            <a:ext cx="2615184" cy="0"/>
          </a:xfrm>
          <a:prstGeom prst="line">
            <a:avLst/>
          </a:prstGeom>
          <a:noFill/>
          <a:ln w="9525">
            <a:solidFill>
              <a:srgbClr val="D3D5CC"/>
            </a:solidFill>
            <a:prstDash val="solid"/>
          </a:ln>
        </p:spPr>
      </p:sp>
      <p:sp>
        <p:nvSpPr>
          <p:cNvPr id="16" name="Text 12"/>
          <p:cNvSpPr txBox="1"/>
          <p:nvPr/>
        </p:nvSpPr>
        <p:spPr>
          <a:xfrm>
            <a:off x="548640" y="5029200"/>
            <a:ext cx="2615184" cy="12801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Discover</a:t>
            </a:r>
            <a:endParaRPr lang="en-US" sz="950" dirty="0"/>
          </a:p>
          <a:p>
            <a:pPr indent="0" marL="0">
              <a:spcAft>
                <a:spcPts val="300"/>
              </a:spcAft>
              <a:buNone/>
            </a:pPr>
            <a:r>
              <a:rPr lang="en-US" sz="1050" dirty="0">
                <a:solidFill>
                  <a:srgbClr val="5C6A62"/>
                </a:solidFill>
              </a:rPr>
              <a:t>Map the operation, the constraints and the priorities that really decide how the business scales.</a:t>
            </a:r>
            <a:endParaRPr lang="en-US" sz="950" dirty="0"/>
          </a:p>
        </p:txBody>
      </p:sp>
      <p:sp>
        <p:nvSpPr>
          <p:cNvPr id="17" name="Shape 13"/>
          <p:cNvSpPr/>
          <p:nvPr/>
        </p:nvSpPr>
        <p:spPr>
          <a:xfrm>
            <a:off x="3346704" y="4892040"/>
            <a:ext cx="2615184" cy="0"/>
          </a:xfrm>
          <a:prstGeom prst="line">
            <a:avLst/>
          </a:prstGeom>
          <a:noFill/>
          <a:ln w="9525">
            <a:solidFill>
              <a:srgbClr val="D3D5CC"/>
            </a:solidFill>
            <a:prstDash val="solid"/>
          </a:ln>
        </p:spPr>
      </p:sp>
      <p:sp>
        <p:nvSpPr>
          <p:cNvPr id="18" name="Text 14"/>
          <p:cNvSpPr txBox="1"/>
          <p:nvPr/>
        </p:nvSpPr>
        <p:spPr>
          <a:xfrm>
            <a:off x="3346704" y="5029200"/>
            <a:ext cx="2615184" cy="12801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Strategize</a:t>
            </a:r>
            <a:endParaRPr lang="en-US" sz="950" dirty="0"/>
          </a:p>
          <a:p>
            <a:pPr indent="0" marL="0">
              <a:spcAft>
                <a:spcPts val="300"/>
              </a:spcAft>
              <a:buNone/>
            </a:pPr>
            <a:r>
              <a:rPr lang="en-US" sz="1050" dirty="0">
                <a:solidFill>
                  <a:srgbClr val="5C6A62"/>
                </a:solidFill>
              </a:rPr>
              <a:t>Design the workflows, roles and architecture against outcomes — not feature lists.</a:t>
            </a:r>
            <a:endParaRPr lang="en-US" sz="950" dirty="0"/>
          </a:p>
        </p:txBody>
      </p:sp>
      <p:sp>
        <p:nvSpPr>
          <p:cNvPr id="19" name="Shape 15"/>
          <p:cNvSpPr/>
          <p:nvPr/>
        </p:nvSpPr>
        <p:spPr>
          <a:xfrm>
            <a:off x="6144768" y="4892040"/>
            <a:ext cx="2615184" cy="0"/>
          </a:xfrm>
          <a:prstGeom prst="line">
            <a:avLst/>
          </a:prstGeom>
          <a:noFill/>
          <a:ln w="9525">
            <a:solidFill>
              <a:srgbClr val="D3D5CC"/>
            </a:solidFill>
            <a:prstDash val="solid"/>
          </a:ln>
        </p:spPr>
      </p:sp>
      <p:sp>
        <p:nvSpPr>
          <p:cNvPr id="20" name="Text 16"/>
          <p:cNvSpPr txBox="1"/>
          <p:nvPr/>
        </p:nvSpPr>
        <p:spPr>
          <a:xfrm>
            <a:off x="6144768" y="5029200"/>
            <a:ext cx="2615184" cy="12801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Build</a:t>
            </a:r>
            <a:endParaRPr lang="en-US" sz="950" dirty="0"/>
          </a:p>
          <a:p>
            <a:pPr indent="0" marL="0">
              <a:spcAft>
                <a:spcPts val="300"/>
              </a:spcAft>
              <a:buNone/>
            </a:pPr>
            <a:r>
              <a:rPr lang="en-US" sz="1050" dirty="0">
                <a:solidFill>
                  <a:srgbClr val="5C6A62"/>
                </a:solidFill>
              </a:rPr>
              <a:t>Ship a working system quickly, with automation and rules built in from day one.</a:t>
            </a:r>
            <a:endParaRPr lang="en-US" sz="950" dirty="0"/>
          </a:p>
        </p:txBody>
      </p:sp>
      <p:sp>
        <p:nvSpPr>
          <p:cNvPr id="21" name="Shape 17"/>
          <p:cNvSpPr/>
          <p:nvPr/>
        </p:nvSpPr>
        <p:spPr>
          <a:xfrm>
            <a:off x="8942832" y="4892040"/>
            <a:ext cx="2615184" cy="0"/>
          </a:xfrm>
          <a:prstGeom prst="line">
            <a:avLst/>
          </a:prstGeom>
          <a:noFill/>
          <a:ln w="9525">
            <a:solidFill>
              <a:srgbClr val="D3D5CC"/>
            </a:solidFill>
            <a:prstDash val="solid"/>
          </a:ln>
        </p:spPr>
      </p:sp>
      <p:sp>
        <p:nvSpPr>
          <p:cNvPr id="22" name="Text 18"/>
          <p:cNvSpPr txBox="1"/>
          <p:nvPr/>
        </p:nvSpPr>
        <p:spPr>
          <a:xfrm>
            <a:off x="8942832" y="5029200"/>
            <a:ext cx="2615184" cy="12801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Scale</a:t>
            </a:r>
            <a:endParaRPr lang="en-US" sz="950" dirty="0"/>
          </a:p>
          <a:p>
            <a:pPr indent="0" marL="0">
              <a:spcAft>
                <a:spcPts val="300"/>
              </a:spcAft>
              <a:buNone/>
            </a:pPr>
            <a:r>
              <a:rPr lang="en-US" sz="1050" dirty="0">
                <a:solidFill>
                  <a:srgbClr val="5C6A62"/>
                </a:solidFill>
              </a:rPr>
              <a:t>Tune the system with real usage so it keeps up as the business grows.</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CEBE1"/>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we build for growing businesses.</a:t>
            </a:r>
            <a:endParaRPr lang="en-US" sz="2800" dirty="0"/>
          </a:p>
        </p:txBody>
      </p:sp>
      <p:sp>
        <p:nvSpPr>
          <p:cNvPr id="5" name="Text 2"/>
          <p:cNvSpPr txBox="1"/>
          <p:nvPr/>
        </p:nvSpPr>
        <p:spPr>
          <a:xfrm>
            <a:off x="548640" y="1417320"/>
            <a:ext cx="7315200" cy="320040"/>
          </a:xfrm>
          <a:prstGeom prst="rect">
            <a:avLst/>
          </a:prstGeom>
          <a:noFill/>
          <a:ln/>
        </p:spPr>
        <p:txBody>
          <a:bodyPr wrap="square" lIns="0" tIns="0" rIns="0" bIns="0" rtlCol="0" anchor="t"/>
          <a:lstStyle/>
          <a:p>
            <a:pPr indent="0" marL="0">
              <a:buNone/>
            </a:pPr>
            <a:r>
              <a:rPr lang="en-US" sz="1300" dirty="0">
                <a:solidFill>
                  <a:srgbClr val="5C6A62"/>
                </a:solidFill>
              </a:rPr>
              <a:t>Every capability is demonstrated in the work that follows.</a:t>
            </a:r>
            <a:endParaRPr lang="en-US" sz="1300" dirty="0"/>
          </a:p>
        </p:txBody>
      </p:sp>
      <p:sp>
        <p:nvSpPr>
          <p:cNvPr id="6" name="Shape 3"/>
          <p:cNvSpPr/>
          <p:nvPr/>
        </p:nvSpPr>
        <p:spPr>
          <a:xfrm>
            <a:off x="548640" y="2103120"/>
            <a:ext cx="3520440" cy="0"/>
          </a:xfrm>
          <a:prstGeom prst="line">
            <a:avLst/>
          </a:prstGeom>
          <a:noFill/>
          <a:ln w="9525">
            <a:solidFill>
              <a:srgbClr val="D3D5CC"/>
            </a:solidFill>
            <a:prstDash val="solid"/>
          </a:ln>
        </p:spPr>
      </p:sp>
      <p:sp>
        <p:nvSpPr>
          <p:cNvPr id="7" name="Text 4"/>
          <p:cNvSpPr txBox="1"/>
          <p:nvPr/>
        </p:nvSpPr>
        <p:spPr>
          <a:xfrm>
            <a:off x="548640" y="224942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01</a:t>
            </a:r>
            <a:endParaRPr lang="en-US" sz="950" dirty="0"/>
          </a:p>
          <a:p>
            <a:pPr indent="0" marL="0">
              <a:spcAft>
                <a:spcPts val="400"/>
              </a:spcAft>
              <a:buNone/>
            </a:pPr>
            <a:r>
              <a:rPr lang="en-US" sz="1600" b="1" dirty="0">
                <a:solidFill>
                  <a:srgbClr val="0D1813"/>
                </a:solidFill>
              </a:rPr>
              <a:t>Operations platforms</a:t>
            </a:r>
            <a:endParaRPr lang="en-US" sz="950" dirty="0"/>
          </a:p>
          <a:p>
            <a:pPr indent="0" marL="0">
              <a:spcAft>
                <a:spcPts val="400"/>
              </a:spcAft>
              <a:buNone/>
            </a:pPr>
            <a:r>
              <a:rPr lang="en-US" sz="1100" dirty="0">
                <a:solidFill>
                  <a:srgbClr val="5C6A62"/>
                </a:solidFill>
              </a:rPr>
              <a:t>Role-based systems that plan, run and audit work across field teams and the office.</a:t>
            </a:r>
            <a:endParaRPr lang="en-US" sz="950" dirty="0"/>
          </a:p>
          <a:p>
            <a:pPr indent="0" marL="0">
              <a:spcAft>
                <a:spcPts val="400"/>
              </a:spcAft>
              <a:buNone/>
            </a:pPr>
            <a:r>
              <a:rPr lang="en-US" sz="950" b="1" dirty="0">
                <a:solidFill>
                  <a:srgbClr val="4E6B31"/>
                </a:solidFill>
              </a:rPr>
              <a:t>SMC Task Management  ·  Veloce Scrap Flow  ·  Veloce Trade  ·  Support Portal</a:t>
            </a:r>
            <a:endParaRPr lang="en-US" sz="950" dirty="0"/>
          </a:p>
        </p:txBody>
      </p:sp>
      <p:sp>
        <p:nvSpPr>
          <p:cNvPr id="8" name="Shape 5"/>
          <p:cNvSpPr/>
          <p:nvPr/>
        </p:nvSpPr>
        <p:spPr>
          <a:xfrm>
            <a:off x="4288536" y="2103120"/>
            <a:ext cx="3520440" cy="0"/>
          </a:xfrm>
          <a:prstGeom prst="line">
            <a:avLst/>
          </a:prstGeom>
          <a:noFill/>
          <a:ln w="9525">
            <a:solidFill>
              <a:srgbClr val="D3D5CC"/>
            </a:solidFill>
            <a:prstDash val="solid"/>
          </a:ln>
        </p:spPr>
      </p:sp>
      <p:sp>
        <p:nvSpPr>
          <p:cNvPr id="9" name="Text 6"/>
          <p:cNvSpPr txBox="1"/>
          <p:nvPr/>
        </p:nvSpPr>
        <p:spPr>
          <a:xfrm>
            <a:off x="4288536" y="224942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02</a:t>
            </a:r>
            <a:endParaRPr lang="en-US" sz="950" dirty="0"/>
          </a:p>
          <a:p>
            <a:pPr indent="0" marL="0">
              <a:spcAft>
                <a:spcPts val="400"/>
              </a:spcAft>
              <a:buNone/>
            </a:pPr>
            <a:r>
              <a:rPr lang="en-US" sz="1600" b="1" dirty="0">
                <a:solidFill>
                  <a:srgbClr val="0D1813"/>
                </a:solidFill>
              </a:rPr>
              <a:t>Inventory &amp; warehousing</a:t>
            </a:r>
            <a:endParaRPr lang="en-US" sz="950" dirty="0"/>
          </a:p>
          <a:p>
            <a:pPr indent="0" marL="0">
              <a:spcAft>
                <a:spcPts val="400"/>
              </a:spcAft>
              <a:buNone/>
            </a:pPr>
            <a:r>
              <a:rPr lang="en-US" sz="1100" dirty="0">
                <a:solidFill>
                  <a:srgbClr val="5C6A62"/>
                </a:solidFill>
              </a:rPr>
              <a:t>Lots, barcodes, bins and ledgers that make every unit of stock traceable.</a:t>
            </a:r>
            <a:endParaRPr lang="en-US" sz="950" dirty="0"/>
          </a:p>
          <a:p>
            <a:pPr indent="0" marL="0">
              <a:spcAft>
                <a:spcPts val="400"/>
              </a:spcAft>
              <a:buNone/>
            </a:pPr>
            <a:r>
              <a:rPr lang="en-US" sz="950" b="1" dirty="0">
                <a:solidFill>
                  <a:srgbClr val="4E6B31"/>
                </a:solidFill>
              </a:rPr>
              <a:t>Veloce Scrap Flow  ·  City Threads</a:t>
            </a:r>
            <a:endParaRPr lang="en-US" sz="950" dirty="0"/>
          </a:p>
        </p:txBody>
      </p:sp>
      <p:sp>
        <p:nvSpPr>
          <p:cNvPr id="10" name="Shape 7"/>
          <p:cNvSpPr/>
          <p:nvPr/>
        </p:nvSpPr>
        <p:spPr>
          <a:xfrm>
            <a:off x="8028432" y="2103120"/>
            <a:ext cx="3520440" cy="0"/>
          </a:xfrm>
          <a:prstGeom prst="line">
            <a:avLst/>
          </a:prstGeom>
          <a:noFill/>
          <a:ln w="9525">
            <a:solidFill>
              <a:srgbClr val="D3D5CC"/>
            </a:solidFill>
            <a:prstDash val="solid"/>
          </a:ln>
        </p:spPr>
      </p:sp>
      <p:sp>
        <p:nvSpPr>
          <p:cNvPr id="11" name="Text 8"/>
          <p:cNvSpPr txBox="1"/>
          <p:nvPr/>
        </p:nvSpPr>
        <p:spPr>
          <a:xfrm>
            <a:off x="8028432" y="224942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03</a:t>
            </a:r>
            <a:endParaRPr lang="en-US" sz="950" dirty="0"/>
          </a:p>
          <a:p>
            <a:pPr indent="0" marL="0">
              <a:spcAft>
                <a:spcPts val="400"/>
              </a:spcAft>
              <a:buNone/>
            </a:pPr>
            <a:r>
              <a:rPr lang="en-US" sz="1600" b="1" dirty="0">
                <a:solidFill>
                  <a:srgbClr val="0D1813"/>
                </a:solidFill>
              </a:rPr>
              <a:t>Business intelligence</a:t>
            </a:r>
            <a:endParaRPr lang="en-US" sz="950" dirty="0"/>
          </a:p>
          <a:p>
            <a:pPr indent="0" marL="0">
              <a:spcAft>
                <a:spcPts val="400"/>
              </a:spcAft>
              <a:buNone/>
            </a:pPr>
            <a:r>
              <a:rPr lang="en-US" sz="1100" dirty="0">
                <a:solidFill>
                  <a:srgbClr val="5C6A62"/>
                </a:solidFill>
              </a:rPr>
              <a:t>Dashboards that turn the systems you already use into clear decisions.</a:t>
            </a:r>
            <a:endParaRPr lang="en-US" sz="950" dirty="0"/>
          </a:p>
          <a:p>
            <a:pPr indent="0" marL="0">
              <a:spcAft>
                <a:spcPts val="400"/>
              </a:spcAft>
              <a:buNone/>
            </a:pPr>
            <a:r>
              <a:rPr lang="en-US" sz="950" b="1" dirty="0">
                <a:solidFill>
                  <a:srgbClr val="4E6B31"/>
                </a:solidFill>
              </a:rPr>
              <a:t>Clario  ·  Veloce Scrap Flow  ·  Expense Log</a:t>
            </a:r>
            <a:endParaRPr lang="en-US" sz="950" dirty="0"/>
          </a:p>
        </p:txBody>
      </p:sp>
      <p:sp>
        <p:nvSpPr>
          <p:cNvPr id="12" name="Shape 9"/>
          <p:cNvSpPr/>
          <p:nvPr/>
        </p:nvSpPr>
        <p:spPr>
          <a:xfrm>
            <a:off x="548640" y="4206240"/>
            <a:ext cx="3520440" cy="0"/>
          </a:xfrm>
          <a:prstGeom prst="line">
            <a:avLst/>
          </a:prstGeom>
          <a:noFill/>
          <a:ln w="9525">
            <a:solidFill>
              <a:srgbClr val="D3D5CC"/>
            </a:solidFill>
            <a:prstDash val="solid"/>
          </a:ln>
        </p:spPr>
      </p:sp>
      <p:sp>
        <p:nvSpPr>
          <p:cNvPr id="13" name="Text 10"/>
          <p:cNvSpPr txBox="1"/>
          <p:nvPr/>
        </p:nvSpPr>
        <p:spPr>
          <a:xfrm>
            <a:off x="548640" y="435254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04</a:t>
            </a:r>
            <a:endParaRPr lang="en-US" sz="950" dirty="0"/>
          </a:p>
          <a:p>
            <a:pPr indent="0" marL="0">
              <a:spcAft>
                <a:spcPts val="400"/>
              </a:spcAft>
              <a:buNone/>
            </a:pPr>
            <a:r>
              <a:rPr lang="en-US" sz="1600" b="1" dirty="0">
                <a:solidFill>
                  <a:srgbClr val="0D1813"/>
                </a:solidFill>
              </a:rPr>
              <a:t>Applied AI</a:t>
            </a:r>
            <a:endParaRPr lang="en-US" sz="950" dirty="0"/>
          </a:p>
          <a:p>
            <a:pPr indent="0" marL="0">
              <a:spcAft>
                <a:spcPts val="400"/>
              </a:spcAft>
              <a:buNone/>
            </a:pPr>
            <a:r>
              <a:rPr lang="en-US" sz="1100" dirty="0">
                <a:solidFill>
                  <a:srgbClr val="5C6A62"/>
                </a:solidFill>
              </a:rPr>
              <a:t>Assistants that answer from your own data, with sources — never invented numbers.</a:t>
            </a:r>
            <a:endParaRPr lang="en-US" sz="950" dirty="0"/>
          </a:p>
          <a:p>
            <a:pPr indent="0" marL="0">
              <a:spcAft>
                <a:spcPts val="400"/>
              </a:spcAft>
              <a:buNone/>
            </a:pPr>
            <a:r>
              <a:rPr lang="en-US" sz="950" b="1" dirty="0">
                <a:solidFill>
                  <a:srgbClr val="4E6B31"/>
                </a:solidFill>
              </a:rPr>
              <a:t>Clario  ·  AI Sales CRM</a:t>
            </a:r>
            <a:endParaRPr lang="en-US" sz="950" dirty="0"/>
          </a:p>
        </p:txBody>
      </p:sp>
      <p:sp>
        <p:nvSpPr>
          <p:cNvPr id="14" name="Shape 11"/>
          <p:cNvSpPr/>
          <p:nvPr/>
        </p:nvSpPr>
        <p:spPr>
          <a:xfrm>
            <a:off x="4288536" y="4206240"/>
            <a:ext cx="3520440" cy="0"/>
          </a:xfrm>
          <a:prstGeom prst="line">
            <a:avLst/>
          </a:prstGeom>
          <a:noFill/>
          <a:ln w="9525">
            <a:solidFill>
              <a:srgbClr val="D3D5CC"/>
            </a:solidFill>
            <a:prstDash val="solid"/>
          </a:ln>
        </p:spPr>
      </p:sp>
      <p:sp>
        <p:nvSpPr>
          <p:cNvPr id="15" name="Text 12"/>
          <p:cNvSpPr txBox="1"/>
          <p:nvPr/>
        </p:nvSpPr>
        <p:spPr>
          <a:xfrm>
            <a:off x="4288536" y="435254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05</a:t>
            </a:r>
            <a:endParaRPr lang="en-US" sz="950" dirty="0"/>
          </a:p>
          <a:p>
            <a:pPr indent="0" marL="0">
              <a:spcAft>
                <a:spcPts val="400"/>
              </a:spcAft>
              <a:buNone/>
            </a:pPr>
            <a:r>
              <a:rPr lang="en-US" sz="1600" b="1" dirty="0">
                <a:solidFill>
                  <a:srgbClr val="0D1813"/>
                </a:solidFill>
              </a:rPr>
              <a:t>Mobile-first apps</a:t>
            </a:r>
            <a:endParaRPr lang="en-US" sz="950" dirty="0"/>
          </a:p>
          <a:p>
            <a:pPr indent="0" marL="0">
              <a:spcAft>
                <a:spcPts val="400"/>
              </a:spcAft>
              <a:buNone/>
            </a:pPr>
            <a:r>
              <a:rPr lang="en-US" sz="1100" dirty="0">
                <a:solidFill>
                  <a:srgbClr val="5C6A62"/>
                </a:solidFill>
              </a:rPr>
              <a:t>Designed for one hand on the shop floor and in the field, packaged for Android.</a:t>
            </a:r>
            <a:endParaRPr lang="en-US" sz="950" dirty="0"/>
          </a:p>
          <a:p>
            <a:pPr indent="0" marL="0">
              <a:spcAft>
                <a:spcPts val="400"/>
              </a:spcAft>
              <a:buNone/>
            </a:pPr>
            <a:r>
              <a:rPr lang="en-US" sz="950" b="1" dirty="0">
                <a:solidFill>
                  <a:srgbClr val="4E6B31"/>
                </a:solidFill>
              </a:rPr>
              <a:t>SMC Task Management  ·  Veloce Scrap Flow  ·  City Threads  ·  Tribal Brew Coffee  ·  Veloce Trade</a:t>
            </a:r>
            <a:endParaRPr lang="en-US" sz="950" dirty="0"/>
          </a:p>
        </p:txBody>
      </p:sp>
      <p:sp>
        <p:nvSpPr>
          <p:cNvPr id="16" name="Shape 13"/>
          <p:cNvSpPr/>
          <p:nvPr/>
        </p:nvSpPr>
        <p:spPr>
          <a:xfrm>
            <a:off x="8028432" y="4206240"/>
            <a:ext cx="3520440" cy="0"/>
          </a:xfrm>
          <a:prstGeom prst="line">
            <a:avLst/>
          </a:prstGeom>
          <a:noFill/>
          <a:ln w="9525">
            <a:solidFill>
              <a:srgbClr val="D3D5CC"/>
            </a:solidFill>
            <a:prstDash val="solid"/>
          </a:ln>
        </p:spPr>
      </p:sp>
      <p:sp>
        <p:nvSpPr>
          <p:cNvPr id="17" name="Text 14"/>
          <p:cNvSpPr txBox="1"/>
          <p:nvPr/>
        </p:nvSpPr>
        <p:spPr>
          <a:xfrm>
            <a:off x="8028432" y="435254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06</a:t>
            </a:r>
            <a:endParaRPr lang="en-US" sz="950" dirty="0"/>
          </a:p>
          <a:p>
            <a:pPr indent="0" marL="0">
              <a:spcAft>
                <a:spcPts val="400"/>
              </a:spcAft>
              <a:buNone/>
            </a:pPr>
            <a:r>
              <a:rPr lang="en-US" sz="1600" b="1" dirty="0">
                <a:solidFill>
                  <a:srgbClr val="0D1813"/>
                </a:solidFill>
              </a:rPr>
              <a:t>Multi-tenant foundations</a:t>
            </a:r>
            <a:endParaRPr lang="en-US" sz="950" dirty="0"/>
          </a:p>
          <a:p>
            <a:pPr indent="0" marL="0">
              <a:spcAft>
                <a:spcPts val="400"/>
              </a:spcAft>
              <a:buNone/>
            </a:pPr>
            <a:r>
              <a:rPr lang="en-US" sz="1100" dirty="0">
                <a:solidFill>
                  <a:srgbClr val="5C6A62"/>
                </a:solidFill>
              </a:rPr>
              <a:t>Workspaces, roles, data isolation and audit trails, ready to scale.</a:t>
            </a:r>
            <a:endParaRPr lang="en-US" sz="950" dirty="0"/>
          </a:p>
          <a:p>
            <a:pPr indent="0" marL="0">
              <a:spcAft>
                <a:spcPts val="400"/>
              </a:spcAft>
              <a:buNone/>
            </a:pPr>
            <a:r>
              <a:rPr lang="en-US" sz="950" b="1" dirty="0">
                <a:solidFill>
                  <a:srgbClr val="4E6B31"/>
                </a:solidFill>
              </a:rPr>
              <a:t>Veloce Scrap Flow  ·  Clario  ·  Expense Log</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SELECTED WORK</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Ten platforms, each built around how the business actually works.</a:t>
            </a:r>
            <a:endParaRPr lang="en-US" sz="2800" dirty="0"/>
          </a:p>
        </p:txBody>
      </p:sp>
      <p:sp>
        <p:nvSpPr>
          <p:cNvPr id="5" name="Shape 2"/>
          <p:cNvSpPr/>
          <p:nvPr/>
        </p:nvSpPr>
        <p:spPr>
          <a:xfrm>
            <a:off x="548640" y="1691640"/>
            <a:ext cx="2043318" cy="1371600"/>
          </a:xfrm>
          <a:prstGeom prst="roundRect">
            <a:avLst>
              <a:gd name="adj" fmla="val 6667"/>
            </a:avLst>
          </a:prstGeom>
          <a:solidFill>
            <a:srgbClr val="033F2D"/>
          </a:solidFill>
          <a:ln/>
        </p:spPr>
      </p:sp>
      <p:pic>
        <p:nvPicPr>
          <p:cNvPr id="6" name="Image 1" descr="Veloce Scrap Flow screens">    </p:cNvPr>
          <p:cNvPicPr>
            <a:picLocks noChangeAspect="1"/>
          </p:cNvPicPr>
          <p:nvPr/>
        </p:nvPicPr>
        <p:blipFill>
          <a:blip r:embed="rId2"/>
          <a:stretch>
            <a:fillRect/>
          </a:stretch>
        </p:blipFill>
        <p:spPr>
          <a:xfrm>
            <a:off x="582923" y="1771351"/>
            <a:ext cx="1974753" cy="1259838"/>
          </a:xfrm>
          <a:prstGeom prst="rect">
            <a:avLst/>
          </a:prstGeom>
        </p:spPr>
      </p:pic>
      <p:sp>
        <p:nvSpPr>
          <p:cNvPr id="7" name="Text 3"/>
          <p:cNvSpPr txBox="1"/>
          <p:nvPr/>
        </p:nvSpPr>
        <p:spPr>
          <a:xfrm>
            <a:off x="548640" y="315468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01</a:t>
            </a:r>
            <a:endParaRPr lang="en-US" sz="900" dirty="0"/>
          </a:p>
          <a:p>
            <a:pPr indent="0" marL="0">
              <a:spcAft>
                <a:spcPts val="200"/>
              </a:spcAft>
              <a:buNone/>
            </a:pPr>
            <a:r>
              <a:rPr lang="en-US" sz="1300" b="1" dirty="0">
                <a:solidFill>
                  <a:srgbClr val="0D1813"/>
                </a:solidFill>
              </a:rPr>
              <a:t>Veloce Scrap Flow</a:t>
            </a:r>
            <a:endParaRPr lang="en-US" sz="900" dirty="0"/>
          </a:p>
          <a:p>
            <a:pPr indent="0" marL="0">
              <a:spcAft>
                <a:spcPts val="200"/>
              </a:spcAft>
              <a:buNone/>
            </a:pPr>
            <a:r>
              <a:rPr lang="en-US" sz="900" dirty="0">
                <a:solidFill>
                  <a:srgbClr val="5C6A62"/>
                </a:solidFill>
              </a:rPr>
              <a:t>Scrap &amp; recycling</a:t>
            </a:r>
            <a:endParaRPr lang="en-US" sz="900" dirty="0"/>
          </a:p>
          <a:p>
            <a:pPr indent="0" marL="0">
              <a:spcAft>
                <a:spcPts val="200"/>
              </a:spcAft>
              <a:buNone/>
            </a:pPr>
            <a:r>
              <a:rPr lang="en-US" sz="900" b="1" dirty="0">
                <a:solidFill>
                  <a:srgbClr val="4E6B31"/>
                </a:solidFill>
              </a:rPr>
              <a:t>Slide 5 →</a:t>
            </a:r>
            <a:endParaRPr lang="en-US" sz="900" dirty="0"/>
          </a:p>
        </p:txBody>
      </p:sp>
      <p:sp>
        <p:nvSpPr>
          <p:cNvPr id="8" name="Shape 4">
            <a:hlinkClick r:id="rId3" tooltip="Go to Veloce Scrap Flow" action="ppaction://hlinksldjump"/>
          </p:cNvPr>
          <p:cNvSpPr/>
          <p:nvPr/>
        </p:nvSpPr>
        <p:spPr>
          <a:xfrm>
            <a:off x="548640" y="1691640"/>
            <a:ext cx="2043318" cy="2240280"/>
          </a:xfrm>
          <a:prstGeom prst="rect">
            <a:avLst/>
          </a:prstGeom>
          <a:solidFill>
            <a:srgbClr val="FFFFFF">
              <a:alpha val="0"/>
            </a:srgbClr>
          </a:solidFill>
          <a:ln/>
        </p:spPr>
      </p:sp>
      <p:sp>
        <p:nvSpPr>
          <p:cNvPr id="9" name="Shape 5"/>
          <p:cNvSpPr/>
          <p:nvPr/>
        </p:nvSpPr>
        <p:spPr>
          <a:xfrm>
            <a:off x="2811414" y="1691640"/>
            <a:ext cx="2043318" cy="1371600"/>
          </a:xfrm>
          <a:prstGeom prst="roundRect">
            <a:avLst>
              <a:gd name="adj" fmla="val 6667"/>
            </a:avLst>
          </a:prstGeom>
          <a:solidFill>
            <a:srgbClr val="33241B"/>
          </a:solidFill>
          <a:ln/>
        </p:spPr>
      </p:sp>
      <p:pic>
        <p:nvPicPr>
          <p:cNvPr id="10" name="Image 2" descr="Tribal Brew Coffee screens">    </p:cNvPr>
          <p:cNvPicPr>
            <a:picLocks noChangeAspect="1"/>
          </p:cNvPicPr>
          <p:nvPr/>
        </p:nvPicPr>
        <p:blipFill>
          <a:blip r:embed="rId4"/>
          <a:stretch>
            <a:fillRect/>
          </a:stretch>
        </p:blipFill>
        <p:spPr>
          <a:xfrm>
            <a:off x="2845697" y="1771351"/>
            <a:ext cx="1974753" cy="1259838"/>
          </a:xfrm>
          <a:prstGeom prst="rect">
            <a:avLst/>
          </a:prstGeom>
        </p:spPr>
      </p:pic>
      <p:sp>
        <p:nvSpPr>
          <p:cNvPr id="11" name="Text 6"/>
          <p:cNvSpPr txBox="1"/>
          <p:nvPr/>
        </p:nvSpPr>
        <p:spPr>
          <a:xfrm>
            <a:off x="2811414" y="315468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02</a:t>
            </a:r>
            <a:endParaRPr lang="en-US" sz="900" dirty="0"/>
          </a:p>
          <a:p>
            <a:pPr indent="0" marL="0">
              <a:spcAft>
                <a:spcPts val="200"/>
              </a:spcAft>
              <a:buNone/>
            </a:pPr>
            <a:r>
              <a:rPr lang="en-US" sz="1300" b="1" dirty="0">
                <a:solidFill>
                  <a:srgbClr val="0D1813"/>
                </a:solidFill>
              </a:rPr>
              <a:t>Tribal Brew Coffee</a:t>
            </a:r>
            <a:endParaRPr lang="en-US" sz="900" dirty="0"/>
          </a:p>
          <a:p>
            <a:pPr indent="0" marL="0">
              <a:spcAft>
                <a:spcPts val="200"/>
              </a:spcAft>
              <a:buNone/>
            </a:pPr>
            <a:r>
              <a:rPr lang="en-US" sz="900" dirty="0">
                <a:solidFill>
                  <a:srgbClr val="5C6A62"/>
                </a:solidFill>
              </a:rPr>
              <a:t>Café &amp; food service</a:t>
            </a:r>
            <a:endParaRPr lang="en-US" sz="900" dirty="0"/>
          </a:p>
          <a:p>
            <a:pPr indent="0" marL="0">
              <a:spcAft>
                <a:spcPts val="200"/>
              </a:spcAft>
              <a:buNone/>
            </a:pPr>
            <a:r>
              <a:rPr lang="en-US" sz="900" b="1" dirty="0">
                <a:solidFill>
                  <a:srgbClr val="4E6B31"/>
                </a:solidFill>
              </a:rPr>
              <a:t>Slide 13 →</a:t>
            </a:r>
            <a:endParaRPr lang="en-US" sz="900" dirty="0"/>
          </a:p>
        </p:txBody>
      </p:sp>
      <p:sp>
        <p:nvSpPr>
          <p:cNvPr id="12" name="Shape 7">
            <a:hlinkClick r:id="rId5" tooltip="Go to Tribal Brew Coffee" action="ppaction://hlinksldjump"/>
          </p:cNvPr>
          <p:cNvSpPr/>
          <p:nvPr/>
        </p:nvSpPr>
        <p:spPr>
          <a:xfrm>
            <a:off x="2811414" y="1691640"/>
            <a:ext cx="2043318" cy="2240280"/>
          </a:xfrm>
          <a:prstGeom prst="rect">
            <a:avLst/>
          </a:prstGeom>
          <a:solidFill>
            <a:srgbClr val="FFFFFF">
              <a:alpha val="0"/>
            </a:srgbClr>
          </a:solidFill>
          <a:ln/>
        </p:spPr>
      </p:sp>
      <p:sp>
        <p:nvSpPr>
          <p:cNvPr id="13" name="Shape 8"/>
          <p:cNvSpPr/>
          <p:nvPr/>
        </p:nvSpPr>
        <p:spPr>
          <a:xfrm>
            <a:off x="5074188" y="1691640"/>
            <a:ext cx="2043318" cy="1371600"/>
          </a:xfrm>
          <a:prstGeom prst="roundRect">
            <a:avLst>
              <a:gd name="adj" fmla="val 6667"/>
            </a:avLst>
          </a:prstGeom>
          <a:solidFill>
            <a:srgbClr val="E2E9D6"/>
          </a:solidFill>
          <a:ln/>
        </p:spPr>
      </p:sp>
      <p:pic>
        <p:nvPicPr>
          <p:cNvPr id="14" name="Image 3" descr="Clario screens">    </p:cNvPr>
          <p:cNvPicPr>
            <a:picLocks noChangeAspect="1"/>
          </p:cNvPicPr>
          <p:nvPr/>
        </p:nvPicPr>
        <p:blipFill>
          <a:blip r:embed="rId6"/>
          <a:stretch>
            <a:fillRect/>
          </a:stretch>
        </p:blipFill>
        <p:spPr>
          <a:xfrm>
            <a:off x="5108471" y="1770954"/>
            <a:ext cx="1974753" cy="1260633"/>
          </a:xfrm>
          <a:prstGeom prst="rect">
            <a:avLst/>
          </a:prstGeom>
        </p:spPr>
      </p:pic>
      <p:sp>
        <p:nvSpPr>
          <p:cNvPr id="15" name="Text 9"/>
          <p:cNvSpPr txBox="1"/>
          <p:nvPr/>
        </p:nvSpPr>
        <p:spPr>
          <a:xfrm>
            <a:off x="5074188" y="315468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03</a:t>
            </a:r>
            <a:endParaRPr lang="en-US" sz="900" dirty="0"/>
          </a:p>
          <a:p>
            <a:pPr indent="0" marL="0">
              <a:spcAft>
                <a:spcPts val="200"/>
              </a:spcAft>
              <a:buNone/>
            </a:pPr>
            <a:r>
              <a:rPr lang="en-US" sz="1300" b="1" dirty="0">
                <a:solidFill>
                  <a:srgbClr val="0D1813"/>
                </a:solidFill>
              </a:rPr>
              <a:t>Clario</a:t>
            </a:r>
            <a:endParaRPr lang="en-US" sz="900" dirty="0"/>
          </a:p>
          <a:p>
            <a:pPr indent="0" marL="0">
              <a:spcAft>
                <a:spcPts val="200"/>
              </a:spcAft>
              <a:buNone/>
            </a:pPr>
            <a:r>
              <a:rPr lang="en-US" sz="900" dirty="0">
                <a:solidFill>
                  <a:srgbClr val="5C6A62"/>
                </a:solidFill>
              </a:rPr>
              <a:t>Business intelligence</a:t>
            </a:r>
            <a:endParaRPr lang="en-US" sz="900" dirty="0"/>
          </a:p>
          <a:p>
            <a:pPr indent="0" marL="0">
              <a:spcAft>
                <a:spcPts val="200"/>
              </a:spcAft>
              <a:buNone/>
            </a:pPr>
            <a:r>
              <a:rPr lang="en-US" sz="900" b="1" dirty="0">
                <a:solidFill>
                  <a:srgbClr val="4E6B31"/>
                </a:solidFill>
              </a:rPr>
              <a:t>Slide 21 →</a:t>
            </a:r>
            <a:endParaRPr lang="en-US" sz="900" dirty="0"/>
          </a:p>
        </p:txBody>
      </p:sp>
      <p:sp>
        <p:nvSpPr>
          <p:cNvPr id="16" name="Shape 10">
            <a:hlinkClick r:id="rId7" tooltip="Go to Clario" action="ppaction://hlinksldjump"/>
          </p:cNvPr>
          <p:cNvSpPr/>
          <p:nvPr/>
        </p:nvSpPr>
        <p:spPr>
          <a:xfrm>
            <a:off x="5074188" y="1691640"/>
            <a:ext cx="2043318" cy="2240280"/>
          </a:xfrm>
          <a:prstGeom prst="rect">
            <a:avLst/>
          </a:prstGeom>
          <a:solidFill>
            <a:srgbClr val="FFFFFF">
              <a:alpha val="0"/>
            </a:srgbClr>
          </a:solidFill>
          <a:ln/>
        </p:spPr>
      </p:sp>
      <p:sp>
        <p:nvSpPr>
          <p:cNvPr id="17" name="Shape 11"/>
          <p:cNvSpPr/>
          <p:nvPr/>
        </p:nvSpPr>
        <p:spPr>
          <a:xfrm>
            <a:off x="7336963" y="1691640"/>
            <a:ext cx="2043318" cy="1371600"/>
          </a:xfrm>
          <a:prstGeom prst="roundRect">
            <a:avLst>
              <a:gd name="adj" fmla="val 6667"/>
            </a:avLst>
          </a:prstGeom>
          <a:solidFill>
            <a:srgbClr val="13213D"/>
          </a:solidFill>
          <a:ln/>
        </p:spPr>
      </p:sp>
      <p:pic>
        <p:nvPicPr>
          <p:cNvPr id="18" name="Image 4" descr="SMC Task Management screens">    </p:cNvPr>
          <p:cNvPicPr>
            <a:picLocks noChangeAspect="1"/>
          </p:cNvPicPr>
          <p:nvPr/>
        </p:nvPicPr>
        <p:blipFill>
          <a:blip r:embed="rId8"/>
          <a:stretch>
            <a:fillRect/>
          </a:stretch>
        </p:blipFill>
        <p:spPr>
          <a:xfrm>
            <a:off x="7371245" y="1771351"/>
            <a:ext cx="1974753" cy="1259838"/>
          </a:xfrm>
          <a:prstGeom prst="rect">
            <a:avLst/>
          </a:prstGeom>
        </p:spPr>
      </p:pic>
      <p:sp>
        <p:nvSpPr>
          <p:cNvPr id="19" name="Text 12"/>
          <p:cNvSpPr txBox="1"/>
          <p:nvPr/>
        </p:nvSpPr>
        <p:spPr>
          <a:xfrm>
            <a:off x="7336963" y="315468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04</a:t>
            </a:r>
            <a:endParaRPr lang="en-US" sz="900" dirty="0"/>
          </a:p>
          <a:p>
            <a:pPr indent="0" marL="0">
              <a:spcAft>
                <a:spcPts val="200"/>
              </a:spcAft>
              <a:buNone/>
            </a:pPr>
            <a:r>
              <a:rPr lang="en-US" sz="1300" b="1" dirty="0">
                <a:solidFill>
                  <a:srgbClr val="0D1813"/>
                </a:solidFill>
              </a:rPr>
              <a:t>SMC Task Management</a:t>
            </a:r>
            <a:endParaRPr lang="en-US" sz="900" dirty="0"/>
          </a:p>
          <a:p>
            <a:pPr indent="0" marL="0">
              <a:spcAft>
                <a:spcPts val="200"/>
              </a:spcAft>
              <a:buNone/>
            </a:pPr>
            <a:r>
              <a:rPr lang="en-US" sz="900" dirty="0">
                <a:solidFill>
                  <a:srgbClr val="5C6A62"/>
                </a:solidFill>
              </a:rPr>
              <a:t>Audit &amp; consulting</a:t>
            </a:r>
            <a:endParaRPr lang="en-US" sz="900" dirty="0"/>
          </a:p>
          <a:p>
            <a:pPr indent="0" marL="0">
              <a:spcAft>
                <a:spcPts val="200"/>
              </a:spcAft>
              <a:buNone/>
            </a:pPr>
            <a:r>
              <a:rPr lang="en-US" sz="900" b="1" dirty="0">
                <a:solidFill>
                  <a:srgbClr val="4E6B31"/>
                </a:solidFill>
              </a:rPr>
              <a:t>Slide 29 →</a:t>
            </a:r>
            <a:endParaRPr lang="en-US" sz="900" dirty="0"/>
          </a:p>
        </p:txBody>
      </p:sp>
      <p:sp>
        <p:nvSpPr>
          <p:cNvPr id="20" name="Shape 13">
            <a:hlinkClick r:id="rId9" tooltip="Go to SMC Task Management" action="ppaction://hlinksldjump"/>
          </p:cNvPr>
          <p:cNvSpPr/>
          <p:nvPr/>
        </p:nvSpPr>
        <p:spPr>
          <a:xfrm>
            <a:off x="7336963" y="1691640"/>
            <a:ext cx="2043318" cy="2240280"/>
          </a:xfrm>
          <a:prstGeom prst="rect">
            <a:avLst/>
          </a:prstGeom>
          <a:solidFill>
            <a:srgbClr val="FFFFFF">
              <a:alpha val="0"/>
            </a:srgbClr>
          </a:solidFill>
          <a:ln/>
        </p:spPr>
      </p:sp>
      <p:sp>
        <p:nvSpPr>
          <p:cNvPr id="21" name="Shape 14"/>
          <p:cNvSpPr/>
          <p:nvPr/>
        </p:nvSpPr>
        <p:spPr>
          <a:xfrm>
            <a:off x="9599737" y="1691640"/>
            <a:ext cx="2043318" cy="1371600"/>
          </a:xfrm>
          <a:prstGeom prst="roundRect">
            <a:avLst>
              <a:gd name="adj" fmla="val 6667"/>
            </a:avLst>
          </a:prstGeom>
          <a:solidFill>
            <a:srgbClr val="D7ECE4"/>
          </a:solidFill>
          <a:ln/>
        </p:spPr>
      </p:sp>
      <p:pic>
        <p:nvPicPr>
          <p:cNvPr id="22" name="Image 5" descr="AI Sales CRM screens">    </p:cNvPr>
          <p:cNvPicPr>
            <a:picLocks noChangeAspect="1"/>
          </p:cNvPicPr>
          <p:nvPr/>
        </p:nvPicPr>
        <p:blipFill>
          <a:blip r:embed="rId10"/>
          <a:stretch>
            <a:fillRect/>
          </a:stretch>
        </p:blipFill>
        <p:spPr>
          <a:xfrm>
            <a:off x="9634020" y="1771351"/>
            <a:ext cx="1974753" cy="1259838"/>
          </a:xfrm>
          <a:prstGeom prst="rect">
            <a:avLst/>
          </a:prstGeom>
        </p:spPr>
      </p:pic>
      <p:sp>
        <p:nvSpPr>
          <p:cNvPr id="23" name="Text 15"/>
          <p:cNvSpPr txBox="1"/>
          <p:nvPr/>
        </p:nvSpPr>
        <p:spPr>
          <a:xfrm>
            <a:off x="9599737" y="315468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05</a:t>
            </a:r>
            <a:endParaRPr lang="en-US" sz="900" dirty="0"/>
          </a:p>
          <a:p>
            <a:pPr indent="0" marL="0">
              <a:spcAft>
                <a:spcPts val="200"/>
              </a:spcAft>
              <a:buNone/>
            </a:pPr>
            <a:r>
              <a:rPr lang="en-US" sz="1300" b="1" dirty="0">
                <a:solidFill>
                  <a:srgbClr val="0D1813"/>
                </a:solidFill>
              </a:rPr>
              <a:t>AI Sales CRM</a:t>
            </a:r>
            <a:endParaRPr lang="en-US" sz="900" dirty="0"/>
          </a:p>
          <a:p>
            <a:pPr indent="0" marL="0">
              <a:spcAft>
                <a:spcPts val="200"/>
              </a:spcAft>
              <a:buNone/>
            </a:pPr>
            <a:r>
              <a:rPr lang="en-US" sz="900" dirty="0">
                <a:solidFill>
                  <a:srgbClr val="5C6A62"/>
                </a:solidFill>
              </a:rPr>
              <a:t>Sales &amp; CRM</a:t>
            </a:r>
            <a:endParaRPr lang="en-US" sz="900" dirty="0"/>
          </a:p>
          <a:p>
            <a:pPr indent="0" marL="0">
              <a:spcAft>
                <a:spcPts val="200"/>
              </a:spcAft>
              <a:buNone/>
            </a:pPr>
            <a:r>
              <a:rPr lang="en-US" sz="900" b="1" dirty="0">
                <a:solidFill>
                  <a:srgbClr val="4E6B31"/>
                </a:solidFill>
              </a:rPr>
              <a:t>Slide 37 →</a:t>
            </a:r>
            <a:endParaRPr lang="en-US" sz="900" dirty="0"/>
          </a:p>
        </p:txBody>
      </p:sp>
      <p:sp>
        <p:nvSpPr>
          <p:cNvPr id="24" name="Shape 16">
            <a:hlinkClick r:id="rId11" tooltip="Go to AI Sales CRM" action="ppaction://hlinksldjump"/>
          </p:cNvPr>
          <p:cNvSpPr/>
          <p:nvPr/>
        </p:nvSpPr>
        <p:spPr>
          <a:xfrm>
            <a:off x="9599737" y="1691640"/>
            <a:ext cx="2043318" cy="2240280"/>
          </a:xfrm>
          <a:prstGeom prst="rect">
            <a:avLst/>
          </a:prstGeom>
          <a:solidFill>
            <a:srgbClr val="FFFFFF">
              <a:alpha val="0"/>
            </a:srgbClr>
          </a:solidFill>
          <a:ln/>
        </p:spPr>
      </p:sp>
      <p:sp>
        <p:nvSpPr>
          <p:cNvPr id="25" name="Shape 17"/>
          <p:cNvSpPr/>
          <p:nvPr/>
        </p:nvSpPr>
        <p:spPr>
          <a:xfrm>
            <a:off x="548640" y="4023360"/>
            <a:ext cx="2043318" cy="1371600"/>
          </a:xfrm>
          <a:prstGeom prst="roundRect">
            <a:avLst>
              <a:gd name="adj" fmla="val 6667"/>
            </a:avLst>
          </a:prstGeom>
          <a:solidFill>
            <a:srgbClr val="DFE4EC"/>
          </a:solidFill>
          <a:ln/>
        </p:spPr>
      </p:sp>
      <p:pic>
        <p:nvPicPr>
          <p:cNvPr id="26" name="Image 6" descr="City Threads screens">    </p:cNvPr>
          <p:cNvPicPr>
            <a:picLocks noChangeAspect="1"/>
          </p:cNvPicPr>
          <p:nvPr/>
        </p:nvPicPr>
        <p:blipFill>
          <a:blip r:embed="rId12"/>
          <a:stretch>
            <a:fillRect/>
          </a:stretch>
        </p:blipFill>
        <p:spPr>
          <a:xfrm>
            <a:off x="582923" y="4103071"/>
            <a:ext cx="1974753" cy="1259838"/>
          </a:xfrm>
          <a:prstGeom prst="rect">
            <a:avLst/>
          </a:prstGeom>
        </p:spPr>
      </p:pic>
      <p:sp>
        <p:nvSpPr>
          <p:cNvPr id="27" name="Text 18"/>
          <p:cNvSpPr txBox="1"/>
          <p:nvPr/>
        </p:nvSpPr>
        <p:spPr>
          <a:xfrm>
            <a:off x="548640" y="548640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06</a:t>
            </a:r>
            <a:endParaRPr lang="en-US" sz="900" dirty="0"/>
          </a:p>
          <a:p>
            <a:pPr indent="0" marL="0">
              <a:spcAft>
                <a:spcPts val="200"/>
              </a:spcAft>
              <a:buNone/>
            </a:pPr>
            <a:r>
              <a:rPr lang="en-US" sz="1300" b="1" dirty="0">
                <a:solidFill>
                  <a:srgbClr val="0D1813"/>
                </a:solidFill>
              </a:rPr>
              <a:t>City Threads</a:t>
            </a:r>
            <a:endParaRPr lang="en-US" sz="900" dirty="0"/>
          </a:p>
          <a:p>
            <a:pPr indent="0" marL="0">
              <a:spcAft>
                <a:spcPts val="200"/>
              </a:spcAft>
              <a:buNone/>
            </a:pPr>
            <a:r>
              <a:rPr lang="en-US" sz="900" dirty="0">
                <a:solidFill>
                  <a:srgbClr val="5C6A62"/>
                </a:solidFill>
              </a:rPr>
              <a:t>Textile distribution</a:t>
            </a:r>
            <a:endParaRPr lang="en-US" sz="900" dirty="0"/>
          </a:p>
          <a:p>
            <a:pPr indent="0" marL="0">
              <a:spcAft>
                <a:spcPts val="200"/>
              </a:spcAft>
              <a:buNone/>
            </a:pPr>
            <a:r>
              <a:rPr lang="en-US" sz="900" b="1" dirty="0">
                <a:solidFill>
                  <a:srgbClr val="4E6B31"/>
                </a:solidFill>
              </a:rPr>
              <a:t>Slide 45 →</a:t>
            </a:r>
            <a:endParaRPr lang="en-US" sz="900" dirty="0"/>
          </a:p>
        </p:txBody>
      </p:sp>
      <p:sp>
        <p:nvSpPr>
          <p:cNvPr id="28" name="Shape 19">
            <a:hlinkClick r:id="rId13" tooltip="Go to City Threads" action="ppaction://hlinksldjump"/>
          </p:cNvPr>
          <p:cNvSpPr/>
          <p:nvPr/>
        </p:nvSpPr>
        <p:spPr>
          <a:xfrm>
            <a:off x="548640" y="4023360"/>
            <a:ext cx="2043318" cy="2240280"/>
          </a:xfrm>
          <a:prstGeom prst="rect">
            <a:avLst/>
          </a:prstGeom>
          <a:solidFill>
            <a:srgbClr val="FFFFFF">
              <a:alpha val="0"/>
            </a:srgbClr>
          </a:solidFill>
          <a:ln/>
        </p:spPr>
      </p:sp>
      <p:sp>
        <p:nvSpPr>
          <p:cNvPr id="29" name="Shape 20"/>
          <p:cNvSpPr/>
          <p:nvPr/>
        </p:nvSpPr>
        <p:spPr>
          <a:xfrm>
            <a:off x="2811414" y="4023360"/>
            <a:ext cx="2043318" cy="1371600"/>
          </a:xfrm>
          <a:prstGeom prst="roundRect">
            <a:avLst>
              <a:gd name="adj" fmla="val 6667"/>
            </a:avLst>
          </a:prstGeom>
          <a:solidFill>
            <a:srgbClr val="15402F"/>
          </a:solidFill>
          <a:ln/>
        </p:spPr>
      </p:sp>
      <p:pic>
        <p:nvPicPr>
          <p:cNvPr id="30" name="Image 7" descr="Veloce Trade screens">    </p:cNvPr>
          <p:cNvPicPr>
            <a:picLocks noChangeAspect="1"/>
          </p:cNvPicPr>
          <p:nvPr/>
        </p:nvPicPr>
        <p:blipFill>
          <a:blip r:embed="rId14"/>
          <a:stretch>
            <a:fillRect/>
          </a:stretch>
        </p:blipFill>
        <p:spPr>
          <a:xfrm>
            <a:off x="2845697" y="4090362"/>
            <a:ext cx="1974753" cy="1285257"/>
          </a:xfrm>
          <a:prstGeom prst="rect">
            <a:avLst/>
          </a:prstGeom>
        </p:spPr>
      </p:pic>
      <p:sp>
        <p:nvSpPr>
          <p:cNvPr id="31" name="Text 21"/>
          <p:cNvSpPr txBox="1"/>
          <p:nvPr/>
        </p:nvSpPr>
        <p:spPr>
          <a:xfrm>
            <a:off x="2811414" y="548640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07</a:t>
            </a:r>
            <a:endParaRPr lang="en-US" sz="900" dirty="0"/>
          </a:p>
          <a:p>
            <a:pPr indent="0" marL="0">
              <a:spcAft>
                <a:spcPts val="200"/>
              </a:spcAft>
              <a:buNone/>
            </a:pPr>
            <a:r>
              <a:rPr lang="en-US" sz="1300" b="1" dirty="0">
                <a:solidFill>
                  <a:srgbClr val="0D1813"/>
                </a:solidFill>
              </a:rPr>
              <a:t>Veloce Trade</a:t>
            </a:r>
            <a:endParaRPr lang="en-US" sz="900" dirty="0"/>
          </a:p>
          <a:p>
            <a:pPr indent="0" marL="0">
              <a:spcAft>
                <a:spcPts val="200"/>
              </a:spcAft>
              <a:buNone/>
            </a:pPr>
            <a:r>
              <a:rPr lang="en-US" sz="900" dirty="0">
                <a:solidFill>
                  <a:srgbClr val="5C6A62"/>
                </a:solidFill>
              </a:rPr>
              <a:t>Scrap &amp; recycling</a:t>
            </a:r>
            <a:endParaRPr lang="en-US" sz="900" dirty="0"/>
          </a:p>
          <a:p>
            <a:pPr indent="0" marL="0">
              <a:spcAft>
                <a:spcPts val="200"/>
              </a:spcAft>
              <a:buNone/>
            </a:pPr>
            <a:r>
              <a:rPr lang="en-US" sz="900" b="1" dirty="0">
                <a:solidFill>
                  <a:srgbClr val="4E6B31"/>
                </a:solidFill>
              </a:rPr>
              <a:t>Slide 53 →</a:t>
            </a:r>
            <a:endParaRPr lang="en-US" sz="900" dirty="0"/>
          </a:p>
        </p:txBody>
      </p:sp>
      <p:sp>
        <p:nvSpPr>
          <p:cNvPr id="32" name="Shape 22">
            <a:hlinkClick r:id="rId15" tooltip="Go to Veloce Trade" action="ppaction://hlinksldjump"/>
          </p:cNvPr>
          <p:cNvSpPr/>
          <p:nvPr/>
        </p:nvSpPr>
        <p:spPr>
          <a:xfrm>
            <a:off x="2811414" y="4023360"/>
            <a:ext cx="2043318" cy="2240280"/>
          </a:xfrm>
          <a:prstGeom prst="rect">
            <a:avLst/>
          </a:prstGeom>
          <a:solidFill>
            <a:srgbClr val="FFFFFF">
              <a:alpha val="0"/>
            </a:srgbClr>
          </a:solidFill>
          <a:ln/>
        </p:spPr>
      </p:sp>
      <p:sp>
        <p:nvSpPr>
          <p:cNvPr id="33" name="Shape 23"/>
          <p:cNvSpPr/>
          <p:nvPr/>
        </p:nvSpPr>
        <p:spPr>
          <a:xfrm>
            <a:off x="5074188" y="4023360"/>
            <a:ext cx="2043318" cy="1371600"/>
          </a:xfrm>
          <a:prstGeom prst="roundRect">
            <a:avLst>
              <a:gd name="adj" fmla="val 6667"/>
            </a:avLst>
          </a:prstGeom>
          <a:solidFill>
            <a:srgbClr val="ECE5D3"/>
          </a:solidFill>
          <a:ln/>
        </p:spPr>
      </p:sp>
      <p:pic>
        <p:nvPicPr>
          <p:cNvPr id="34" name="Image 8" descr="Expense Log screens">    </p:cNvPr>
          <p:cNvPicPr>
            <a:picLocks noChangeAspect="1"/>
          </p:cNvPicPr>
          <p:nvPr/>
        </p:nvPicPr>
        <p:blipFill>
          <a:blip r:embed="rId16"/>
          <a:stretch>
            <a:fillRect/>
          </a:stretch>
        </p:blipFill>
        <p:spPr>
          <a:xfrm>
            <a:off x="5108471" y="4102674"/>
            <a:ext cx="1974753" cy="1260633"/>
          </a:xfrm>
          <a:prstGeom prst="rect">
            <a:avLst/>
          </a:prstGeom>
        </p:spPr>
      </p:pic>
      <p:sp>
        <p:nvSpPr>
          <p:cNvPr id="35" name="Text 24"/>
          <p:cNvSpPr txBox="1"/>
          <p:nvPr/>
        </p:nvSpPr>
        <p:spPr>
          <a:xfrm>
            <a:off x="5074188" y="548640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08</a:t>
            </a:r>
            <a:endParaRPr lang="en-US" sz="900" dirty="0"/>
          </a:p>
          <a:p>
            <a:pPr indent="0" marL="0">
              <a:spcAft>
                <a:spcPts val="200"/>
              </a:spcAft>
              <a:buNone/>
            </a:pPr>
            <a:r>
              <a:rPr lang="en-US" sz="1300" b="1" dirty="0">
                <a:solidFill>
                  <a:srgbClr val="0D1813"/>
                </a:solidFill>
              </a:rPr>
              <a:t>Expense Log</a:t>
            </a:r>
            <a:endParaRPr lang="en-US" sz="900" dirty="0"/>
          </a:p>
          <a:p>
            <a:pPr indent="0" marL="0">
              <a:spcAft>
                <a:spcPts val="200"/>
              </a:spcAft>
              <a:buNone/>
            </a:pPr>
            <a:r>
              <a:rPr lang="en-US" sz="900" dirty="0">
                <a:solidFill>
                  <a:srgbClr val="5C6A62"/>
                </a:solidFill>
              </a:rPr>
              <a:t>Finance &amp; operations</a:t>
            </a:r>
            <a:endParaRPr lang="en-US" sz="900" dirty="0"/>
          </a:p>
          <a:p>
            <a:pPr indent="0" marL="0">
              <a:spcAft>
                <a:spcPts val="200"/>
              </a:spcAft>
              <a:buNone/>
            </a:pPr>
            <a:r>
              <a:rPr lang="en-US" sz="900" b="1" dirty="0">
                <a:solidFill>
                  <a:srgbClr val="4E6B31"/>
                </a:solidFill>
              </a:rPr>
              <a:t>Slide 61 →</a:t>
            </a:r>
            <a:endParaRPr lang="en-US" sz="900" dirty="0"/>
          </a:p>
        </p:txBody>
      </p:sp>
      <p:sp>
        <p:nvSpPr>
          <p:cNvPr id="36" name="Shape 25">
            <a:hlinkClick r:id="rId17" tooltip="Go to Expense Log" action="ppaction://hlinksldjump"/>
          </p:cNvPr>
          <p:cNvSpPr/>
          <p:nvPr/>
        </p:nvSpPr>
        <p:spPr>
          <a:xfrm>
            <a:off x="5074188" y="4023360"/>
            <a:ext cx="2043318" cy="2240280"/>
          </a:xfrm>
          <a:prstGeom prst="rect">
            <a:avLst/>
          </a:prstGeom>
          <a:solidFill>
            <a:srgbClr val="FFFFFF">
              <a:alpha val="0"/>
            </a:srgbClr>
          </a:solidFill>
          <a:ln/>
        </p:spPr>
      </p:sp>
      <p:sp>
        <p:nvSpPr>
          <p:cNvPr id="37" name="Shape 26"/>
          <p:cNvSpPr/>
          <p:nvPr/>
        </p:nvSpPr>
        <p:spPr>
          <a:xfrm>
            <a:off x="7336963" y="4023360"/>
            <a:ext cx="2043318" cy="1371600"/>
          </a:xfrm>
          <a:prstGeom prst="roundRect">
            <a:avLst>
              <a:gd name="adj" fmla="val 6667"/>
            </a:avLst>
          </a:prstGeom>
          <a:solidFill>
            <a:srgbClr val="2E3820"/>
          </a:solidFill>
          <a:ln/>
        </p:spPr>
      </p:sp>
      <p:pic>
        <p:nvPicPr>
          <p:cNvPr id="38" name="Image 9" descr="Lead Discovery CRM screens">    </p:cNvPr>
          <p:cNvPicPr>
            <a:picLocks noChangeAspect="1"/>
          </p:cNvPicPr>
          <p:nvPr/>
        </p:nvPicPr>
        <p:blipFill>
          <a:blip r:embed="rId18"/>
          <a:stretch>
            <a:fillRect/>
          </a:stretch>
        </p:blipFill>
        <p:spPr>
          <a:xfrm>
            <a:off x="7371245" y="4102674"/>
            <a:ext cx="1974753" cy="1260633"/>
          </a:xfrm>
          <a:prstGeom prst="rect">
            <a:avLst/>
          </a:prstGeom>
        </p:spPr>
      </p:pic>
      <p:sp>
        <p:nvSpPr>
          <p:cNvPr id="39" name="Text 27"/>
          <p:cNvSpPr txBox="1"/>
          <p:nvPr/>
        </p:nvSpPr>
        <p:spPr>
          <a:xfrm>
            <a:off x="7336963" y="548640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09</a:t>
            </a:r>
            <a:endParaRPr lang="en-US" sz="900" dirty="0"/>
          </a:p>
          <a:p>
            <a:pPr indent="0" marL="0">
              <a:spcAft>
                <a:spcPts val="200"/>
              </a:spcAft>
              <a:buNone/>
            </a:pPr>
            <a:r>
              <a:rPr lang="en-US" sz="1300" b="1" dirty="0">
                <a:solidFill>
                  <a:srgbClr val="0D1813"/>
                </a:solidFill>
              </a:rPr>
              <a:t>Lead Discovery CRM</a:t>
            </a:r>
            <a:endParaRPr lang="en-US" sz="900" dirty="0"/>
          </a:p>
          <a:p>
            <a:pPr indent="0" marL="0">
              <a:spcAft>
                <a:spcPts val="200"/>
              </a:spcAft>
              <a:buNone/>
            </a:pPr>
            <a:r>
              <a:rPr lang="en-US" sz="900" dirty="0">
                <a:solidFill>
                  <a:srgbClr val="5C6A62"/>
                </a:solidFill>
              </a:rPr>
              <a:t>Sales &amp; marketing</a:t>
            </a:r>
            <a:endParaRPr lang="en-US" sz="900" dirty="0"/>
          </a:p>
          <a:p>
            <a:pPr indent="0" marL="0">
              <a:spcAft>
                <a:spcPts val="200"/>
              </a:spcAft>
              <a:buNone/>
            </a:pPr>
            <a:r>
              <a:rPr lang="en-US" sz="900" b="1" dirty="0">
                <a:solidFill>
                  <a:srgbClr val="4E6B31"/>
                </a:solidFill>
              </a:rPr>
              <a:t>Slide 69 →</a:t>
            </a:r>
            <a:endParaRPr lang="en-US" sz="900" dirty="0"/>
          </a:p>
        </p:txBody>
      </p:sp>
      <p:sp>
        <p:nvSpPr>
          <p:cNvPr id="40" name="Shape 28">
            <a:hlinkClick r:id="rId19" tooltip="Go to Lead Discovery CRM" action="ppaction://hlinksldjump"/>
          </p:cNvPr>
          <p:cNvSpPr/>
          <p:nvPr/>
        </p:nvSpPr>
        <p:spPr>
          <a:xfrm>
            <a:off x="7336963" y="4023360"/>
            <a:ext cx="2043318" cy="2240280"/>
          </a:xfrm>
          <a:prstGeom prst="rect">
            <a:avLst/>
          </a:prstGeom>
          <a:solidFill>
            <a:srgbClr val="FFFFFF">
              <a:alpha val="0"/>
            </a:srgbClr>
          </a:solidFill>
          <a:ln/>
        </p:spPr>
      </p:sp>
      <p:sp>
        <p:nvSpPr>
          <p:cNvPr id="41" name="Shape 29"/>
          <p:cNvSpPr/>
          <p:nvPr/>
        </p:nvSpPr>
        <p:spPr>
          <a:xfrm>
            <a:off x="9599737" y="4023360"/>
            <a:ext cx="2043318" cy="1371600"/>
          </a:xfrm>
          <a:prstGeom prst="roundRect">
            <a:avLst>
              <a:gd name="adj" fmla="val 6667"/>
            </a:avLst>
          </a:prstGeom>
          <a:solidFill>
            <a:srgbClr val="DCE6E2"/>
          </a:solidFill>
          <a:ln/>
        </p:spPr>
      </p:sp>
      <p:pic>
        <p:nvPicPr>
          <p:cNvPr id="42" name="Image 10" descr="Support Portal screens">    </p:cNvPr>
          <p:cNvPicPr>
            <a:picLocks noChangeAspect="1"/>
          </p:cNvPicPr>
          <p:nvPr/>
        </p:nvPicPr>
        <p:blipFill>
          <a:blip r:embed="rId20"/>
          <a:stretch>
            <a:fillRect/>
          </a:stretch>
        </p:blipFill>
        <p:spPr>
          <a:xfrm>
            <a:off x="9634020" y="4103071"/>
            <a:ext cx="1974753" cy="1259838"/>
          </a:xfrm>
          <a:prstGeom prst="rect">
            <a:avLst/>
          </a:prstGeom>
        </p:spPr>
      </p:pic>
      <p:sp>
        <p:nvSpPr>
          <p:cNvPr id="43" name="Text 30"/>
          <p:cNvSpPr txBox="1"/>
          <p:nvPr/>
        </p:nvSpPr>
        <p:spPr>
          <a:xfrm>
            <a:off x="9599737" y="548640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10</a:t>
            </a:r>
            <a:endParaRPr lang="en-US" sz="900" dirty="0"/>
          </a:p>
          <a:p>
            <a:pPr indent="0" marL="0">
              <a:spcAft>
                <a:spcPts val="200"/>
              </a:spcAft>
              <a:buNone/>
            </a:pPr>
            <a:r>
              <a:rPr lang="en-US" sz="1300" b="1" dirty="0">
                <a:solidFill>
                  <a:srgbClr val="0D1813"/>
                </a:solidFill>
              </a:rPr>
              <a:t>Support Portal</a:t>
            </a:r>
            <a:endParaRPr lang="en-US" sz="900" dirty="0"/>
          </a:p>
          <a:p>
            <a:pPr indent="0" marL="0">
              <a:spcAft>
                <a:spcPts val="200"/>
              </a:spcAft>
              <a:buNone/>
            </a:pPr>
            <a:r>
              <a:rPr lang="en-US" sz="900" dirty="0">
                <a:solidFill>
                  <a:srgbClr val="5C6A62"/>
                </a:solidFill>
              </a:rPr>
              <a:t>Customer support</a:t>
            </a:r>
            <a:endParaRPr lang="en-US" sz="900" dirty="0"/>
          </a:p>
          <a:p>
            <a:pPr indent="0" marL="0">
              <a:spcAft>
                <a:spcPts val="200"/>
              </a:spcAft>
              <a:buNone/>
            </a:pPr>
            <a:r>
              <a:rPr lang="en-US" sz="900" b="1" dirty="0">
                <a:solidFill>
                  <a:srgbClr val="4E6B31"/>
                </a:solidFill>
              </a:rPr>
              <a:t>Slide 77 →</a:t>
            </a:r>
            <a:endParaRPr lang="en-US" sz="900" dirty="0"/>
          </a:p>
        </p:txBody>
      </p:sp>
      <p:sp>
        <p:nvSpPr>
          <p:cNvPr id="44" name="Shape 31">
            <a:hlinkClick r:id="rId21" tooltip="Go to Support Portal" action="ppaction://hlinksldjump"/>
          </p:cNvPr>
          <p:cNvSpPr/>
          <p:nvPr/>
        </p:nvSpPr>
        <p:spPr>
          <a:xfrm>
            <a:off x="9599737" y="4023360"/>
            <a:ext cx="2043318" cy="2240280"/>
          </a:xfrm>
          <a:prstGeom prst="rect">
            <a:avLst/>
          </a:prstGeom>
          <a:solidFill>
            <a:srgbClr val="FFFFFF">
              <a:alpha val="0"/>
            </a:srgbClr>
          </a:solidFill>
          <a:ln/>
        </p:spPr>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33F2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8C938B"/>
                </a:solidFill>
              </a:rPr>
              <a:t>01 — YARD OPERATIONS &amp; INVENTORY PLATFORM</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EEF0E6"/>
                </a:solidFill>
              </a:rPr>
              <a:t>Veloce Scrap Flow</a:t>
            </a:r>
            <a:endParaRPr lang="en-US" sz="4000" dirty="0"/>
          </a:p>
        </p:txBody>
      </p:sp>
      <p:sp>
        <p:nvSpPr>
          <p:cNvPr id="5" name="Text 2"/>
          <p:cNvSpPr txBox="1"/>
          <p:nvPr/>
        </p:nvSpPr>
        <p:spPr>
          <a:xfrm>
            <a:off x="548640" y="1883664"/>
            <a:ext cx="4572000" cy="777240"/>
          </a:xfrm>
          <a:prstGeom prst="rect">
            <a:avLst/>
          </a:prstGeom>
          <a:noFill/>
          <a:ln/>
        </p:spPr>
        <p:txBody>
          <a:bodyPr wrap="square" lIns="0" tIns="0" rIns="0" bIns="0" rtlCol="0" anchor="t"/>
          <a:lstStyle/>
          <a:p>
            <a:pPr indent="0" marL="0">
              <a:lnSpc>
                <a:spcPct val="108000"/>
              </a:lnSpc>
              <a:buNone/>
            </a:pPr>
            <a:r>
              <a:rPr lang="en-US" sz="1650" dirty="0">
                <a:solidFill>
                  <a:srgbClr val="EEF0E6"/>
                </a:solidFill>
                <a:latin typeface="Satoshi Medium" pitchFamily="34" charset="0"/>
                <a:ea typeface="Satoshi Medium" pitchFamily="34" charset="-122"/>
                <a:cs typeface="Satoshi Medium" pitchFamily="34" charset="-120"/>
              </a:rPr>
              <a:t>Every kilogram, from weighbridge to dispatch.</a:t>
            </a:r>
            <a:endParaRPr lang="en-US" sz="1650" dirty="0"/>
          </a:p>
        </p:txBody>
      </p:sp>
      <p:sp>
        <p:nvSpPr>
          <p:cNvPr id="6" name="Text 3"/>
          <p:cNvSpPr txBox="1"/>
          <p:nvPr/>
        </p:nvSpPr>
        <p:spPr>
          <a:xfrm>
            <a:off x="548640" y="2706624"/>
            <a:ext cx="4572000" cy="1325880"/>
          </a:xfrm>
          <a:prstGeom prst="rect">
            <a:avLst/>
          </a:prstGeom>
          <a:noFill/>
          <a:ln/>
        </p:spPr>
        <p:txBody>
          <a:bodyPr wrap="square" lIns="0" tIns="0" rIns="0" bIns="0" rtlCol="0" anchor="t"/>
          <a:lstStyle/>
          <a:p>
            <a:pPr indent="0" marL="0">
              <a:lnSpc>
                <a:spcPct val="115000"/>
              </a:lnSpc>
              <a:buNone/>
            </a:pPr>
            <a:r>
              <a:rPr lang="en-US" sz="1100" dirty="0">
                <a:solidFill>
                  <a:srgbClr val="BFC4BA"/>
                </a:solidFill>
              </a:rPr>
              <a:t>A yard operating system for a scrap business: a calculator-fast mobile app for the weighbridge and the sorting floor, and a desktop console that gives management live control across yards and warehouses.</a:t>
            </a:r>
            <a:endParaRPr lang="en-US" sz="1100" dirty="0"/>
          </a:p>
        </p:txBody>
      </p:sp>
      <p:sp>
        <p:nvSpPr>
          <p:cNvPr id="7" name="Shape 4"/>
          <p:cNvSpPr/>
          <p:nvPr/>
        </p:nvSpPr>
        <p:spPr>
          <a:xfrm>
            <a:off x="548640" y="4754880"/>
            <a:ext cx="4572000" cy="0"/>
          </a:xfrm>
          <a:prstGeom prst="line">
            <a:avLst/>
          </a:prstGeom>
          <a:noFill/>
          <a:ln w="9525">
            <a:solidFill>
              <a:srgbClr val="2A3832"/>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CLIENT</a:t>
            </a:r>
            <a:endParaRPr lang="en-US" sz="800" dirty="0"/>
          </a:p>
          <a:p>
            <a:pPr indent="0" marL="0">
              <a:spcAft>
                <a:spcPts val="200"/>
              </a:spcAft>
              <a:buNone/>
            </a:pPr>
            <a:r>
              <a:rPr lang="en-US" sz="1100" b="1" dirty="0">
                <a:solidFill>
                  <a:srgbClr val="EEF0E6"/>
                </a:solidFill>
              </a:rPr>
              <a:t>Veloce</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SECTOR</a:t>
            </a:r>
            <a:endParaRPr lang="en-US" sz="800" dirty="0"/>
          </a:p>
          <a:p>
            <a:pPr indent="0" marL="0">
              <a:spcAft>
                <a:spcPts val="200"/>
              </a:spcAft>
              <a:buNone/>
            </a:pPr>
            <a:r>
              <a:rPr lang="en-US" sz="1100" b="1" dirty="0">
                <a:solidFill>
                  <a:srgbClr val="EEF0E6"/>
                </a:solidFill>
              </a:rPr>
              <a:t>Scrap &amp; recycling</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PLATFORM</a:t>
            </a:r>
            <a:endParaRPr lang="en-US" sz="800" dirty="0"/>
          </a:p>
          <a:p>
            <a:pPr indent="0" marL="0">
              <a:spcAft>
                <a:spcPts val="200"/>
              </a:spcAft>
              <a:buNone/>
            </a:pPr>
            <a:r>
              <a:rPr lang="en-US" sz="1100" b="1" dirty="0">
                <a:solidFill>
                  <a:srgbClr val="EEF0E6"/>
                </a:solidFill>
              </a:rPr>
              <a:t>Web ·​ Android</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ROLES</a:t>
            </a:r>
            <a:endParaRPr lang="en-US" sz="800" dirty="0"/>
          </a:p>
          <a:p>
            <a:pPr indent="0" marL="0">
              <a:spcAft>
                <a:spcPts val="200"/>
              </a:spcAft>
              <a:buNone/>
            </a:pPr>
            <a:r>
              <a:rPr lang="en-US" sz="1100" b="1" dirty="0">
                <a:solidFill>
                  <a:srgbClr val="EEF0E6"/>
                </a:solidFill>
              </a:rPr>
              <a:t>Admin ·​ Owner ·​ Supervisor</a:t>
            </a:r>
            <a:endParaRPr lang="en-US" sz="800" dirty="0"/>
          </a:p>
        </p:txBody>
      </p:sp>
      <p:pic>
        <p:nvPicPr>
          <p:cNvPr id="12" name="reveal-1" descr="Veloce Scrap Flow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5</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Mixed loads in. Graded material out. No reliable trail in between.</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A scrap yard buys mixed material by weight, sorts it into sellable grades and sells it by the truckload. Every step changes the numbers. Without one system, it is hard to know what is in stock, what is waiting to be sorted and what has actually left the yard — and impossible to see it across several yards.</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Built for the yard floor. Controlled from one console.</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Scrap Flow as a multi-yard platform. Owners and supervisors work in a mobile app designed like a calculator — big keys, live rates, clear steps — while the platform admin manages yards, warehouses, users and analytics from a desktop console. Every action writes to one inventory ledger, updated in real time.</a:t>
            </a:r>
            <a:endParaRPr lang="en-US" sz="1150" dirty="0"/>
          </a:p>
        </p:txBody>
      </p:sp>
      <p:sp>
        <p:nvSpPr>
          <p:cNvPr id="10" name="Shape 6"/>
          <p:cNvSpPr/>
          <p:nvPr/>
        </p:nvSpPr>
        <p:spPr>
          <a:xfrm>
            <a:off x="5760720" y="502920"/>
            <a:ext cx="5879592" cy="5715000"/>
          </a:xfrm>
          <a:prstGeom prst="roundRect">
            <a:avLst>
              <a:gd name="adj" fmla="val 2560"/>
            </a:avLst>
          </a:prstGeom>
          <a:solidFill>
            <a:srgbClr val="EEF0E8"/>
          </a:solidFill>
          <a:ln/>
        </p:spPr>
      </p:sp>
      <p:pic>
        <p:nvPicPr>
          <p:cNvPr id="11" name="Image 2" descr="Veloce Scrap Flow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0E8"/>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Veloce Scrap Flow.</a:t>
            </a:r>
            <a:endParaRPr lang="en-US" sz="2800" dirty="0"/>
          </a:p>
        </p:txBody>
      </p:sp>
      <p:pic>
        <p:nvPicPr>
          <p:cNvPr id="5" name="reveal-1" descr="Weight entry, calculator-fast">    </p:cNvPr>
          <p:cNvPicPr>
            <a:picLocks noChangeAspect="1"/>
          </p:cNvPicPr>
          <p:nvPr/>
        </p:nvPicPr>
        <p:blipFill>
          <a:blip r:embed="rId2"/>
          <a:stretch>
            <a:fillRect/>
          </a:stretch>
        </p:blipFill>
        <p:spPr>
          <a:xfrm>
            <a:off x="273443" y="1359985"/>
            <a:ext cx="2649359" cy="5238080"/>
          </a:xfrm>
          <a:prstGeom prst="rect">
            <a:avLst/>
          </a:prstGeom>
        </p:spPr>
      </p:pic>
      <p:sp>
        <p:nvSpPr>
          <p:cNvPr id="6" name="Text 2"/>
          <p:cNvSpPr txBox="1"/>
          <p:nvPr/>
        </p:nvSpPr>
        <p:spPr>
          <a:xfrm>
            <a:off x="2926080"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01</a:t>
            </a:r>
            <a:endParaRPr lang="en-US" sz="950" dirty="0"/>
          </a:p>
          <a:p>
            <a:pPr indent="0" marL="0">
              <a:spcAft>
                <a:spcPts val="400"/>
              </a:spcAft>
              <a:buNone/>
            </a:pPr>
            <a:r>
              <a:rPr lang="en-US" sz="1500" b="1" dirty="0">
                <a:solidFill>
                  <a:srgbClr val="0D1813"/>
                </a:solidFill>
              </a:rPr>
              <a:t>Weight entry, calculator-fast</a:t>
            </a:r>
            <a:endParaRPr lang="en-US" sz="950" dirty="0"/>
          </a:p>
          <a:p>
            <a:pPr indent="0" marL="0">
              <a:spcAft>
                <a:spcPts val="400"/>
              </a:spcAft>
              <a:buNone/>
            </a:pPr>
            <a:r>
              <a:rPr lang="en-US" sz="1100" dirty="0">
                <a:solidFill>
                  <a:srgbClr val="5C6A62"/>
                </a:solidFill>
              </a:rPr>
              <a:t>Big keys, a live LED display and kg / ton / tonne switching — built for gloved hands at the weighbridge.</a:t>
            </a:r>
            <a:endParaRPr lang="en-US" sz="950" dirty="0"/>
          </a:p>
        </p:txBody>
      </p:sp>
      <p:pic>
        <p:nvPicPr>
          <p:cNvPr id="7" name="reveal-2" descr="Segregation that balances">    </p:cNvPr>
          <p:cNvPicPr>
            <a:picLocks noChangeAspect="1"/>
          </p:cNvPicPr>
          <p:nvPr/>
        </p:nvPicPr>
        <p:blipFill>
          <a:blip r:embed="rId3"/>
          <a:stretch>
            <a:fillRect/>
          </a:stretch>
        </p:blipFill>
        <p:spPr>
          <a:xfrm>
            <a:off x="5915291" y="1359985"/>
            <a:ext cx="2649359" cy="5238080"/>
          </a:xfrm>
          <a:prstGeom prst="rect">
            <a:avLst/>
          </a:prstGeom>
        </p:spPr>
      </p:pic>
      <p:sp>
        <p:nvSpPr>
          <p:cNvPr id="8" name="Text 3"/>
          <p:cNvSpPr txBox="1"/>
          <p:nvPr/>
        </p:nvSpPr>
        <p:spPr>
          <a:xfrm>
            <a:off x="8567928"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02</a:t>
            </a:r>
            <a:endParaRPr lang="en-US" sz="950" dirty="0"/>
          </a:p>
          <a:p>
            <a:pPr indent="0" marL="0">
              <a:spcAft>
                <a:spcPts val="400"/>
              </a:spcAft>
              <a:buNone/>
            </a:pPr>
            <a:r>
              <a:rPr lang="en-US" sz="1500" b="1" dirty="0">
                <a:solidFill>
                  <a:srgbClr val="0D1813"/>
                </a:solidFill>
              </a:rPr>
              <a:t>Segregation that balances</a:t>
            </a:r>
            <a:endParaRPr lang="en-US" sz="950" dirty="0"/>
          </a:p>
          <a:p>
            <a:pPr indent="0" marL="0">
              <a:spcAft>
                <a:spcPts val="400"/>
              </a:spcAft>
              <a:buNone/>
            </a:pPr>
            <a:r>
              <a:rPr lang="en-US" sz="1100" dirty="0">
                <a:solidFill>
                  <a:srgbClr val="5C6A62"/>
                </a:solidFill>
              </a:rPr>
              <a:t>Pick a mixed lot and split it into grades and wastage. Vendor, vehicle and lot history stay attached.</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0E8"/>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Veloce Scrap Flow.</a:t>
            </a:r>
            <a:endParaRPr lang="en-US" sz="2800" dirty="0"/>
          </a:p>
        </p:txBody>
      </p:sp>
      <p:pic>
        <p:nvPicPr>
          <p:cNvPr id="5" name="reveal-1" descr="One console for every yard">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One console for every yard</a:t>
            </a:r>
            <a:endParaRPr lang="en-US" sz="950" dirty="0"/>
          </a:p>
          <a:p>
            <a:pPr indent="0" marL="0">
              <a:spcAft>
                <a:spcPts val="300"/>
              </a:spcAft>
              <a:buNone/>
            </a:pPr>
            <a:r>
              <a:rPr lang="en-US" sz="1100" dirty="0">
                <a:solidFill>
                  <a:srgbClr val="5C6A62"/>
                </a:solidFill>
              </a:rPr>
              <a:t>Warehouses, supervisors, stock and records for each yard — with the admin able to step inside any yard.</a:t>
            </a:r>
            <a:endParaRPr lang="en-US" sz="950" dirty="0"/>
          </a:p>
        </p:txBody>
      </p:sp>
      <p:pic>
        <p:nvPicPr>
          <p:cNvPr id="7" name="reveal-2" descr="Platform overview">    </p:cNvPr>
          <p:cNvPicPr>
            <a:picLocks noChangeAspect="1"/>
          </p:cNvPicPr>
          <p:nvPr/>
        </p:nvPicPr>
        <p:blipFill>
          <a:blip r:embed="rId3"/>
          <a:stretch>
            <a:fillRect/>
          </a:stretch>
        </p:blipFill>
        <p:spPr>
          <a:xfrm>
            <a:off x="5907552" y="1353231"/>
            <a:ext cx="5960831" cy="4066601"/>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Platform overview</a:t>
            </a:r>
            <a:endParaRPr lang="en-US" sz="950" dirty="0"/>
          </a:p>
          <a:p>
            <a:pPr indent="0" marL="0">
              <a:spcAft>
                <a:spcPts val="300"/>
              </a:spcAft>
              <a:buNone/>
            </a:pPr>
            <a:r>
              <a:rPr lang="en-US" sz="1100" dirty="0">
                <a:solidFill>
                  <a:srgbClr val="5C6A62"/>
                </a:solidFill>
              </a:rPr>
              <a:t>Headline numbers, alerts and pending actions computed by the system, so nothing waits to be noticed.</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Veloce Scrap Flow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Inward at the weighbridge</a:t>
            </a:r>
            <a:endParaRPr lang="en-US" sz="950" dirty="0"/>
          </a:p>
          <a:p>
            <a:pPr indent="0" marL="0">
              <a:spcAft>
                <a:spcPts val="300"/>
              </a:spcAft>
              <a:buNone/>
            </a:pPr>
            <a:r>
              <a:rPr lang="en-US" sz="1050" dirty="0">
                <a:solidFill>
                  <a:srgbClr val="5C6A62"/>
                </a:solidFill>
              </a:rPr>
              <a:t>Vendor, vehicle and multiple weighments on an LED-style keypad, with photo evidence. Each load becomes a traceable lot.</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Sorting that balances</a:t>
            </a:r>
            <a:endParaRPr lang="en-US" sz="950" dirty="0"/>
          </a:p>
          <a:p>
            <a:pPr indent="0" marL="0">
              <a:spcAft>
                <a:spcPts val="300"/>
              </a:spcAft>
              <a:buNone/>
            </a:pPr>
            <a:r>
              <a:rPr lang="en-US" sz="1050" dirty="0">
                <a:solidFill>
                  <a:srgbClr val="5C6A62"/>
                </a:solidFill>
              </a:rPr>
              <a:t>Mixed lots are split into finished grades and wastage; a run can’t close until every kilogram is accounted for.</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Sell, allocate, dispatch</a:t>
            </a:r>
            <a:endParaRPr lang="en-US" sz="950" dirty="0"/>
          </a:p>
          <a:p>
            <a:pPr indent="0" marL="0">
              <a:spcAft>
                <a:spcPts val="300"/>
              </a:spcAft>
              <a:buNone/>
            </a:pPr>
            <a:r>
              <a:rPr lang="en-US" sz="1050" dirty="0">
                <a:solidFill>
                  <a:srgbClr val="5C6A62"/>
                </a:solidFill>
              </a:rPr>
              <a:t>A sale reserves stock; supervisors load vehicles against it. The same kilograms can’t be sold twice or over-dispatched.</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Live stock across warehouses</a:t>
            </a:r>
            <a:endParaRPr lang="en-US" sz="950" dirty="0"/>
          </a:p>
          <a:p>
            <a:pPr indent="0" marL="0">
              <a:spcAft>
                <a:spcPts val="300"/>
              </a:spcAft>
              <a:buNone/>
            </a:pPr>
            <a:r>
              <a:rPr lang="en-US" sz="1050" dirty="0">
                <a:solidFill>
                  <a:srgbClr val="5C6A62"/>
                </a:solidFill>
              </a:rPr>
              <a:t>Stock on hand, sale thresholds and pending work per yard and warehouse, updated as it happens.</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Admin console &amp; analytics</a:t>
            </a:r>
            <a:endParaRPr lang="en-US" sz="950" dirty="0"/>
          </a:p>
          <a:p>
            <a:pPr indent="0" marL="0">
              <a:spcAft>
                <a:spcPts val="300"/>
              </a:spcAft>
              <a:buNone/>
            </a:pPr>
            <a:r>
              <a:rPr lang="en-US" sz="1050" dirty="0">
                <a:solidFill>
                  <a:srgbClr val="5C6A62"/>
                </a:solidFill>
              </a:rPr>
              <a:t>Yards, warehouses, users and permissions, with analytics for inward, sorting, dispatch and materials.</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Governance built in</a:t>
            </a:r>
            <a:endParaRPr lang="en-US" sz="950" dirty="0"/>
          </a:p>
          <a:p>
            <a:pPr indent="0" marL="0">
              <a:spcAft>
                <a:spcPts val="300"/>
              </a:spcAft>
              <a:buNone/>
            </a:pPr>
            <a:r>
              <a:rPr lang="en-US" sz="1050" dirty="0">
                <a:solidFill>
                  <a:srgbClr val="5C6A62"/>
                </a:solidFill>
              </a:rPr>
              <a:t>Every privileged action is recorded in an audit log with before-and-after values.</a:t>
            </a:r>
            <a:endParaRPr lang="en-US" sz="950" dirty="0"/>
          </a:p>
        </p:txBody>
      </p:sp>
      <p:sp>
        <p:nvSpPr>
          <p:cNvPr id="17" name="Shape 14"/>
          <p:cNvSpPr/>
          <p:nvPr/>
        </p:nvSpPr>
        <p:spPr>
          <a:xfrm>
            <a:off x="8503920" y="502920"/>
            <a:ext cx="3136392" cy="5715000"/>
          </a:xfrm>
          <a:prstGeom prst="roundRect">
            <a:avLst>
              <a:gd name="adj" fmla="val 4665"/>
            </a:avLst>
          </a:prstGeom>
          <a:solidFill>
            <a:srgbClr val="033F2D"/>
          </a:solidFill>
          <a:ln/>
        </p:spPr>
      </p:sp>
      <p:pic>
        <p:nvPicPr>
          <p:cNvPr id="18" name="Image 1" descr="Veloce Scrap Flow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33F2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every role.</a:t>
            </a:r>
            <a:endParaRPr lang="en-US" sz="2800" dirty="0"/>
          </a:p>
        </p:txBody>
      </p:sp>
      <p:pic>
        <p:nvPicPr>
          <p:cNvPr id="5" name="Image 1" descr="Admin view">    </p:cNvPr>
          <p:cNvPicPr>
            <a:picLocks noChangeAspect="1"/>
          </p:cNvPicPr>
          <p:nvPr/>
        </p:nvPicPr>
        <p:blipFill>
          <a:blip r:embed="rId2"/>
          <a:stretch>
            <a:fillRect/>
          </a:stretch>
        </p:blipFill>
        <p:spPr>
          <a:xfrm>
            <a:off x="352829" y="1882139"/>
            <a:ext cx="3876401" cy="2548866"/>
          </a:xfrm>
          <a:prstGeom prst="rect">
            <a:avLst/>
          </a:prstGeom>
        </p:spPr>
      </p:pic>
      <p:sp>
        <p:nvSpPr>
          <p:cNvPr id="6" name="Shape 2"/>
          <p:cNvSpPr/>
          <p:nvPr/>
        </p:nvSpPr>
        <p:spPr>
          <a:xfrm>
            <a:off x="548640" y="4315968"/>
            <a:ext cx="3484778" cy="0"/>
          </a:xfrm>
          <a:prstGeom prst="line">
            <a:avLst/>
          </a:prstGeom>
          <a:noFill/>
          <a:ln w="9525">
            <a:solidFill>
              <a:srgbClr val="2A3832"/>
            </a:solidFill>
            <a:prstDash val="solid"/>
          </a:ln>
        </p:spPr>
      </p:sp>
      <p:sp>
        <p:nvSpPr>
          <p:cNvPr id="7" name="Text 3"/>
          <p:cNvSpPr txBox="1"/>
          <p:nvPr/>
        </p:nvSpPr>
        <p:spPr>
          <a:xfrm>
            <a:off x="548640"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DESKTOP CONSOLE</a:t>
            </a:r>
            <a:endParaRPr lang="en-US" sz="800" dirty="0"/>
          </a:p>
          <a:p>
            <a:pPr indent="0" marL="0">
              <a:spcAft>
                <a:spcPts val="200"/>
              </a:spcAft>
              <a:buNone/>
            </a:pPr>
            <a:r>
              <a:rPr lang="en-US" sz="1700" b="1" dirty="0">
                <a:solidFill>
                  <a:srgbClr val="EEF0E6"/>
                </a:solidFill>
              </a:rPr>
              <a:t>Admin</a:t>
            </a:r>
            <a:endParaRPr lang="en-US" sz="800" dirty="0"/>
          </a:p>
          <a:p>
            <a:pPr indent="0" marL="0">
              <a:spcAft>
                <a:spcPts val="200"/>
              </a:spcAft>
              <a:buNone/>
            </a:pPr>
            <a:r>
              <a:rPr lang="en-US" sz="1100" dirty="0">
                <a:solidFill>
                  <a:srgbClr val="EEF0E6"/>
                </a:solidFill>
              </a:rPr>
              <a:t>Runs the platform across yards.</a:t>
            </a:r>
            <a:endParaRPr lang="en-US" sz="800" dirty="0"/>
          </a:p>
        </p:txBody>
      </p:sp>
      <p:sp>
        <p:nvSpPr>
          <p:cNvPr id="8" name="Text 4"/>
          <p:cNvSpPr txBox="1"/>
          <p:nvPr/>
        </p:nvSpPr>
        <p:spPr>
          <a:xfrm>
            <a:off x="548640"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Platform overview with alerts and pending actions</a:t>
            </a:r>
            <a:endParaRPr lang="en-US" sz="1000" dirty="0"/>
          </a:p>
          <a:p>
            <a:pPr marL="165100" indent="-165100">
              <a:spcAft>
                <a:spcPts val="400"/>
              </a:spcAft>
              <a:buSzPct val="100000"/>
              <a:buChar char="•"/>
            </a:pPr>
            <a:r>
              <a:rPr lang="en-US" sz="1000" dirty="0">
                <a:solidFill>
                  <a:srgbClr val="BFC4BA"/>
                </a:solidFill>
              </a:rPr>
              <a:t>Yards, warehouses and supervisor assignments</a:t>
            </a:r>
            <a:endParaRPr lang="en-US" sz="1000" dirty="0"/>
          </a:p>
          <a:p>
            <a:pPr marL="165100" indent="-165100">
              <a:spcAft>
                <a:spcPts val="400"/>
              </a:spcAft>
              <a:buSzPct val="100000"/>
              <a:buChar char="•"/>
            </a:pPr>
            <a:r>
              <a:rPr lang="en-US" sz="1000" dirty="0">
                <a:solidFill>
                  <a:srgbClr val="BFC4BA"/>
                </a:solidFill>
              </a:rPr>
              <a:t>Users, roles and access</a:t>
            </a:r>
            <a:endParaRPr lang="en-US" sz="1000" dirty="0"/>
          </a:p>
          <a:p>
            <a:pPr marL="165100" indent="-165100">
              <a:spcAft>
                <a:spcPts val="400"/>
              </a:spcAft>
              <a:buSzPct val="100000"/>
              <a:buChar char="•"/>
            </a:pPr>
            <a:r>
              <a:rPr lang="en-US" sz="1000" dirty="0">
                <a:solidFill>
                  <a:srgbClr val="BFC4BA"/>
                </a:solidFill>
              </a:rPr>
              <a:t>Analytics and a full audit log</a:t>
            </a:r>
            <a:endParaRPr lang="en-US" sz="1000" dirty="0"/>
          </a:p>
        </p:txBody>
      </p:sp>
      <p:pic>
        <p:nvPicPr>
          <p:cNvPr id="9" name="Image 2" descr="Owner view">    </p:cNvPr>
          <p:cNvPicPr>
            <a:picLocks noChangeAspect="1"/>
          </p:cNvPicPr>
          <p:nvPr/>
        </p:nvPicPr>
        <p:blipFill>
          <a:blip r:embed="rId3"/>
          <a:stretch>
            <a:fillRect/>
          </a:stretch>
        </p:blipFill>
        <p:spPr>
          <a:xfrm>
            <a:off x="4123803" y="1262578"/>
            <a:ext cx="3670597" cy="3215178"/>
          </a:xfrm>
          <a:prstGeom prst="rect">
            <a:avLst/>
          </a:prstGeom>
        </p:spPr>
      </p:pic>
      <p:sp>
        <p:nvSpPr>
          <p:cNvPr id="10" name="Shape 5"/>
          <p:cNvSpPr/>
          <p:nvPr/>
        </p:nvSpPr>
        <p:spPr>
          <a:xfrm>
            <a:off x="4353458" y="4315968"/>
            <a:ext cx="3484778" cy="0"/>
          </a:xfrm>
          <a:prstGeom prst="line">
            <a:avLst/>
          </a:prstGeom>
          <a:noFill/>
          <a:ln w="9525">
            <a:solidFill>
              <a:srgbClr val="2A3832"/>
            </a:solidFill>
            <a:prstDash val="solid"/>
          </a:ln>
        </p:spPr>
      </p:sp>
      <p:sp>
        <p:nvSpPr>
          <p:cNvPr id="11" name="Text 6"/>
          <p:cNvSpPr txBox="1"/>
          <p:nvPr/>
        </p:nvSpPr>
        <p:spPr>
          <a:xfrm>
            <a:off x="4353458"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 APP</a:t>
            </a:r>
            <a:endParaRPr lang="en-US" sz="800" dirty="0"/>
          </a:p>
          <a:p>
            <a:pPr indent="0" marL="0">
              <a:spcAft>
                <a:spcPts val="200"/>
              </a:spcAft>
              <a:buNone/>
            </a:pPr>
            <a:r>
              <a:rPr lang="en-US" sz="1700" b="1" dirty="0">
                <a:solidFill>
                  <a:srgbClr val="EEF0E6"/>
                </a:solidFill>
              </a:rPr>
              <a:t>Owner</a:t>
            </a:r>
            <a:endParaRPr lang="en-US" sz="800" dirty="0"/>
          </a:p>
          <a:p>
            <a:pPr indent="0" marL="0">
              <a:spcAft>
                <a:spcPts val="200"/>
              </a:spcAft>
              <a:buNone/>
            </a:pPr>
            <a:r>
              <a:rPr lang="en-US" sz="1100" dirty="0">
                <a:solidFill>
                  <a:srgbClr val="EEF0E6"/>
                </a:solidFill>
              </a:rPr>
              <a:t>Runs the yard and the trade.</a:t>
            </a:r>
            <a:endParaRPr lang="en-US" sz="800" dirty="0"/>
          </a:p>
        </p:txBody>
      </p:sp>
      <p:sp>
        <p:nvSpPr>
          <p:cNvPr id="12" name="Text 7"/>
          <p:cNvSpPr txBox="1"/>
          <p:nvPr/>
        </p:nvSpPr>
        <p:spPr>
          <a:xfrm>
            <a:off x="4353458"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Yard dashboard: stock, ready-to-sell and pending lots</a:t>
            </a:r>
            <a:endParaRPr lang="en-US" sz="1000" dirty="0"/>
          </a:p>
          <a:p>
            <a:pPr marL="165100" indent="-165100">
              <a:spcAft>
                <a:spcPts val="400"/>
              </a:spcAft>
              <a:buSzPct val="100000"/>
              <a:buChar char="•"/>
            </a:pPr>
            <a:r>
              <a:rPr lang="en-US" sz="1000" dirty="0">
                <a:solidFill>
                  <a:srgbClr val="BFC4BA"/>
                </a:solidFill>
              </a:rPr>
              <a:t>Inward, sorting and materials</a:t>
            </a:r>
            <a:endParaRPr lang="en-US" sz="1000" dirty="0"/>
          </a:p>
          <a:p>
            <a:pPr marL="165100" indent="-165100">
              <a:spcAft>
                <a:spcPts val="400"/>
              </a:spcAft>
              <a:buSzPct val="100000"/>
              <a:buChar char="•"/>
            </a:pPr>
            <a:r>
              <a:rPr lang="en-US" sz="1000" dirty="0">
                <a:solidFill>
                  <a:srgbClr val="BFC4BA"/>
                </a:solidFill>
              </a:rPr>
              <a:t>Sales, invoices and receivables</a:t>
            </a:r>
            <a:endParaRPr lang="en-US" sz="1000" dirty="0"/>
          </a:p>
          <a:p>
            <a:pPr marL="165100" indent="-165100">
              <a:spcAft>
                <a:spcPts val="400"/>
              </a:spcAft>
              <a:buSzPct val="100000"/>
              <a:buChar char="•"/>
            </a:pPr>
            <a:r>
              <a:rPr lang="en-US" sz="1000" dirty="0">
                <a:solidFill>
                  <a:srgbClr val="BFC4BA"/>
                </a:solidFill>
              </a:rPr>
              <a:t>Dispatch status per invoice</a:t>
            </a:r>
            <a:endParaRPr lang="en-US" sz="1000" dirty="0"/>
          </a:p>
        </p:txBody>
      </p:sp>
      <p:pic>
        <p:nvPicPr>
          <p:cNvPr id="13" name="Image 3" descr="Supervisor view">    </p:cNvPr>
          <p:cNvPicPr>
            <a:picLocks noChangeAspect="1"/>
          </p:cNvPicPr>
          <p:nvPr/>
        </p:nvPicPr>
        <p:blipFill>
          <a:blip r:embed="rId4"/>
          <a:stretch>
            <a:fillRect/>
          </a:stretch>
        </p:blipFill>
        <p:spPr>
          <a:xfrm>
            <a:off x="7928621" y="1262578"/>
            <a:ext cx="3670597" cy="3215178"/>
          </a:xfrm>
          <a:prstGeom prst="rect">
            <a:avLst/>
          </a:prstGeom>
        </p:spPr>
      </p:pic>
      <p:sp>
        <p:nvSpPr>
          <p:cNvPr id="14" name="Shape 8"/>
          <p:cNvSpPr/>
          <p:nvPr/>
        </p:nvSpPr>
        <p:spPr>
          <a:xfrm>
            <a:off x="8158277" y="4315968"/>
            <a:ext cx="3484778" cy="0"/>
          </a:xfrm>
          <a:prstGeom prst="line">
            <a:avLst/>
          </a:prstGeom>
          <a:noFill/>
          <a:ln w="9525">
            <a:solidFill>
              <a:srgbClr val="2A3832"/>
            </a:solidFill>
            <a:prstDash val="solid"/>
          </a:ln>
        </p:spPr>
      </p:sp>
      <p:sp>
        <p:nvSpPr>
          <p:cNvPr id="15" name="Text 9"/>
          <p:cNvSpPr txBox="1"/>
          <p:nvPr/>
        </p:nvSpPr>
        <p:spPr>
          <a:xfrm>
            <a:off x="8158277"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 APP</a:t>
            </a:r>
            <a:endParaRPr lang="en-US" sz="800" dirty="0"/>
          </a:p>
          <a:p>
            <a:pPr indent="0" marL="0">
              <a:spcAft>
                <a:spcPts val="200"/>
              </a:spcAft>
              <a:buNone/>
            </a:pPr>
            <a:r>
              <a:rPr lang="en-US" sz="1700" b="1" dirty="0">
                <a:solidFill>
                  <a:srgbClr val="EEF0E6"/>
                </a:solidFill>
              </a:rPr>
              <a:t>Supervisor</a:t>
            </a:r>
            <a:endParaRPr lang="en-US" sz="800" dirty="0"/>
          </a:p>
          <a:p>
            <a:pPr indent="0" marL="0">
              <a:spcAft>
                <a:spcPts val="200"/>
              </a:spcAft>
              <a:buNone/>
            </a:pPr>
            <a:r>
              <a:rPr lang="en-US" sz="1100" dirty="0">
                <a:solidFill>
                  <a:srgbClr val="EEF0E6"/>
                </a:solidFill>
              </a:rPr>
              <a:t>Runs the floor in an assigned warehouse.</a:t>
            </a:r>
            <a:endParaRPr lang="en-US" sz="800" dirty="0"/>
          </a:p>
        </p:txBody>
      </p:sp>
      <p:sp>
        <p:nvSpPr>
          <p:cNvPr id="16" name="Text 10"/>
          <p:cNvSpPr txBox="1"/>
          <p:nvPr/>
        </p:nvSpPr>
        <p:spPr>
          <a:xfrm>
            <a:off x="8158277"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Materials on hand by category</a:t>
            </a:r>
            <a:endParaRPr lang="en-US" sz="1000" dirty="0"/>
          </a:p>
          <a:p>
            <a:pPr marL="165100" indent="-165100">
              <a:spcAft>
                <a:spcPts val="400"/>
              </a:spcAft>
              <a:buSzPct val="100000"/>
              <a:buChar char="•"/>
            </a:pPr>
            <a:r>
              <a:rPr lang="en-US" sz="1000" dirty="0">
                <a:solidFill>
                  <a:srgbClr val="BFC4BA"/>
                </a:solidFill>
              </a:rPr>
              <a:t>Inward and sorting</a:t>
            </a:r>
            <a:endParaRPr lang="en-US" sz="1000" dirty="0"/>
          </a:p>
          <a:p>
            <a:pPr marL="165100" indent="-165100">
              <a:spcAft>
                <a:spcPts val="400"/>
              </a:spcAft>
              <a:buSzPct val="100000"/>
              <a:buChar char="•"/>
            </a:pPr>
            <a:r>
              <a:rPr lang="en-US" sz="1000" dirty="0">
                <a:solidFill>
                  <a:srgbClr val="BFC4BA"/>
                </a:solidFill>
              </a:rPr>
              <a:t>Loading vehicles against allocations</a:t>
            </a:r>
            <a:endParaRPr lang="en-US" sz="1000" dirty="0"/>
          </a:p>
          <a:p>
            <a:pPr marL="165100" indent="-165100">
              <a:spcAft>
                <a:spcPts val="400"/>
              </a:spcAft>
              <a:buSzPct val="100000"/>
              <a:buChar char="•"/>
            </a:pPr>
            <a:r>
              <a:rPr lang="en-US" sz="1000" dirty="0">
                <a:solidFill>
                  <a:srgbClr val="BFC4BA"/>
                </a:solidFill>
              </a:rPr>
              <a:t>Dispatch history</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33F2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Designed like a calculator, for the yard floor.</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BFC4BA"/>
                </a:solidFill>
              </a:rPr>
              <a:t>Big keys, high contrast, live rates and one clear step at a time — so weighments, sorting and dispatch are recorded where they happen.</a:t>
            </a:r>
            <a:endParaRPr lang="en-US" sz="1300" dirty="0"/>
          </a:p>
        </p:txBody>
      </p:sp>
      <p:pic>
        <p:nvPicPr>
          <p:cNvPr id="6" name="reveal-1" descr="Veloce Scrap Flow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Control without being on site</a:t>
            </a:r>
            <a:endParaRPr lang="en-US" sz="1450" dirty="0"/>
          </a:p>
          <a:p>
            <a:pPr indent="0" marL="0">
              <a:spcAft>
                <a:spcPts val="300"/>
              </a:spcAft>
              <a:buNone/>
            </a:pPr>
            <a:r>
              <a:rPr lang="en-US" sz="1050" dirty="0">
                <a:solidFill>
                  <a:srgbClr val="5C6A62"/>
                </a:solidFill>
              </a:rPr>
              <a:t>Owners and admins see stock, pending sorting and dispatch status the moment they change.</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Traceable from vendor to buyer</a:t>
            </a:r>
            <a:endParaRPr lang="en-US" sz="1450" dirty="0"/>
          </a:p>
          <a:p>
            <a:pPr indent="0" marL="0">
              <a:spcAft>
                <a:spcPts val="300"/>
              </a:spcAft>
              <a:buNone/>
            </a:pPr>
            <a:r>
              <a:rPr lang="en-US" sz="1050" dirty="0">
                <a:solidFill>
                  <a:srgbClr val="5C6A62"/>
                </a:solidFill>
              </a:rPr>
              <a:t>Lots keep their vendor through sorting and dispatch, so every kilogram has a history.</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Mistakes prevented, not corrected</a:t>
            </a:r>
            <a:endParaRPr lang="en-US" sz="1450" dirty="0"/>
          </a:p>
          <a:p>
            <a:pPr indent="0" marL="0">
              <a:spcAft>
                <a:spcPts val="300"/>
              </a:spcAft>
              <a:buNone/>
            </a:pPr>
            <a:r>
              <a:rPr lang="en-US" sz="1050" dirty="0">
                <a:solidFill>
                  <a:srgbClr val="5C6A62"/>
                </a:solidFill>
              </a:rPr>
              <a:t>Rules block double-selling, over-dispatch and unbalanced sorting before they happen.</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Ready for more yards</a:t>
            </a:r>
            <a:endParaRPr lang="en-US" sz="1450" dirty="0"/>
          </a:p>
          <a:p>
            <a:pPr indent="0" marL="0">
              <a:spcAft>
                <a:spcPts val="300"/>
              </a:spcAft>
              <a:buNone/>
            </a:pPr>
            <a:r>
              <a:rPr lang="en-US" sz="1050" dirty="0">
                <a:solidFill>
                  <a:srgbClr val="5C6A62"/>
                </a:solidFill>
              </a:rPr>
              <a:t>A multi-yard architecture with strict data isolation between yards.</a:t>
            </a:r>
            <a:endParaRPr lang="en-US" sz="1450" dirty="0"/>
          </a:p>
        </p:txBody>
      </p:sp>
      <p:sp>
        <p:nvSpPr>
          <p:cNvPr id="13" name="Shape 10"/>
          <p:cNvSpPr/>
          <p:nvPr/>
        </p:nvSpPr>
        <p:spPr>
          <a:xfrm>
            <a:off x="548640" y="4434840"/>
            <a:ext cx="6784848" cy="1783080"/>
          </a:xfrm>
          <a:prstGeom prst="roundRect">
            <a:avLst>
              <a:gd name="adj" fmla="val 7179"/>
            </a:avLst>
          </a:prstGeom>
          <a:solidFill>
            <a:srgbClr val="033F2D"/>
          </a:solidFill>
          <a:ln/>
        </p:spPr>
      </p:sp>
      <p:sp>
        <p:nvSpPr>
          <p:cNvPr id="14" name="Text 11"/>
          <p:cNvSpPr txBox="1"/>
          <p:nvPr/>
        </p:nvSpPr>
        <p:spPr>
          <a:xfrm>
            <a:off x="868680" y="4645152"/>
            <a:ext cx="6172200" cy="1463040"/>
          </a:xfrm>
          <a:prstGeom prst="rect">
            <a:avLst/>
          </a:prstGeom>
          <a:noFill/>
          <a:ln/>
        </p:spPr>
        <p:txBody>
          <a:bodyPr wrap="square" lIns="0" tIns="0" rIns="0" bIns="0" rtlCol="0" anchor="t"/>
          <a:lstStyle/>
          <a:p>
            <a:pPr indent="0" marL="0">
              <a:lnSpc>
                <a:spcPct val="112000"/>
              </a:lnSpc>
              <a:spcAft>
                <a:spcPts val="800"/>
              </a:spcAft>
              <a:buNone/>
            </a:pPr>
            <a:r>
              <a:rPr lang="en-US" sz="1250" dirty="0">
                <a:solidFill>
                  <a:srgbClr val="EEF0E6"/>
                </a:solidFill>
                <a:latin typeface="Satoshi Medium" pitchFamily="34" charset="0"/>
                <a:ea typeface="Satoshi Medium" pitchFamily="34" charset="-122"/>
                <a:cs typeface="Satoshi Medium" pitchFamily="34" charset="-120"/>
              </a:rPr>
              <a:t>“We didn’t need another digital tool; we needed a technology partner who understood how our business worked. CRITA helped us simplify processes, connect different parts of the business, and introduce technology where it could create real value.”</a:t>
            </a:r>
            <a:endParaRPr lang="en-US" sz="1250" dirty="0"/>
          </a:p>
          <a:p>
            <a:pPr indent="0" marL="0">
              <a:lnSpc>
                <a:spcPct val="112000"/>
              </a:lnSpc>
              <a:spcAft>
                <a:spcPts val="800"/>
              </a:spcAft>
              <a:buNone/>
            </a:pPr>
            <a:r>
              <a:rPr lang="en-US" sz="1000" b="1" dirty="0">
                <a:solidFill>
                  <a:srgbClr val="BFC4BA"/>
                </a:solidFill>
              </a:rPr>
              <a:t>Abhirup · Veloce</a:t>
            </a:r>
            <a:endParaRPr lang="en-US" sz="1250" dirty="0"/>
          </a:p>
        </p:txBody>
      </p:sp>
      <p:pic>
        <p:nvPicPr>
          <p:cNvPr id="15" name="Image 1" descr="F:\Office Project\Crita Portfolio\portfolio\ppt\brand\c.png">    </p:cNvPr>
          <p:cNvPicPr>
            <a:picLocks noChangeAspect="1"/>
          </p:cNvPicPr>
          <p:nvPr/>
        </p:nvPicPr>
        <p:blipFill>
          <a:blip r:embed="rId2"/>
          <a:stretch>
            <a:fillRect/>
          </a:stretch>
        </p:blipFill>
        <p:spPr>
          <a:xfrm>
            <a:off x="7818120" y="544068"/>
            <a:ext cx="182880" cy="134417"/>
          </a:xfrm>
          <a:prstGeom prst="rect">
            <a:avLst/>
          </a:prstGeom>
        </p:spPr>
      </p:pic>
      <p:sp>
        <p:nvSpPr>
          <p:cNvPr id="16"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7" name="Text 13"/>
          <p:cNvSpPr txBox="1"/>
          <p:nvPr/>
        </p:nvSpPr>
        <p:spPr>
          <a:xfrm>
            <a:off x="7818120"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Next.js</a:t>
            </a:r>
            <a:endParaRPr lang="en-US" sz="950" dirty="0"/>
          </a:p>
        </p:txBody>
      </p:sp>
      <p:sp>
        <p:nvSpPr>
          <p:cNvPr id="18" name="Text 14"/>
          <p:cNvSpPr txBox="1"/>
          <p:nvPr/>
        </p:nvSpPr>
        <p:spPr>
          <a:xfrm>
            <a:off x="8609990"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TypeScript</a:t>
            </a:r>
            <a:endParaRPr lang="en-US" sz="950" dirty="0"/>
          </a:p>
        </p:txBody>
      </p:sp>
      <p:sp>
        <p:nvSpPr>
          <p:cNvPr id="19" name="Text 15"/>
          <p:cNvSpPr txBox="1"/>
          <p:nvPr/>
        </p:nvSpPr>
        <p:spPr>
          <a:xfrm>
            <a:off x="9588398"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PostgreSQL</a:t>
            </a:r>
            <a:endParaRPr lang="en-US" sz="950" dirty="0"/>
          </a:p>
        </p:txBody>
      </p:sp>
      <p:sp>
        <p:nvSpPr>
          <p:cNvPr id="20" name="Text 16"/>
          <p:cNvSpPr txBox="1"/>
          <p:nvPr/>
        </p:nvSpPr>
        <p:spPr>
          <a:xfrm>
            <a:off x="7818120" y="1261872"/>
            <a:ext cx="133136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Real-time updates</a:t>
            </a:r>
            <a:endParaRPr lang="en-US" sz="950" dirty="0"/>
          </a:p>
        </p:txBody>
      </p:sp>
      <p:sp>
        <p:nvSpPr>
          <p:cNvPr id="21" name="Text 17"/>
          <p:cNvSpPr txBox="1"/>
          <p:nvPr/>
        </p:nvSpPr>
        <p:spPr>
          <a:xfrm>
            <a:off x="9231782" y="1261872"/>
            <a:ext cx="182880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Multi-tenant architecture</a:t>
            </a:r>
            <a:endParaRPr lang="en-US" sz="950" dirty="0"/>
          </a:p>
        </p:txBody>
      </p:sp>
      <p:sp>
        <p:nvSpPr>
          <p:cNvPr id="22" name="Text 18"/>
          <p:cNvSpPr txBox="1"/>
          <p:nvPr/>
        </p:nvSpPr>
        <p:spPr>
          <a:xfrm>
            <a:off x="7818120" y="1627632"/>
            <a:ext cx="958291"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Android app</a:t>
            </a:r>
            <a:endParaRPr lang="en-US" sz="950" dirty="0"/>
          </a:p>
        </p:txBody>
      </p:sp>
      <p:sp>
        <p:nvSpPr>
          <p:cNvPr id="23" name="Text 19"/>
          <p:cNvSpPr txBox="1"/>
          <p:nvPr/>
        </p:nvSpPr>
        <p:spPr>
          <a:xfrm>
            <a:off x="7818120" y="2103120"/>
            <a:ext cx="3824935" cy="15087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2,500+ automated checks across 36 test suites</a:t>
            </a:r>
            <a:endParaRPr lang="en-US" sz="1000" dirty="0"/>
          </a:p>
          <a:p>
            <a:pPr marL="165100" indent="-165100">
              <a:spcAft>
                <a:spcPts val="400"/>
              </a:spcAft>
              <a:buSzPct val="100000"/>
              <a:buChar char="•"/>
            </a:pPr>
            <a:r>
              <a:rPr lang="en-US" sz="1000" dirty="0">
                <a:solidFill>
                  <a:srgbClr val="34433B"/>
                </a:solidFill>
              </a:rPr>
              <a:t>Yard data isolated at session, query and database level</a:t>
            </a:r>
            <a:endParaRPr lang="en-US" sz="1000" dirty="0"/>
          </a:p>
          <a:p>
            <a:pPr marL="165100" indent="-165100">
              <a:spcAft>
                <a:spcPts val="400"/>
              </a:spcAft>
              <a:buSzPct val="100000"/>
              <a:buChar char="•"/>
            </a:pPr>
            <a:r>
              <a:rPr lang="en-US" sz="1000" dirty="0">
                <a:solidFill>
                  <a:srgbClr val="34433B"/>
                </a:solidFill>
              </a:rPr>
              <a:t>Number-plate recognition built as a separate computer-vision service (YOLOv8 + PaddleOCR)</a:t>
            </a:r>
            <a:endParaRPr lang="en-US" sz="1000" dirty="0"/>
          </a:p>
        </p:txBody>
      </p:sp>
      <p:sp>
        <p:nvSpPr>
          <p:cNvPr id="24" name="Shape 20"/>
          <p:cNvSpPr/>
          <p:nvPr/>
        </p:nvSpPr>
        <p:spPr>
          <a:xfrm>
            <a:off x="7818120" y="3931920"/>
            <a:ext cx="3824935" cy="2286000"/>
          </a:xfrm>
          <a:prstGeom prst="roundRect">
            <a:avLst>
              <a:gd name="adj" fmla="val 5600"/>
            </a:avLst>
          </a:prstGeom>
          <a:solidFill>
            <a:srgbClr val="06120D"/>
          </a:solidFill>
          <a:ln/>
        </p:spPr>
      </p:sp>
      <p:pic>
        <p:nvPicPr>
          <p:cNvPr id="25" name="Image 2" descr="F:\Office Project\Crita Portfolio\portfolio\ppt\brand\c.png">    </p:cNvPr>
          <p:cNvPicPr>
            <a:picLocks noChangeAspect="1"/>
          </p:cNvPicPr>
          <p:nvPr/>
        </p:nvPicPr>
        <p:blipFill>
          <a:blip r:embed="rId3"/>
          <a:stretch>
            <a:fillRect/>
          </a:stretch>
        </p:blipFill>
        <p:spPr>
          <a:xfrm>
            <a:off x="8092440" y="4201668"/>
            <a:ext cx="182880" cy="134417"/>
          </a:xfrm>
          <a:prstGeom prst="rect">
            <a:avLst/>
          </a:prstGeom>
        </p:spPr>
      </p:pic>
      <p:sp>
        <p:nvSpPr>
          <p:cNvPr id="26" name="Text 21"/>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LIVE PRODUCT</a:t>
            </a:r>
            <a:endParaRPr lang="en-US" sz="900" dirty="0"/>
          </a:p>
        </p:txBody>
      </p:sp>
      <p:sp>
        <p:nvSpPr>
          <p:cNvPr id="27" name="Text 22">
            <a:hlinkClick r:id="rId4" tooltip="Veloce Scrap Management"/>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4" invalidUrl="" action="" tgtFrame="" tooltip="Veloce Scrap Management" history="1" highlightClick="0" endSnd="0">
                  <a:extLst>
                    <a:ext uri="{A12FA001-AC4F-418D-AE19-62706E023703}">
                      <ahyp:hlinkClr xmlns:ahyp="http://schemas.microsoft.com/office/drawing/2018/hyperlinkcolor" val="tx"/>
                    </a:ext>
                  </a:extLst>
                </a:hlinkClick>
              </a:rPr>
              <a:t>View live project →</a:t>
            </a:r>
            <a:endParaRPr lang="en-US" sz="1600" dirty="0"/>
          </a:p>
        </p:txBody>
      </p:sp>
      <p:sp>
        <p:nvSpPr>
          <p:cNvPr id="28" name="Text 23"/>
          <p:cNvSpPr txBox="1"/>
          <p:nvPr/>
        </p:nvSpPr>
        <p:spPr>
          <a:xfrm>
            <a:off x="8092440" y="4873752"/>
            <a:ext cx="3276295" cy="228600"/>
          </a:xfrm>
          <a:prstGeom prst="rect">
            <a:avLst/>
          </a:prstGeom>
          <a:noFill/>
          <a:ln/>
        </p:spPr>
        <p:txBody>
          <a:bodyPr wrap="square" lIns="0" tIns="0" rIns="0" bIns="0" rtlCol="0" anchor="t"/>
          <a:lstStyle/>
          <a:p>
            <a:pPr indent="0" marL="0">
              <a:buNone/>
            </a:pPr>
            <a:r>
              <a:rPr lang="en-US" sz="900" dirty="0">
                <a:solidFill>
                  <a:srgbClr val="8C938B"/>
                </a:solidFill>
              </a:rPr>
              <a:t>Veloce Scrap Management</a:t>
            </a:r>
            <a:endParaRPr lang="en-US" sz="900" dirty="0"/>
          </a:p>
        </p:txBody>
      </p:sp>
      <p:sp>
        <p:nvSpPr>
          <p:cNvPr id="29" name="Shape 24">
            <a:hlinkClick r:id="rId5" tooltip="Veloce Scrap Management"/>
          </p:cNvPr>
          <p:cNvSpPr/>
          <p:nvPr/>
        </p:nvSpPr>
        <p:spPr>
          <a:xfrm>
            <a:off x="8092440" y="4873752"/>
            <a:ext cx="1609344" cy="228600"/>
          </a:xfrm>
          <a:prstGeom prst="rect">
            <a:avLst/>
          </a:prstGeom>
          <a:solidFill>
            <a:srgbClr val="FFFFFF">
              <a:alpha val="0"/>
            </a:srgbClr>
          </a:solidFill>
          <a:ln/>
        </p:spPr>
      </p:sp>
      <p:sp>
        <p:nvSpPr>
          <p:cNvPr id="30" name="Text 25"/>
          <p:cNvSpPr txBox="1"/>
          <p:nvPr/>
        </p:nvSpPr>
        <p:spPr>
          <a:xfrm>
            <a:off x="8092440" y="5257800"/>
            <a:ext cx="3276295" cy="731520"/>
          </a:xfrm>
          <a:prstGeom prst="rect">
            <a:avLst/>
          </a:prstGeom>
          <a:noFill/>
          <a:ln/>
        </p:spPr>
        <p:txBody>
          <a:bodyPr wrap="square" lIns="0" tIns="0" rIns="0" bIns="0" rtlCol="0" anchor="t"/>
          <a:lstStyle/>
          <a:p>
            <a:pPr indent="0" marL="0">
              <a:buNone/>
            </a:pPr>
            <a:r>
              <a:rPr lang="en-US" sz="1050" dirty="0">
                <a:solidFill>
                  <a:srgbClr val="BFC4BA"/>
                </a:solidFill>
              </a:rPr>
              <a:t>Live demo: Admin, Owner and Supervisor views.</a:t>
            </a:r>
            <a:endParaRPr lang="en-US" sz="1050" dirty="0"/>
          </a:p>
        </p:txBody>
      </p:sp>
      <p:sp>
        <p:nvSpPr>
          <p:cNvPr id="31" name="Text 26"/>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800" dirty="0">
                <a:solidFill>
                  <a:srgbClr val="5C6A62"/>
                </a:solidFill>
              </a:rPr>
              <a:t>Screens from the live demonstration yard.</a:t>
            </a:r>
            <a:endParaRPr lang="en-US" sz="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3241B"/>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8C938B"/>
                </a:solidFill>
              </a:rPr>
              <a:t>02 — CAFÉ POS, BACK OFFICE &amp; ORDERING APP</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EEF0E6"/>
                </a:solidFill>
              </a:rPr>
              <a:t>Tribal Brew Coffee</a:t>
            </a:r>
            <a:endParaRPr lang="en-US" sz="4000" dirty="0"/>
          </a:p>
        </p:txBody>
      </p:sp>
      <p:sp>
        <p:nvSpPr>
          <p:cNvPr id="5" name="Text 2"/>
          <p:cNvSpPr txBox="1"/>
          <p:nvPr/>
        </p:nvSpPr>
        <p:spPr>
          <a:xfrm>
            <a:off x="548640" y="1883664"/>
            <a:ext cx="4572000" cy="777240"/>
          </a:xfrm>
          <a:prstGeom prst="rect">
            <a:avLst/>
          </a:prstGeom>
          <a:noFill/>
          <a:ln/>
        </p:spPr>
        <p:txBody>
          <a:bodyPr wrap="square" lIns="0" tIns="0" rIns="0" bIns="0" rtlCol="0" anchor="t"/>
          <a:lstStyle/>
          <a:p>
            <a:pPr indent="0" marL="0">
              <a:lnSpc>
                <a:spcPct val="108000"/>
              </a:lnSpc>
              <a:buNone/>
            </a:pPr>
            <a:r>
              <a:rPr lang="en-US" sz="1650" dirty="0">
                <a:solidFill>
                  <a:srgbClr val="EEF0E6"/>
                </a:solidFill>
                <a:latin typeface="Satoshi Medium" pitchFamily="34" charset="0"/>
                <a:ea typeface="Satoshi Medium" pitchFamily="34" charset="-122"/>
                <a:cs typeface="Satoshi Medium" pitchFamily="34" charset="-120"/>
              </a:rPr>
              <a:t>One menu for every outlet — from the counter to the customer’s phone.</a:t>
            </a:r>
            <a:endParaRPr lang="en-US" sz="1650" dirty="0"/>
          </a:p>
        </p:txBody>
      </p:sp>
      <p:sp>
        <p:nvSpPr>
          <p:cNvPr id="6" name="Text 3"/>
          <p:cNvSpPr txBox="1"/>
          <p:nvPr/>
        </p:nvSpPr>
        <p:spPr>
          <a:xfrm>
            <a:off x="548640" y="2706624"/>
            <a:ext cx="4572000" cy="1325880"/>
          </a:xfrm>
          <a:prstGeom prst="rect">
            <a:avLst/>
          </a:prstGeom>
          <a:noFill/>
          <a:ln/>
        </p:spPr>
        <p:txBody>
          <a:bodyPr wrap="square" lIns="0" tIns="0" rIns="0" bIns="0" rtlCol="0" anchor="t"/>
          <a:lstStyle/>
          <a:p>
            <a:pPr indent="0" marL="0">
              <a:lnSpc>
                <a:spcPct val="115000"/>
              </a:lnSpc>
              <a:buNone/>
            </a:pPr>
            <a:r>
              <a:rPr lang="en-US" sz="1100" dirty="0">
                <a:solidFill>
                  <a:srgbClr val="BFC4BA"/>
                </a:solidFill>
              </a:rPr>
              <a:t>A point of sale and back office for a multi-outlet coffee chain, with a customer ordering app. Outlet teams bill at the counter, head office runs the menu, offers, outlets and reports from one system, and customers browse the same live menu on their phones.</a:t>
            </a:r>
            <a:endParaRPr lang="en-US" sz="1100" dirty="0"/>
          </a:p>
        </p:txBody>
      </p:sp>
      <p:sp>
        <p:nvSpPr>
          <p:cNvPr id="7" name="Shape 4"/>
          <p:cNvSpPr/>
          <p:nvPr/>
        </p:nvSpPr>
        <p:spPr>
          <a:xfrm>
            <a:off x="548640" y="4754880"/>
            <a:ext cx="4572000" cy="0"/>
          </a:xfrm>
          <a:prstGeom prst="line">
            <a:avLst/>
          </a:prstGeom>
          <a:noFill/>
          <a:ln w="9525">
            <a:solidFill>
              <a:srgbClr val="2A3832"/>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CLIENT</a:t>
            </a:r>
            <a:endParaRPr lang="en-US" sz="800" dirty="0"/>
          </a:p>
          <a:p>
            <a:pPr indent="0" marL="0">
              <a:spcAft>
                <a:spcPts val="200"/>
              </a:spcAft>
              <a:buNone/>
            </a:pPr>
            <a:r>
              <a:rPr lang="en-US" sz="1100" b="1" dirty="0">
                <a:solidFill>
                  <a:srgbClr val="EEF0E6"/>
                </a:solidFill>
              </a:rPr>
              <a:t>Tribal Brew Coffee</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SECTOR</a:t>
            </a:r>
            <a:endParaRPr lang="en-US" sz="800" dirty="0"/>
          </a:p>
          <a:p>
            <a:pPr indent="0" marL="0">
              <a:spcAft>
                <a:spcPts val="200"/>
              </a:spcAft>
              <a:buNone/>
            </a:pPr>
            <a:r>
              <a:rPr lang="en-US" sz="1100" b="1" dirty="0">
                <a:solidFill>
                  <a:srgbClr val="EEF0E6"/>
                </a:solidFill>
              </a:rPr>
              <a:t>Café &amp; food service</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PLATFORM</a:t>
            </a:r>
            <a:endParaRPr lang="en-US" sz="800" dirty="0"/>
          </a:p>
          <a:p>
            <a:pPr indent="0" marL="0">
              <a:spcAft>
                <a:spcPts val="200"/>
              </a:spcAft>
              <a:buNone/>
            </a:pPr>
            <a:r>
              <a:rPr lang="en-US" sz="1100" b="1" dirty="0">
                <a:solidFill>
                  <a:srgbClr val="EEF0E6"/>
                </a:solidFill>
              </a:rPr>
              <a:t>Web POS ·​ Mobile app</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ROLES</a:t>
            </a:r>
            <a:endParaRPr lang="en-US" sz="800" dirty="0"/>
          </a:p>
          <a:p>
            <a:pPr indent="0" marL="0">
              <a:spcAft>
                <a:spcPts val="200"/>
              </a:spcAft>
              <a:buNone/>
            </a:pPr>
            <a:r>
              <a:rPr lang="en-US" sz="1100" b="1" dirty="0">
                <a:solidFill>
                  <a:srgbClr val="EEF0E6"/>
                </a:solidFill>
              </a:rPr>
              <a:t>Head office ·​ Outlet staff ·​ Customers</a:t>
            </a:r>
            <a:endParaRPr lang="en-US" sz="800" dirty="0"/>
          </a:p>
        </p:txBody>
      </p:sp>
      <p:pic>
        <p:nvPicPr>
          <p:cNvPr id="12" name="reveal-1" descr="Tribal Brew Coffee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13</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Many cafés, one menu, no single system.</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Tribal Brew runs cafés across Bengaluru and Mysuru, plus pop-ups at events. Every counter needs fast billing with the right drink options and taxes, every outlet needs the same menu and prices, and customers now expect to order from their phones.</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A counter POS, a central back office and a customer app on one catalogue.</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a web POS for the counter — categories, search, drink options with their own prices, GST on every bill and order status — on a back office where head office manages items, modifier groups, discounts, outlets, staff roles and reports. The customer app reads the same live menu and outlet list, so what customers see is what the counter sells.</a:t>
            </a:r>
            <a:endParaRPr lang="en-US" sz="1150" dirty="0"/>
          </a:p>
        </p:txBody>
      </p:sp>
      <p:sp>
        <p:nvSpPr>
          <p:cNvPr id="10" name="Shape 6"/>
          <p:cNvSpPr/>
          <p:nvPr/>
        </p:nvSpPr>
        <p:spPr>
          <a:xfrm>
            <a:off x="5760720" y="502920"/>
            <a:ext cx="5879592" cy="5715000"/>
          </a:xfrm>
          <a:prstGeom prst="roundRect">
            <a:avLst>
              <a:gd name="adj" fmla="val 2560"/>
            </a:avLst>
          </a:prstGeom>
          <a:solidFill>
            <a:srgbClr val="F3EDE6"/>
          </a:solidFill>
          <a:ln/>
        </p:spPr>
      </p:sp>
      <p:pic>
        <p:nvPicPr>
          <p:cNvPr id="11" name="Image 2" descr="Tribal Brew Coffee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DE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Tribal Brew Coffee.</a:t>
            </a:r>
            <a:endParaRPr lang="en-US" sz="2800" dirty="0"/>
          </a:p>
        </p:txBody>
      </p:sp>
      <p:pic>
        <p:nvPicPr>
          <p:cNvPr id="5" name="reveal-1" descr="Orders at the counter">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Orders at the counter</a:t>
            </a:r>
            <a:endParaRPr lang="en-US" sz="950" dirty="0"/>
          </a:p>
          <a:p>
            <a:pPr indent="0" marL="0">
              <a:spcAft>
                <a:spcPts val="300"/>
              </a:spcAft>
              <a:buNone/>
            </a:pPr>
            <a:r>
              <a:rPr lang="en-US" sz="1100" dirty="0">
                <a:solidFill>
                  <a:srgbClr val="5C6A62"/>
                </a:solidFill>
              </a:rPr>
              <a:t>Tap items, choose milk, roast and sweetener, and the bill — with tax — builds as you go.</a:t>
            </a:r>
            <a:endParaRPr lang="en-US" sz="950" dirty="0"/>
          </a:p>
        </p:txBody>
      </p:sp>
      <p:pic>
        <p:nvPicPr>
          <p:cNvPr id="7" name="reveal-2" descr="Every bill, every outlet">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Every bill, every outlet</a:t>
            </a:r>
            <a:endParaRPr lang="en-US" sz="950" dirty="0"/>
          </a:p>
          <a:p>
            <a:pPr indent="0" marL="0">
              <a:spcAft>
                <a:spcPts val="300"/>
              </a:spcAft>
              <a:buNone/>
            </a:pPr>
            <a:r>
              <a:rPr lang="en-US" sz="1100" dirty="0">
                <a:solidFill>
                  <a:srgbClr val="5C6A62"/>
                </a:solidFill>
              </a:rPr>
              <a:t>Takeaway and held bills per outlet, with status and totals at a glance.</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DE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Tribal Brew Coffee.</a:t>
            </a:r>
            <a:endParaRPr lang="en-US" sz="2800" dirty="0"/>
          </a:p>
        </p:txBody>
      </p:sp>
      <p:pic>
        <p:nvPicPr>
          <p:cNvPr id="5" name="reveal-1" descr="A menu managed once">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A menu managed once</a:t>
            </a:r>
            <a:endParaRPr lang="en-US" sz="950" dirty="0"/>
          </a:p>
          <a:p>
            <a:pPr indent="0" marL="0">
              <a:spcAft>
                <a:spcPts val="300"/>
              </a:spcAft>
              <a:buNone/>
            </a:pPr>
            <a:r>
              <a:rPr lang="en-US" sz="1100" dirty="0">
                <a:solidFill>
                  <a:srgbClr val="5C6A62"/>
                </a:solidFill>
              </a:rPr>
              <a:t>Items with photos, prices and categories, assigned to the outlets that sell them.</a:t>
            </a:r>
            <a:endParaRPr lang="en-US" sz="950" dirty="0"/>
          </a:p>
        </p:txBody>
      </p:sp>
      <p:pic>
        <p:nvPicPr>
          <p:cNvPr id="7" name="reveal-2" descr="The same menu, on the customer’s phone">    </p:cNvPr>
          <p:cNvPicPr>
            <a:picLocks noChangeAspect="1"/>
          </p:cNvPicPr>
          <p:nvPr/>
        </p:nvPicPr>
        <p:blipFill>
          <a:blip r:embed="rId3"/>
          <a:stretch>
            <a:fillRect/>
          </a:stretch>
        </p:blipFill>
        <p:spPr>
          <a:xfrm>
            <a:off x="5915291" y="1359985"/>
            <a:ext cx="2649359" cy="5238080"/>
          </a:xfrm>
          <a:prstGeom prst="rect">
            <a:avLst/>
          </a:prstGeom>
        </p:spPr>
      </p:pic>
      <p:sp>
        <p:nvSpPr>
          <p:cNvPr id="8" name="Text 3"/>
          <p:cNvSpPr txBox="1"/>
          <p:nvPr/>
        </p:nvSpPr>
        <p:spPr>
          <a:xfrm>
            <a:off x="8567928"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04</a:t>
            </a:r>
            <a:endParaRPr lang="en-US" sz="950" dirty="0"/>
          </a:p>
          <a:p>
            <a:pPr indent="0" marL="0">
              <a:spcAft>
                <a:spcPts val="400"/>
              </a:spcAft>
              <a:buNone/>
            </a:pPr>
            <a:r>
              <a:rPr lang="en-US" sz="1500" b="1" dirty="0">
                <a:solidFill>
                  <a:srgbClr val="0D1813"/>
                </a:solidFill>
              </a:rPr>
              <a:t>The same menu, on the customer’s phone</a:t>
            </a:r>
            <a:endParaRPr lang="en-US" sz="950" dirty="0"/>
          </a:p>
          <a:p>
            <a:pPr indent="0" marL="0">
              <a:spcAft>
                <a:spcPts val="400"/>
              </a:spcAft>
              <a:buNone/>
            </a:pPr>
            <a:r>
              <a:rPr lang="en-US" sz="1100" dirty="0">
                <a:solidFill>
                  <a:srgbClr val="5C6A62"/>
                </a:solidFill>
              </a:rPr>
              <a:t>The ordering app shows each café’s live menu, photos and prices.</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Tribal Brew Coffee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Counter-speed POS</a:t>
            </a:r>
            <a:endParaRPr lang="en-US" sz="950" dirty="0"/>
          </a:p>
          <a:p>
            <a:pPr indent="0" marL="0">
              <a:spcAft>
                <a:spcPts val="300"/>
              </a:spcAft>
              <a:buNone/>
            </a:pPr>
            <a:r>
              <a:rPr lang="en-US" sz="1050" dirty="0">
                <a:solidFill>
                  <a:srgbClr val="5C6A62"/>
                </a:solidFill>
              </a:rPr>
              <a:t>Categories, search by name or POS code and a running bill with tax — built for the queue at the counter.</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Drink options that price themselves</a:t>
            </a:r>
            <a:endParaRPr lang="en-US" sz="950" dirty="0"/>
          </a:p>
          <a:p>
            <a:pPr indent="0" marL="0">
              <a:spcAft>
                <a:spcPts val="300"/>
              </a:spcAft>
              <a:buNone/>
            </a:pPr>
            <a:r>
              <a:rPr lang="en-US" sz="1050" dirty="0">
                <a:solidFill>
                  <a:srgbClr val="5C6A62"/>
                </a:solidFill>
              </a:rPr>
              <a:t>Milk, roast and sweetener choices carry their own surcharges, applied as the order is taken.</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Bills and order status</a:t>
            </a:r>
            <a:endParaRPr lang="en-US" sz="950" dirty="0"/>
          </a:p>
          <a:p>
            <a:pPr indent="0" marL="0">
              <a:spcAft>
                <a:spcPts val="300"/>
              </a:spcAft>
              <a:buNone/>
            </a:pPr>
            <a:r>
              <a:rPr lang="en-US" sz="1050" dirty="0">
                <a:solidFill>
                  <a:srgbClr val="5C6A62"/>
                </a:solidFill>
              </a:rPr>
              <a:t>Every bill per outlet with its items, GST split and status — ready to pick up, completed or cancelled.</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One catalogue for every outlet</a:t>
            </a:r>
            <a:endParaRPr lang="en-US" sz="950" dirty="0"/>
          </a:p>
          <a:p>
            <a:pPr indent="0" marL="0">
              <a:spcAft>
                <a:spcPts val="300"/>
              </a:spcAft>
              <a:buNone/>
            </a:pPr>
            <a:r>
              <a:rPr lang="en-US" sz="1050" dirty="0">
                <a:solidFill>
                  <a:srgbClr val="5C6A62"/>
                </a:solidFill>
              </a:rPr>
              <a:t>Items, categories, modifier groups, taxes and charges, managed centrally and assigned to the outlets that sell them.</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Offers under control</a:t>
            </a:r>
            <a:endParaRPr lang="en-US" sz="950" dirty="0"/>
          </a:p>
          <a:p>
            <a:pPr indent="0" marL="0">
              <a:spcAft>
                <a:spcPts val="300"/>
              </a:spcAft>
              <a:buNone/>
            </a:pPr>
            <a:r>
              <a:rPr lang="en-US" sz="1050" dirty="0">
                <a:solidFill>
                  <a:srgbClr val="5C6A62"/>
                </a:solidFill>
              </a:rPr>
              <a:t>Discounts for staff, reviews, events and subscriptions, defined once by head office.</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Customer ordering app</a:t>
            </a:r>
            <a:endParaRPr lang="en-US" sz="950" dirty="0"/>
          </a:p>
          <a:p>
            <a:pPr indent="0" marL="0">
              <a:spcAft>
                <a:spcPts val="300"/>
              </a:spcAft>
              <a:buNone/>
            </a:pPr>
            <a:r>
              <a:rPr lang="en-US" sz="1050" dirty="0">
                <a:solidFill>
                  <a:srgbClr val="5C6A62"/>
                </a:solidFill>
              </a:rPr>
              <a:t>Customers pick their café, browse the live menu with photos and prices, and customise drinks before ordering.</a:t>
            </a:r>
            <a:endParaRPr lang="en-US" sz="950" dirty="0"/>
          </a:p>
        </p:txBody>
      </p:sp>
      <p:sp>
        <p:nvSpPr>
          <p:cNvPr id="17" name="Shape 14"/>
          <p:cNvSpPr/>
          <p:nvPr/>
        </p:nvSpPr>
        <p:spPr>
          <a:xfrm>
            <a:off x="8503920" y="502920"/>
            <a:ext cx="3136392" cy="5715000"/>
          </a:xfrm>
          <a:prstGeom prst="roundRect">
            <a:avLst>
              <a:gd name="adj" fmla="val 4665"/>
            </a:avLst>
          </a:prstGeom>
          <a:solidFill>
            <a:srgbClr val="33241B"/>
          </a:solidFill>
          <a:ln/>
        </p:spPr>
      </p:sp>
      <p:pic>
        <p:nvPicPr>
          <p:cNvPr id="18" name="Image 1" descr="Tribal Brew Coffee on a phone">    </p:cNvPr>
          <p:cNvPicPr>
            <a:picLocks noChangeAspect="1"/>
          </p:cNvPicPr>
          <p:nvPr/>
        </p:nvPicPr>
        <p:blipFill>
          <a:blip r:embed="rId2"/>
          <a:stretch>
            <a:fillRect/>
          </a:stretch>
        </p:blipFill>
        <p:spPr>
          <a:xfrm>
            <a:off x="8568870" y="489444"/>
            <a:ext cx="3006492" cy="5909601"/>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3241B"/>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every role.</a:t>
            </a:r>
            <a:endParaRPr lang="en-US" sz="2800" dirty="0"/>
          </a:p>
        </p:txBody>
      </p:sp>
      <p:pic>
        <p:nvPicPr>
          <p:cNvPr id="5" name="Image 1" descr="Head office view">    </p:cNvPr>
          <p:cNvPicPr>
            <a:picLocks noChangeAspect="1"/>
          </p:cNvPicPr>
          <p:nvPr/>
        </p:nvPicPr>
        <p:blipFill>
          <a:blip r:embed="rId2"/>
          <a:stretch>
            <a:fillRect/>
          </a:stretch>
        </p:blipFill>
        <p:spPr>
          <a:xfrm>
            <a:off x="352829" y="1882139"/>
            <a:ext cx="3876401" cy="2548866"/>
          </a:xfrm>
          <a:prstGeom prst="rect">
            <a:avLst/>
          </a:prstGeom>
        </p:spPr>
      </p:pic>
      <p:sp>
        <p:nvSpPr>
          <p:cNvPr id="6" name="Shape 2"/>
          <p:cNvSpPr/>
          <p:nvPr/>
        </p:nvSpPr>
        <p:spPr>
          <a:xfrm>
            <a:off x="548640" y="4315968"/>
            <a:ext cx="3484778" cy="0"/>
          </a:xfrm>
          <a:prstGeom prst="line">
            <a:avLst/>
          </a:prstGeom>
          <a:noFill/>
          <a:ln w="9525">
            <a:solidFill>
              <a:srgbClr val="2A3832"/>
            </a:solidFill>
            <a:prstDash val="solid"/>
          </a:ln>
        </p:spPr>
      </p:sp>
      <p:sp>
        <p:nvSpPr>
          <p:cNvPr id="7" name="Text 3"/>
          <p:cNvSpPr txBox="1"/>
          <p:nvPr/>
        </p:nvSpPr>
        <p:spPr>
          <a:xfrm>
            <a:off x="548640"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BACK OFFICE · WEB</a:t>
            </a:r>
            <a:endParaRPr lang="en-US" sz="800" dirty="0"/>
          </a:p>
          <a:p>
            <a:pPr indent="0" marL="0">
              <a:spcAft>
                <a:spcPts val="200"/>
              </a:spcAft>
              <a:buNone/>
            </a:pPr>
            <a:r>
              <a:rPr lang="en-US" sz="1700" b="1" dirty="0">
                <a:solidFill>
                  <a:srgbClr val="EEF0E6"/>
                </a:solidFill>
              </a:rPr>
              <a:t>Head office</a:t>
            </a:r>
            <a:endParaRPr lang="en-US" sz="800" dirty="0"/>
          </a:p>
          <a:p>
            <a:pPr indent="0" marL="0">
              <a:spcAft>
                <a:spcPts val="200"/>
              </a:spcAft>
              <a:buNone/>
            </a:pPr>
            <a:r>
              <a:rPr lang="en-US" sz="1100" dirty="0">
                <a:solidFill>
                  <a:srgbClr val="EEF0E6"/>
                </a:solidFill>
              </a:rPr>
              <a:t>Runs the menu, offers and outlets.</a:t>
            </a:r>
            <a:endParaRPr lang="en-US" sz="800" dirty="0"/>
          </a:p>
        </p:txBody>
      </p:sp>
      <p:sp>
        <p:nvSpPr>
          <p:cNvPr id="8" name="Text 4"/>
          <p:cNvSpPr txBox="1"/>
          <p:nvPr/>
        </p:nvSpPr>
        <p:spPr>
          <a:xfrm>
            <a:off x="548640"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Items, categories and modifier groups</a:t>
            </a:r>
            <a:endParaRPr lang="en-US" sz="1000" dirty="0"/>
          </a:p>
          <a:p>
            <a:pPr marL="165100" indent="-165100">
              <a:spcAft>
                <a:spcPts val="400"/>
              </a:spcAft>
              <a:buSzPct val="100000"/>
              <a:buChar char="•"/>
            </a:pPr>
            <a:r>
              <a:rPr lang="en-US" sz="1000" dirty="0">
                <a:solidFill>
                  <a:srgbClr val="BFC4BA"/>
                </a:solidFill>
              </a:rPr>
              <a:t>Discounts, taxes and charges</a:t>
            </a:r>
            <a:endParaRPr lang="en-US" sz="1000" dirty="0"/>
          </a:p>
          <a:p>
            <a:pPr marL="165100" indent="-165100">
              <a:spcAft>
                <a:spcPts val="400"/>
              </a:spcAft>
              <a:buSzPct val="100000"/>
              <a:buChar char="•"/>
            </a:pPr>
            <a:r>
              <a:rPr lang="en-US" sz="1000" dirty="0">
                <a:solidFill>
                  <a:srgbClr val="BFC4BA"/>
                </a:solidFill>
              </a:rPr>
              <a:t>Outlets, staff roles and employees</a:t>
            </a:r>
            <a:endParaRPr lang="en-US" sz="1000" dirty="0"/>
          </a:p>
          <a:p>
            <a:pPr marL="165100" indent="-165100">
              <a:spcAft>
                <a:spcPts val="400"/>
              </a:spcAft>
              <a:buSzPct val="100000"/>
              <a:buChar char="•"/>
            </a:pPr>
            <a:r>
              <a:rPr lang="en-US" sz="1000" dirty="0">
                <a:solidFill>
                  <a:srgbClr val="BFC4BA"/>
                </a:solidFill>
              </a:rPr>
              <a:t>Sales, product, category and tax reports</a:t>
            </a:r>
            <a:endParaRPr lang="en-US" sz="1000" dirty="0"/>
          </a:p>
        </p:txBody>
      </p:sp>
      <p:pic>
        <p:nvPicPr>
          <p:cNvPr id="9" name="Image 2" descr="Outlet staff view">    </p:cNvPr>
          <p:cNvPicPr>
            <a:picLocks noChangeAspect="1"/>
          </p:cNvPicPr>
          <p:nvPr/>
        </p:nvPicPr>
        <p:blipFill>
          <a:blip r:embed="rId3"/>
          <a:stretch>
            <a:fillRect/>
          </a:stretch>
        </p:blipFill>
        <p:spPr>
          <a:xfrm>
            <a:off x="4157647" y="1882139"/>
            <a:ext cx="3876401" cy="2548866"/>
          </a:xfrm>
          <a:prstGeom prst="rect">
            <a:avLst/>
          </a:prstGeom>
        </p:spPr>
      </p:pic>
      <p:sp>
        <p:nvSpPr>
          <p:cNvPr id="10" name="Shape 5"/>
          <p:cNvSpPr/>
          <p:nvPr/>
        </p:nvSpPr>
        <p:spPr>
          <a:xfrm>
            <a:off x="4353458" y="4315968"/>
            <a:ext cx="3484778" cy="0"/>
          </a:xfrm>
          <a:prstGeom prst="line">
            <a:avLst/>
          </a:prstGeom>
          <a:noFill/>
          <a:ln w="9525">
            <a:solidFill>
              <a:srgbClr val="2A3832"/>
            </a:solidFill>
            <a:prstDash val="solid"/>
          </a:ln>
        </p:spPr>
      </p:sp>
      <p:sp>
        <p:nvSpPr>
          <p:cNvPr id="11" name="Text 6"/>
          <p:cNvSpPr txBox="1"/>
          <p:nvPr/>
        </p:nvSpPr>
        <p:spPr>
          <a:xfrm>
            <a:off x="4353458"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POS · WEB</a:t>
            </a:r>
            <a:endParaRPr lang="en-US" sz="800" dirty="0"/>
          </a:p>
          <a:p>
            <a:pPr indent="0" marL="0">
              <a:spcAft>
                <a:spcPts val="200"/>
              </a:spcAft>
              <a:buNone/>
            </a:pPr>
            <a:r>
              <a:rPr lang="en-US" sz="1700" b="1" dirty="0">
                <a:solidFill>
                  <a:srgbClr val="EEF0E6"/>
                </a:solidFill>
              </a:rPr>
              <a:t>Outlet staff</a:t>
            </a:r>
            <a:endParaRPr lang="en-US" sz="800" dirty="0"/>
          </a:p>
          <a:p>
            <a:pPr indent="0" marL="0">
              <a:spcAft>
                <a:spcPts val="200"/>
              </a:spcAft>
              <a:buNone/>
            </a:pPr>
            <a:r>
              <a:rPr lang="en-US" sz="1100" dirty="0">
                <a:solidFill>
                  <a:srgbClr val="EEF0E6"/>
                </a:solidFill>
              </a:rPr>
              <a:t>Bills at the counter, fast.</a:t>
            </a:r>
            <a:endParaRPr lang="en-US" sz="800" dirty="0"/>
          </a:p>
        </p:txBody>
      </p:sp>
      <p:sp>
        <p:nvSpPr>
          <p:cNvPr id="12" name="Text 7"/>
          <p:cNvSpPr txBox="1"/>
          <p:nvPr/>
        </p:nvSpPr>
        <p:spPr>
          <a:xfrm>
            <a:off x="4353458"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Takeaway and held bills for their outlet</a:t>
            </a:r>
            <a:endParaRPr lang="en-US" sz="1000" dirty="0"/>
          </a:p>
          <a:p>
            <a:pPr marL="165100" indent="-165100">
              <a:spcAft>
                <a:spcPts val="400"/>
              </a:spcAft>
              <a:buSzPct val="100000"/>
              <a:buChar char="•"/>
            </a:pPr>
            <a:r>
              <a:rPr lang="en-US" sz="1000" dirty="0">
                <a:solidFill>
                  <a:srgbClr val="BFC4BA"/>
                </a:solidFill>
              </a:rPr>
              <a:t>Drink options and a running bill with GST</a:t>
            </a:r>
            <a:endParaRPr lang="en-US" sz="1000" dirty="0"/>
          </a:p>
          <a:p>
            <a:pPr marL="165100" indent="-165100">
              <a:spcAft>
                <a:spcPts val="400"/>
              </a:spcAft>
              <a:buSzPct val="100000"/>
              <a:buChar char="•"/>
            </a:pPr>
            <a:r>
              <a:rPr lang="en-US" sz="1000" dirty="0">
                <a:solidFill>
                  <a:srgbClr val="BFC4BA"/>
                </a:solidFill>
              </a:rPr>
              <a:t>Ready, completed and cancelled status</a:t>
            </a:r>
            <a:endParaRPr lang="en-US" sz="1000" dirty="0"/>
          </a:p>
          <a:p>
            <a:pPr marL="165100" indent="-165100">
              <a:spcAft>
                <a:spcPts val="400"/>
              </a:spcAft>
              <a:buSzPct val="100000"/>
              <a:buChar char="•"/>
            </a:pPr>
            <a:r>
              <a:rPr lang="en-US" sz="1000" dirty="0">
                <a:solidFill>
                  <a:srgbClr val="BFC4BA"/>
                </a:solidFill>
              </a:rPr>
              <a:t>Printed bills</a:t>
            </a:r>
            <a:endParaRPr lang="en-US" sz="1000" dirty="0"/>
          </a:p>
        </p:txBody>
      </p:sp>
      <p:pic>
        <p:nvPicPr>
          <p:cNvPr id="13" name="Image 3" descr="Customer view">    </p:cNvPr>
          <p:cNvPicPr>
            <a:picLocks noChangeAspect="1"/>
          </p:cNvPicPr>
          <p:nvPr/>
        </p:nvPicPr>
        <p:blipFill>
          <a:blip r:embed="rId4"/>
          <a:stretch>
            <a:fillRect/>
          </a:stretch>
        </p:blipFill>
        <p:spPr>
          <a:xfrm>
            <a:off x="7928787" y="1262722"/>
            <a:ext cx="3667950" cy="3214805"/>
          </a:xfrm>
          <a:prstGeom prst="rect">
            <a:avLst/>
          </a:prstGeom>
        </p:spPr>
      </p:pic>
      <p:sp>
        <p:nvSpPr>
          <p:cNvPr id="14" name="Shape 8"/>
          <p:cNvSpPr/>
          <p:nvPr/>
        </p:nvSpPr>
        <p:spPr>
          <a:xfrm>
            <a:off x="8158277" y="4315968"/>
            <a:ext cx="3484778" cy="0"/>
          </a:xfrm>
          <a:prstGeom prst="line">
            <a:avLst/>
          </a:prstGeom>
          <a:noFill/>
          <a:ln w="9525">
            <a:solidFill>
              <a:srgbClr val="2A3832"/>
            </a:solidFill>
            <a:prstDash val="solid"/>
          </a:ln>
        </p:spPr>
      </p:sp>
      <p:sp>
        <p:nvSpPr>
          <p:cNvPr id="15" name="Text 9"/>
          <p:cNvSpPr txBox="1"/>
          <p:nvPr/>
        </p:nvSpPr>
        <p:spPr>
          <a:xfrm>
            <a:off x="8158277"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 APP</a:t>
            </a:r>
            <a:endParaRPr lang="en-US" sz="800" dirty="0"/>
          </a:p>
          <a:p>
            <a:pPr indent="0" marL="0">
              <a:spcAft>
                <a:spcPts val="200"/>
              </a:spcAft>
              <a:buNone/>
            </a:pPr>
            <a:r>
              <a:rPr lang="en-US" sz="1700" b="1" dirty="0">
                <a:solidFill>
                  <a:srgbClr val="EEF0E6"/>
                </a:solidFill>
              </a:rPr>
              <a:t>Customer</a:t>
            </a:r>
            <a:endParaRPr lang="en-US" sz="800" dirty="0"/>
          </a:p>
          <a:p>
            <a:pPr indent="0" marL="0">
              <a:spcAft>
                <a:spcPts val="200"/>
              </a:spcAft>
              <a:buNone/>
            </a:pPr>
            <a:r>
              <a:rPr lang="en-US" sz="1100" dirty="0">
                <a:solidFill>
                  <a:srgbClr val="EEF0E6"/>
                </a:solidFill>
              </a:rPr>
              <a:t>Orders from the phone.</a:t>
            </a:r>
            <a:endParaRPr lang="en-US" sz="800" dirty="0"/>
          </a:p>
        </p:txBody>
      </p:sp>
      <p:sp>
        <p:nvSpPr>
          <p:cNvPr id="16" name="Text 10"/>
          <p:cNvSpPr txBox="1"/>
          <p:nvPr/>
        </p:nvSpPr>
        <p:spPr>
          <a:xfrm>
            <a:off x="8158277"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Nearest café and its live menu</a:t>
            </a:r>
            <a:endParaRPr lang="en-US" sz="1000" dirty="0"/>
          </a:p>
          <a:p>
            <a:pPr marL="165100" indent="-165100">
              <a:spcAft>
                <a:spcPts val="400"/>
              </a:spcAft>
              <a:buSzPct val="100000"/>
              <a:buChar char="•"/>
            </a:pPr>
            <a:r>
              <a:rPr lang="en-US" sz="1000" dirty="0">
                <a:solidFill>
                  <a:srgbClr val="BFC4BA"/>
                </a:solidFill>
              </a:rPr>
              <a:t>Photos, prices and customisable drinks</a:t>
            </a:r>
            <a:endParaRPr lang="en-US" sz="1000" dirty="0"/>
          </a:p>
          <a:p>
            <a:pPr marL="165100" indent="-165100">
              <a:spcAft>
                <a:spcPts val="400"/>
              </a:spcAft>
              <a:buSzPct val="100000"/>
              <a:buChar char="•"/>
            </a:pPr>
            <a:r>
              <a:rPr lang="en-US" sz="1000" dirty="0">
                <a:solidFill>
                  <a:srgbClr val="BFC4BA"/>
                </a:solidFill>
              </a:rPr>
              <a:t>Every café and its character</a:t>
            </a:r>
            <a:endParaRPr lang="en-US" sz="1000" dirty="0"/>
          </a:p>
          <a:p>
            <a:pPr marL="165100" indent="-165100">
              <a:spcAft>
                <a:spcPts val="400"/>
              </a:spcAft>
              <a:buSzPct val="100000"/>
              <a:buChar char="•"/>
            </a:pPr>
            <a:r>
              <a:rPr lang="en-US" sz="1000" dirty="0">
                <a:solidFill>
                  <a:srgbClr val="BFC4BA"/>
                </a:solidFill>
              </a:rPr>
              <a:t>Help centre and order history</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3241B"/>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The café, in the customer’s pocket.</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BFC4BA"/>
                </a:solidFill>
              </a:rPr>
              <a:t>The ordering app opens on the nearest café with its live menu and prices — the same catalogue the counter sells from.</a:t>
            </a:r>
            <a:endParaRPr lang="en-US" sz="1300" dirty="0"/>
          </a:p>
        </p:txBody>
      </p:sp>
      <p:pic>
        <p:nvPicPr>
          <p:cNvPr id="6" name="reveal-1" descr="Tribal Brew Coffee on phones">    </p:cNvPr>
          <p:cNvPicPr>
            <a:picLocks noChangeAspect="1"/>
          </p:cNvPicPr>
          <p:nvPr/>
        </p:nvPicPr>
        <p:blipFill>
          <a:blip r:embed="rId2"/>
          <a:stretch>
            <a:fillRect/>
          </a:stretch>
        </p:blipFill>
        <p:spPr>
          <a:xfrm>
            <a:off x="4303014" y="1317879"/>
            <a:ext cx="7670292" cy="4336542"/>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One menu, everywhere</a:t>
            </a:r>
            <a:endParaRPr lang="en-US" sz="1450" dirty="0"/>
          </a:p>
          <a:p>
            <a:pPr indent="0" marL="0">
              <a:spcAft>
                <a:spcPts val="300"/>
              </a:spcAft>
              <a:buNone/>
            </a:pPr>
            <a:r>
              <a:rPr lang="en-US" sz="1050" dirty="0">
                <a:solidFill>
                  <a:srgbClr val="5C6A62"/>
                </a:solidFill>
              </a:rPr>
              <a:t>Prices, options and offers change once and reach every outlet and the app.</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Faster counters</a:t>
            </a:r>
            <a:endParaRPr lang="en-US" sz="1450" dirty="0"/>
          </a:p>
          <a:p>
            <a:pPr indent="0" marL="0">
              <a:spcAft>
                <a:spcPts val="300"/>
              </a:spcAft>
              <a:buNone/>
            </a:pPr>
            <a:r>
              <a:rPr lang="en-US" sz="1050" dirty="0">
                <a:solidFill>
                  <a:srgbClr val="5C6A62"/>
                </a:solidFill>
              </a:rPr>
              <a:t>Drink options and taxes are applied as the order is taken, not worked out by hand.</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Offers that stay controlled</a:t>
            </a:r>
            <a:endParaRPr lang="en-US" sz="1450" dirty="0"/>
          </a:p>
          <a:p>
            <a:pPr indent="0" marL="0">
              <a:spcAft>
                <a:spcPts val="300"/>
              </a:spcAft>
              <a:buNone/>
            </a:pPr>
            <a:r>
              <a:rPr lang="en-US" sz="1050" dirty="0">
                <a:solidFill>
                  <a:srgbClr val="5C6A62"/>
                </a:solidFill>
              </a:rPr>
              <a:t>Discounts are set by head office, not improvised at the counter.</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Ready for direct orders</a:t>
            </a:r>
            <a:endParaRPr lang="en-US" sz="1450" dirty="0"/>
          </a:p>
          <a:p>
            <a:pPr indent="0" marL="0">
              <a:spcAft>
                <a:spcPts val="300"/>
              </a:spcAft>
              <a:buNone/>
            </a:pPr>
            <a:r>
              <a:rPr lang="en-US" sz="1050" dirty="0">
                <a:solidFill>
                  <a:srgbClr val="5C6A62"/>
                </a:solidFill>
              </a:rPr>
              <a:t>The customer app runs on the same system as the outlets.</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Web POS and customer app on one API and one catalogue</a:t>
            </a:r>
            <a:endParaRPr lang="en-US" sz="1150" dirty="0"/>
          </a:p>
          <a:p>
            <a:pPr marL="165100" indent="-165100">
              <a:spcAft>
                <a:spcPts val="400"/>
              </a:spcAft>
              <a:buSzPct val="100000"/>
              <a:buChar char="•"/>
            </a:pPr>
            <a:r>
              <a:rPr lang="en-US" sz="1150" dirty="0">
                <a:solidFill>
                  <a:srgbClr val="34433B"/>
                </a:solidFill>
              </a:rPr>
              <a:t>Drink options with their own prices, applied as orders are taken</a:t>
            </a:r>
            <a:endParaRPr lang="en-US" sz="1150" dirty="0"/>
          </a:p>
          <a:p>
            <a:pPr marL="165100" indent="-165100">
              <a:spcAft>
                <a:spcPts val="400"/>
              </a:spcAft>
              <a:buSzPct val="100000"/>
              <a:buChar char="•"/>
            </a:pPr>
            <a:r>
              <a:rPr lang="en-US" sz="1150" dirty="0">
                <a:solidFill>
                  <a:srgbClr val="34433B"/>
                </a:solidFill>
              </a:rPr>
              <a:t>GST split on every bill; outlet reports downloadable as PDF or Excel</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Angular</a:t>
            </a:r>
            <a:endParaRPr lang="en-US" sz="950" dirty="0"/>
          </a:p>
        </p:txBody>
      </p:sp>
      <p:sp>
        <p:nvSpPr>
          <p:cNvPr id="19" name="Text 14"/>
          <p:cNvSpPr txBox="1"/>
          <p:nvPr/>
        </p:nvSpPr>
        <p:spPr>
          <a:xfrm>
            <a:off x="8609990" y="896112"/>
            <a:ext cx="1455725"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 Native (Expo)</a:t>
            </a:r>
            <a:endParaRPr lang="en-US" sz="950" dirty="0"/>
          </a:p>
        </p:txBody>
      </p:sp>
      <p:sp>
        <p:nvSpPr>
          <p:cNvPr id="20" name="Text 15"/>
          <p:cNvSpPr txBox="1"/>
          <p:nvPr/>
        </p:nvSpPr>
        <p:spPr>
          <a:xfrm>
            <a:off x="10148011"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NestJS API</a:t>
            </a:r>
            <a:endParaRPr lang="en-US" sz="950" dirty="0"/>
          </a:p>
        </p:txBody>
      </p:sp>
      <p:sp>
        <p:nvSpPr>
          <p:cNvPr id="21" name="Text 16"/>
          <p:cNvSpPr txBox="1"/>
          <p:nvPr/>
        </p:nvSpPr>
        <p:spPr>
          <a:xfrm>
            <a:off x="7818120" y="1261872"/>
            <a:ext cx="77175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Razorpay</a:t>
            </a:r>
            <a:endParaRPr lang="en-US" sz="950" dirty="0"/>
          </a:p>
        </p:txBody>
      </p:sp>
      <p:sp>
        <p:nvSpPr>
          <p:cNvPr id="22" name="Text 17"/>
          <p:cNvSpPr txBox="1"/>
          <p:nvPr/>
        </p:nvSpPr>
        <p:spPr>
          <a:xfrm>
            <a:off x="8672170" y="1261872"/>
            <a:ext cx="1144829"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Google Sign-In</a:t>
            </a:r>
            <a:endParaRPr lang="en-US" sz="950" dirty="0"/>
          </a:p>
        </p:txBody>
      </p:sp>
      <p:sp>
        <p:nvSpPr>
          <p:cNvPr id="23" name="Text 18"/>
          <p:cNvSpPr txBox="1"/>
          <p:nvPr/>
        </p:nvSpPr>
        <p:spPr>
          <a:xfrm>
            <a:off x="9899294" y="1261872"/>
            <a:ext cx="133136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Role-based access</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LIVE PRODUCT</a:t>
            </a:r>
            <a:endParaRPr lang="en-US" sz="900" dirty="0"/>
          </a:p>
        </p:txBody>
      </p:sp>
      <p:sp>
        <p:nvSpPr>
          <p:cNvPr id="27" name="Text 21">
            <a:hlinkClick r:id="rId5" tooltip="Tribal Brew Coffee"/>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Tribal Brew Coffee" history="1" highlightClick="0" endSnd="0">
                  <a:extLst>
                    <a:ext uri="{A12FA001-AC4F-418D-AE19-62706E023703}">
                      <ahyp:hlinkClr xmlns:ahyp="http://schemas.microsoft.com/office/drawing/2018/hyperlinkcolor" val="tx"/>
                    </a:ext>
                  </a:extLst>
                </a:hlinkClick>
              </a:rPr>
              <a:t>View live POS →</a:t>
            </a:r>
            <a:endParaRPr lang="en-US" sz="1600" dirty="0"/>
          </a:p>
        </p:txBody>
      </p:sp>
      <p:sp>
        <p:nvSpPr>
          <p:cNvPr id="28" name="Text 22"/>
          <p:cNvSpPr txBox="1"/>
          <p:nvPr/>
        </p:nvSpPr>
        <p:spPr>
          <a:xfrm>
            <a:off x="8092440" y="4873752"/>
            <a:ext cx="3276295" cy="228600"/>
          </a:xfrm>
          <a:prstGeom prst="rect">
            <a:avLst/>
          </a:prstGeom>
          <a:noFill/>
          <a:ln/>
        </p:spPr>
        <p:txBody>
          <a:bodyPr wrap="square" lIns="0" tIns="0" rIns="0" bIns="0" rtlCol="0" anchor="t"/>
          <a:lstStyle/>
          <a:p>
            <a:pPr indent="0" marL="0">
              <a:buNone/>
            </a:pPr>
            <a:r>
              <a:rPr lang="en-US" sz="900" dirty="0">
                <a:solidFill>
                  <a:srgbClr val="8C938B"/>
                </a:solidFill>
              </a:rPr>
              <a:t>Tribal Brew Coffee</a:t>
            </a:r>
            <a:endParaRPr lang="en-US" sz="900" dirty="0"/>
          </a:p>
        </p:txBody>
      </p:sp>
      <p:sp>
        <p:nvSpPr>
          <p:cNvPr id="29" name="Shape 23">
            <a:hlinkClick r:id="rId6" tooltip="Tribal Brew Coffee"/>
          </p:cNvPr>
          <p:cNvSpPr/>
          <p:nvPr/>
        </p:nvSpPr>
        <p:spPr>
          <a:xfrm>
            <a:off x="8092440" y="4873752"/>
            <a:ext cx="1289304" cy="228600"/>
          </a:xfrm>
          <a:prstGeom prst="rect">
            <a:avLst/>
          </a:prstGeom>
          <a:solidFill>
            <a:srgbClr val="FFFFFF">
              <a:alpha val="0"/>
            </a:srgbClr>
          </a:solidFill>
          <a:ln/>
        </p:spPr>
      </p:sp>
      <p:sp>
        <p:nvSpPr>
          <p:cNvPr id="30" name="Text 24"/>
          <p:cNvSpPr txBox="1"/>
          <p:nvPr/>
        </p:nvSpPr>
        <p:spPr>
          <a:xfrm>
            <a:off x="8092440" y="5257800"/>
            <a:ext cx="3276295" cy="731520"/>
          </a:xfrm>
          <a:prstGeom prst="rect">
            <a:avLst/>
          </a:prstGeom>
          <a:noFill/>
          <a:ln/>
        </p:spPr>
        <p:txBody>
          <a:bodyPr wrap="square" lIns="0" tIns="0" rIns="0" bIns="0" rtlCol="0" anchor="t"/>
          <a:lstStyle/>
          <a:p>
            <a:pPr indent="0" marL="0">
              <a:buNone/>
            </a:pPr>
            <a:r>
              <a:rPr lang="en-US" sz="1050" dirty="0">
                <a:solidFill>
                  <a:srgbClr val="BFC4BA"/>
                </a:solidFill>
              </a:rPr>
              <a:t>Live demo: POS and Back office views.</a:t>
            </a:r>
            <a:endParaRPr lang="en-US" sz="1050" dirty="0"/>
          </a:p>
        </p:txBody>
      </p:sp>
      <p:sp>
        <p:nvSpPr>
          <p:cNvPr id="31" name="Text 25"/>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800" dirty="0">
                <a:solidFill>
                  <a:srgbClr val="5C6A62"/>
                </a:solidFill>
              </a:rPr>
              <a:t>Live outlet screens, shown without customer details. The customer app is shown with a demonstration profile.</a:t>
            </a:r>
            <a:endParaRPr lang="en-US" sz="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2E9D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5C6A62"/>
                </a:solidFill>
              </a:rPr>
              <a:t>03 — BUSINESS-INTELLIGENCE PLATFORM</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0D1813"/>
                </a:solidFill>
              </a:rPr>
              <a:t>Clario</a:t>
            </a:r>
            <a:endParaRPr lang="en-US" sz="4000" dirty="0"/>
          </a:p>
        </p:txBody>
      </p:sp>
      <p:sp>
        <p:nvSpPr>
          <p:cNvPr id="5" name="Text 2"/>
          <p:cNvSpPr txBox="1"/>
          <p:nvPr/>
        </p:nvSpPr>
        <p:spPr>
          <a:xfrm>
            <a:off x="548640" y="1883664"/>
            <a:ext cx="4572000" cy="777240"/>
          </a:xfrm>
          <a:prstGeom prst="rect">
            <a:avLst/>
          </a:prstGeom>
          <a:noFill/>
          <a:ln/>
        </p:spPr>
        <p:txBody>
          <a:bodyPr wrap="square" lIns="0" tIns="0" rIns="0" bIns="0" rtlCol="0" anchor="t"/>
          <a:lstStyle/>
          <a:p>
            <a:pPr indent="0" marL="0">
              <a:lnSpc>
                <a:spcPct val="108000"/>
              </a:lnSpc>
              <a:buNone/>
            </a:pPr>
            <a:r>
              <a:rPr lang="en-US" sz="1650" dirty="0">
                <a:solidFill>
                  <a:srgbClr val="0D1813"/>
                </a:solidFill>
                <a:latin typeface="Satoshi Medium" pitchFamily="34" charset="0"/>
                <a:ea typeface="Satoshi Medium" pitchFamily="34" charset="-122"/>
                <a:cs typeface="Satoshi Medium" pitchFamily="34" charset="-120"/>
              </a:rPr>
              <a:t>Understand your business, not just your numbers.</a:t>
            </a:r>
            <a:endParaRPr lang="en-US" sz="1650" dirty="0"/>
          </a:p>
        </p:txBody>
      </p:sp>
      <p:sp>
        <p:nvSpPr>
          <p:cNvPr id="6" name="Text 3"/>
          <p:cNvSpPr txBox="1"/>
          <p:nvPr/>
        </p:nvSpPr>
        <p:spPr>
          <a:xfrm>
            <a:off x="548640" y="2706624"/>
            <a:ext cx="4572000" cy="1325880"/>
          </a:xfrm>
          <a:prstGeom prst="rect">
            <a:avLst/>
          </a:prstGeom>
          <a:noFill/>
          <a:ln/>
        </p:spPr>
        <p:txBody>
          <a:bodyPr wrap="square" lIns="0" tIns="0" rIns="0" bIns="0" rtlCol="0" anchor="t"/>
          <a:lstStyle/>
          <a:p>
            <a:pPr indent="0" marL="0">
              <a:lnSpc>
                <a:spcPct val="115000"/>
              </a:lnSpc>
              <a:buNone/>
            </a:pPr>
            <a:r>
              <a:rPr lang="en-US" sz="1100" dirty="0">
                <a:solidFill>
                  <a:srgbClr val="34433B"/>
                </a:solidFill>
              </a:rPr>
              <a:t>Crita’s own business-intelligence platform. Clario connects to the systems a business already uses — starting with Zoho Books — and turns them into a clear finance command centre, with an assistant that answers in plain words, from the books.</a:t>
            </a:r>
            <a:endParaRPr lang="en-US" sz="1100" dirty="0"/>
          </a:p>
        </p:txBody>
      </p:sp>
      <p:sp>
        <p:nvSpPr>
          <p:cNvPr id="7" name="Shape 4"/>
          <p:cNvSpPr/>
          <p:nvPr/>
        </p:nvSpPr>
        <p:spPr>
          <a:xfrm>
            <a:off x="548640" y="4754880"/>
            <a:ext cx="4572000" cy="0"/>
          </a:xfrm>
          <a:prstGeom prst="line">
            <a:avLst/>
          </a:prstGeom>
          <a:noFill/>
          <a:ln w="9525">
            <a:solidFill>
              <a:srgbClr val="D3D5CC"/>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CLIENT</a:t>
            </a:r>
            <a:endParaRPr lang="en-US" sz="800" dirty="0"/>
          </a:p>
          <a:p>
            <a:pPr indent="0" marL="0">
              <a:spcAft>
                <a:spcPts val="200"/>
              </a:spcAft>
              <a:buNone/>
            </a:pPr>
            <a:r>
              <a:rPr lang="en-US" sz="1100" b="1" dirty="0">
                <a:solidFill>
                  <a:srgbClr val="0D1813"/>
                </a:solidFill>
              </a:rPr>
              <a:t>A Crita product</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SECTOR</a:t>
            </a:r>
            <a:endParaRPr lang="en-US" sz="800" dirty="0"/>
          </a:p>
          <a:p>
            <a:pPr indent="0" marL="0">
              <a:spcAft>
                <a:spcPts val="200"/>
              </a:spcAft>
              <a:buNone/>
            </a:pPr>
            <a:r>
              <a:rPr lang="en-US" sz="1100" b="1" dirty="0">
                <a:solidFill>
                  <a:srgbClr val="0D1813"/>
                </a:solidFill>
              </a:rPr>
              <a:t>Business intelligence</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PLATFORM</a:t>
            </a:r>
            <a:endParaRPr lang="en-US" sz="800" dirty="0"/>
          </a:p>
          <a:p>
            <a:pPr indent="0" marL="0">
              <a:spcAft>
                <a:spcPts val="200"/>
              </a:spcAft>
              <a:buNone/>
            </a:pPr>
            <a:r>
              <a:rPr lang="en-US" sz="1100" b="1" dirty="0">
                <a:solidFill>
                  <a:srgbClr val="0D1813"/>
                </a:solidFill>
              </a:rPr>
              <a:t>Web ·​ Responsive</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ROLES</a:t>
            </a:r>
            <a:endParaRPr lang="en-US" sz="800" dirty="0"/>
          </a:p>
          <a:p>
            <a:pPr indent="0" marL="0">
              <a:spcAft>
                <a:spcPts val="200"/>
              </a:spcAft>
              <a:buNone/>
            </a:pPr>
            <a:r>
              <a:rPr lang="en-US" sz="1100" b="1" dirty="0">
                <a:solidFill>
                  <a:srgbClr val="0D1813"/>
                </a:solidFill>
              </a:rPr>
              <a:t>Workspace owners &amp; members</a:t>
            </a:r>
            <a:endParaRPr lang="en-US" sz="800" dirty="0"/>
          </a:p>
        </p:txBody>
      </p:sp>
      <p:pic>
        <p:nvPicPr>
          <p:cNvPr id="12" name="reveal-1" descr="Clario on desktop and mobile">    </p:cNvPr>
          <p:cNvPicPr>
            <a:picLocks noChangeAspect="1"/>
          </p:cNvPicPr>
          <p:nvPr/>
        </p:nvPicPr>
        <p:blipFill>
          <a:blip r:embed="rId2"/>
          <a:stretch>
            <a:fillRect/>
          </a:stretch>
        </p:blipFill>
        <p:spPr>
          <a:xfrm>
            <a:off x="5162702" y="1334567"/>
            <a:ext cx="6819595" cy="435345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21</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The numbers exist. The answers don’t.</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Growing businesses keep their figures in accounting software, but turning ledgers into decisions takes reports, spreadsheets and an accountant’s time. Generic AI tools can’t be trusted with financial figures — and every new system adds another place to look.</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Connect once. See clearly. Ask anything.</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Clario gives each client a private workspace. They connect Zoho Books securely, and Clario turns the data into a finance command centre — overview, trends, receivables, payables and balance sheet. Ask Clario answers questions in plain words using the same figures as the reports, and shows where each answer comes from.</a:t>
            </a:r>
            <a:endParaRPr lang="en-US" sz="1150" dirty="0"/>
          </a:p>
        </p:txBody>
      </p:sp>
      <p:sp>
        <p:nvSpPr>
          <p:cNvPr id="10" name="Shape 6"/>
          <p:cNvSpPr/>
          <p:nvPr/>
        </p:nvSpPr>
        <p:spPr>
          <a:xfrm>
            <a:off x="5760720" y="502920"/>
            <a:ext cx="5879592" cy="5715000"/>
          </a:xfrm>
          <a:prstGeom prst="roundRect">
            <a:avLst>
              <a:gd name="adj" fmla="val 2560"/>
            </a:avLst>
          </a:prstGeom>
          <a:solidFill>
            <a:srgbClr val="EEF2E7"/>
          </a:solidFill>
          <a:ln/>
        </p:spPr>
      </p:sp>
      <p:pic>
        <p:nvPicPr>
          <p:cNvPr id="11" name="Image 2" descr="Clario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F2E7"/>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Clario.</a:t>
            </a:r>
            <a:endParaRPr lang="en-US" sz="2800" dirty="0"/>
          </a:p>
        </p:txBody>
      </p:sp>
      <p:pic>
        <p:nvPicPr>
          <p:cNvPr id="5" name="reveal-1" descr="The business on one screen">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business on one screen</a:t>
            </a:r>
            <a:endParaRPr lang="en-US" sz="950" dirty="0"/>
          </a:p>
          <a:p>
            <a:pPr indent="0" marL="0">
              <a:spcAft>
                <a:spcPts val="300"/>
              </a:spcAft>
              <a:buNone/>
            </a:pPr>
            <a:r>
              <a:rPr lang="en-US" sz="1100" dirty="0">
                <a:solidFill>
                  <a:srgbClr val="5C6A62"/>
                </a:solidFill>
              </a:rPr>
              <a:t>Cash on hand, revenue, profit, collections and receivables — each with its basis and as-of date.</a:t>
            </a:r>
            <a:endParaRPr lang="en-US" sz="950" dirty="0"/>
          </a:p>
        </p:txBody>
      </p:sp>
      <p:pic>
        <p:nvPicPr>
          <p:cNvPr id="7" name="reveal-2" descr="Answers, with sources">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Answers, with sources</a:t>
            </a:r>
            <a:endParaRPr lang="en-US" sz="950" dirty="0"/>
          </a:p>
          <a:p>
            <a:pPr indent="0" marL="0">
              <a:spcAft>
                <a:spcPts val="300"/>
              </a:spcAft>
              <a:buNone/>
            </a:pPr>
            <a:r>
              <a:rPr lang="en-US" sz="1100" dirty="0">
                <a:solidFill>
                  <a:srgbClr val="5C6A62"/>
                </a:solidFill>
              </a:rPr>
              <a:t>Ask in plain words. Every answer uses the same figures as the reports and says where they came from.</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EF2E7"/>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Clario.</a:t>
            </a:r>
            <a:endParaRPr lang="en-US" sz="2800" dirty="0"/>
          </a:p>
        </p:txBody>
      </p:sp>
      <p:pic>
        <p:nvPicPr>
          <p:cNvPr id="5" name="reveal-1" descr="What to do next">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What to do next</a:t>
            </a:r>
            <a:endParaRPr lang="en-US" sz="950" dirty="0"/>
          </a:p>
          <a:p>
            <a:pPr indent="0" marL="0">
              <a:spcAft>
                <a:spcPts val="300"/>
              </a:spcAft>
              <a:buNone/>
            </a:pPr>
            <a:r>
              <a:rPr lang="en-US" sz="1100" dirty="0">
                <a:solidFill>
                  <a:srgbClr val="5C6A62"/>
                </a:solidFill>
              </a:rPr>
              <a:t>Signals and decision support turn the figures into an ordered list of what deserves attention.</a:t>
            </a:r>
            <a:endParaRPr lang="en-US" sz="950" dirty="0"/>
          </a:p>
        </p:txBody>
      </p:sp>
      <p:pic>
        <p:nvPicPr>
          <p:cNvPr id="7" name="reveal-2" descr="Trends that explain themselves">    </p:cNvPr>
          <p:cNvPicPr>
            <a:picLocks noChangeAspect="1"/>
          </p:cNvPicPr>
          <p:nvPr/>
        </p:nvPicPr>
        <p:blipFill>
          <a:blip r:embed="rId3"/>
          <a:stretch>
            <a:fillRect/>
          </a:stretch>
        </p:blipFill>
        <p:spPr>
          <a:xfrm>
            <a:off x="5907552" y="1353231"/>
            <a:ext cx="5960831" cy="4061805"/>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Trends that explain themselves</a:t>
            </a:r>
            <a:endParaRPr lang="en-US" sz="950" dirty="0"/>
          </a:p>
          <a:p>
            <a:pPr indent="0" marL="0">
              <a:spcAft>
                <a:spcPts val="300"/>
              </a:spcAft>
              <a:buNone/>
            </a:pPr>
            <a:r>
              <a:rPr lang="en-US" sz="1100" dirty="0">
                <a:solidFill>
                  <a:srgbClr val="5C6A62"/>
                </a:solidFill>
              </a:rPr>
              <a:t>Billing, collections and spending month by month — every chart with a table view.</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Clario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Secure connection</a:t>
            </a:r>
            <a:endParaRPr lang="en-US" sz="950" dirty="0"/>
          </a:p>
          <a:p>
            <a:pPr indent="0" marL="0">
              <a:spcAft>
                <a:spcPts val="300"/>
              </a:spcAft>
              <a:buNone/>
            </a:pPr>
            <a:r>
              <a:rPr lang="en-US" sz="1050" dirty="0">
                <a:solidFill>
                  <a:srgbClr val="5C6A62"/>
                </a:solidFill>
              </a:rPr>
              <a:t>Zoho Books connects through OAuth with read-only access, into the client’s own workspace.</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Finance overview</a:t>
            </a:r>
            <a:endParaRPr lang="en-US" sz="950" dirty="0"/>
          </a:p>
          <a:p>
            <a:pPr indent="0" marL="0">
              <a:spcAft>
                <a:spcPts val="300"/>
              </a:spcAft>
              <a:buNone/>
            </a:pPr>
            <a:r>
              <a:rPr lang="en-US" sz="1050" dirty="0">
                <a:solidFill>
                  <a:srgbClr val="5C6A62"/>
                </a:solidFill>
              </a:rPr>
              <a:t>Cash, revenue, profit, collections, costs and receivables on one screen, with performance signals.</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Ask Clario</a:t>
            </a:r>
            <a:endParaRPr lang="en-US" sz="950" dirty="0"/>
          </a:p>
          <a:p>
            <a:pPr indent="0" marL="0">
              <a:spcAft>
                <a:spcPts val="300"/>
              </a:spcAft>
              <a:buNone/>
            </a:pPr>
            <a:r>
              <a:rPr lang="en-US" sz="1050" dirty="0">
                <a:solidFill>
                  <a:srgbClr val="5C6A62"/>
                </a:solidFill>
              </a:rPr>
              <a:t>Plain-language questions answered from the books, with the source and date of every figure.</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Decision support</a:t>
            </a:r>
            <a:endParaRPr lang="en-US" sz="950" dirty="0"/>
          </a:p>
          <a:p>
            <a:pPr indent="0" marL="0">
              <a:spcAft>
                <a:spcPts val="300"/>
              </a:spcAft>
              <a:buNone/>
            </a:pPr>
            <a:r>
              <a:rPr lang="en-US" sz="1050" dirty="0">
                <a:solidFill>
                  <a:srgbClr val="5C6A62"/>
                </a:solidFill>
              </a:rPr>
              <a:t>What needs attention, what to consider next and simple scenarios — clearly labelled as guidance.</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Trends &amp; receivables</a:t>
            </a:r>
            <a:endParaRPr lang="en-US" sz="950" dirty="0"/>
          </a:p>
          <a:p>
            <a:pPr indent="0" marL="0">
              <a:spcAft>
                <a:spcPts val="300"/>
              </a:spcAft>
              <a:buNone/>
            </a:pPr>
            <a:r>
              <a:rPr lang="en-US" sz="1050" dirty="0">
                <a:solidFill>
                  <a:srgbClr val="5C6A62"/>
                </a:solidFill>
              </a:rPr>
              <a:t>Month-by-month billing, collections and spending; overdue ageing and a full invoice register.</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Workspaces &amp; roles</a:t>
            </a:r>
            <a:endParaRPr lang="en-US" sz="950" dirty="0"/>
          </a:p>
          <a:p>
            <a:pPr indent="0" marL="0">
              <a:spcAft>
                <a:spcPts val="300"/>
              </a:spcAft>
              <a:buNone/>
            </a:pPr>
            <a:r>
              <a:rPr lang="en-US" sz="1050" dirty="0">
                <a:solidFill>
                  <a:srgbClr val="5C6A62"/>
                </a:solidFill>
              </a:rPr>
              <a:t>Every client works in an isolated workspace with its own members and connected systems.</a:t>
            </a:r>
            <a:endParaRPr lang="en-US" sz="950" dirty="0"/>
          </a:p>
        </p:txBody>
      </p:sp>
      <p:sp>
        <p:nvSpPr>
          <p:cNvPr id="17" name="Shape 14"/>
          <p:cNvSpPr/>
          <p:nvPr/>
        </p:nvSpPr>
        <p:spPr>
          <a:xfrm>
            <a:off x="8503920" y="502920"/>
            <a:ext cx="3136392" cy="5715000"/>
          </a:xfrm>
          <a:prstGeom prst="roundRect">
            <a:avLst>
              <a:gd name="adj" fmla="val 4665"/>
            </a:avLst>
          </a:prstGeom>
          <a:solidFill>
            <a:srgbClr val="E2E9D6"/>
          </a:solidFill>
          <a:ln/>
        </p:spPr>
      </p:sp>
      <p:pic>
        <p:nvPicPr>
          <p:cNvPr id="18" name="Image 1" descr="Clario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2E9D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PLATFORM ARCHITECTURE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One platform, many connected systems.</a:t>
            </a:r>
            <a:endParaRPr lang="en-US" sz="2800" dirty="0"/>
          </a:p>
        </p:txBody>
      </p:sp>
      <p:sp>
        <p:nvSpPr>
          <p:cNvPr id="5" name="Text 2"/>
          <p:cNvSpPr txBox="1"/>
          <p:nvPr/>
        </p:nvSpPr>
        <p:spPr>
          <a:xfrm>
            <a:off x="548640" y="1463040"/>
            <a:ext cx="10058400" cy="365760"/>
          </a:xfrm>
          <a:prstGeom prst="rect">
            <a:avLst/>
          </a:prstGeom>
          <a:noFill/>
          <a:ln/>
        </p:spPr>
        <p:txBody>
          <a:bodyPr wrap="square" lIns="0" tIns="0" rIns="0" bIns="0" rtlCol="0" anchor="t"/>
          <a:lstStyle/>
          <a:p>
            <a:pPr indent="0" marL="0">
              <a:buNone/>
            </a:pPr>
            <a:r>
              <a:rPr lang="en-US" sz="1300" dirty="0">
                <a:solidFill>
                  <a:srgbClr val="34433B"/>
                </a:solidFill>
              </a:rPr>
              <a:t>Figures are calculated in code; the AI explains them. Each assistant only answers from its own domain’s data.</a:t>
            </a:r>
            <a:endParaRPr lang="en-US" sz="1300" dirty="0"/>
          </a:p>
        </p:txBody>
      </p:sp>
      <p:sp>
        <p:nvSpPr>
          <p:cNvPr id="6" name="Shape 3"/>
          <p:cNvSpPr/>
          <p:nvPr/>
        </p:nvSpPr>
        <p:spPr>
          <a:xfrm>
            <a:off x="548640" y="2103120"/>
            <a:ext cx="11094415" cy="713232"/>
          </a:xfrm>
          <a:prstGeom prst="roundRect">
            <a:avLst>
              <a:gd name="adj" fmla="val 15385"/>
            </a:avLst>
          </a:prstGeom>
          <a:solidFill>
            <a:srgbClr val="FFFFFF">
              <a:alpha val="75000"/>
            </a:srgbClr>
          </a:solidFill>
          <a:ln/>
        </p:spPr>
      </p:sp>
      <p:sp>
        <p:nvSpPr>
          <p:cNvPr id="7" name="Text 4"/>
          <p:cNvSpPr txBox="1"/>
          <p:nvPr/>
        </p:nvSpPr>
        <p:spPr>
          <a:xfrm>
            <a:off x="822960" y="210312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CONNECTORS</a:t>
            </a:r>
            <a:endParaRPr lang="en-US" sz="900" dirty="0"/>
          </a:p>
        </p:txBody>
      </p:sp>
      <p:sp>
        <p:nvSpPr>
          <p:cNvPr id="8" name="Text 5"/>
          <p:cNvSpPr txBox="1"/>
          <p:nvPr/>
        </p:nvSpPr>
        <p:spPr>
          <a:xfrm>
            <a:off x="2651760" y="2249424"/>
            <a:ext cx="1499616"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Zoho Books</a:t>
            </a:r>
            <a:pPr algn="ctr" indent="0" marL="0">
              <a:buNone/>
            </a:pPr>
            <a:r>
              <a:rPr lang="en-US" sz="800" b="1" spc="100" kern="0" dirty="0">
                <a:solidFill>
                  <a:srgbClr val="D6E151"/>
                </a:solidFill>
              </a:rPr>
              <a:t>   LIVE</a:t>
            </a:r>
            <a:endParaRPr lang="en-US" sz="1100" dirty="0"/>
          </a:p>
        </p:txBody>
      </p:sp>
      <p:sp>
        <p:nvSpPr>
          <p:cNvPr id="9" name="Text 6"/>
          <p:cNvSpPr txBox="1"/>
          <p:nvPr/>
        </p:nvSpPr>
        <p:spPr>
          <a:xfrm>
            <a:off x="4279392" y="2249424"/>
            <a:ext cx="1659636" cy="420624"/>
          </a:xfrm>
          <a:prstGeom prst="roundRect">
            <a:avLst>
              <a:gd name="adj" fmla="val 52174"/>
            </a:avLst>
          </a:prstGeom>
          <a:solidFill>
            <a:srgbClr val="FFFFFF"/>
          </a:solidFill>
          <a:ln w="9525">
            <a:solidFill>
              <a:srgbClr val="C3C6BD"/>
            </a:solidFill>
          </a:ln>
        </p:spPr>
        <p:txBody>
          <a:bodyPr wrap="square" lIns="0" tIns="0" rIns="0" bIns="0" rtlCol="0" anchor="ctr"/>
          <a:lstStyle/>
          <a:p>
            <a:pPr algn="ctr" indent="0" marL="0">
              <a:buNone/>
            </a:pPr>
            <a:r>
              <a:rPr lang="en-US" sz="1100" b="1" dirty="0">
                <a:solidFill>
                  <a:srgbClr val="0D1813"/>
                </a:solidFill>
              </a:rPr>
              <a:t>Tally</a:t>
            </a:r>
            <a:pPr algn="ctr" indent="0" marL="0">
              <a:buNone/>
            </a:pPr>
            <a:r>
              <a:rPr lang="en-US" sz="800" b="1" spc="100" kern="0" dirty="0">
                <a:solidFill>
                  <a:srgbClr val="7A6512"/>
                </a:solidFill>
              </a:rPr>
              <a:t>   IN DEVELOPMENT</a:t>
            </a:r>
            <a:endParaRPr lang="en-US" sz="1100" dirty="0"/>
          </a:p>
        </p:txBody>
      </p:sp>
      <p:sp>
        <p:nvSpPr>
          <p:cNvPr id="10" name="Text 7"/>
          <p:cNvSpPr txBox="1"/>
          <p:nvPr/>
        </p:nvSpPr>
        <p:spPr>
          <a:xfrm>
            <a:off x="6067044" y="2249424"/>
            <a:ext cx="2208276" cy="420624"/>
          </a:xfrm>
          <a:prstGeom prst="roundRect">
            <a:avLst>
              <a:gd name="adj" fmla="val 52174"/>
            </a:avLst>
          </a:prstGeom>
          <a:solidFill>
            <a:srgbClr val="FFFFFF"/>
          </a:solidFill>
          <a:ln w="9525">
            <a:solidFill>
              <a:srgbClr val="C3C6BD"/>
            </a:solidFill>
          </a:ln>
        </p:spPr>
        <p:txBody>
          <a:bodyPr wrap="square" lIns="0" tIns="0" rIns="0" bIns="0" rtlCol="0" anchor="ctr"/>
          <a:lstStyle/>
          <a:p>
            <a:pPr algn="ctr" indent="0" marL="0">
              <a:buNone/>
            </a:pPr>
            <a:r>
              <a:rPr lang="en-US" sz="1100" b="1" dirty="0">
                <a:solidFill>
                  <a:srgbClr val="0D1813"/>
                </a:solidFill>
              </a:rPr>
              <a:t>Inventory systems</a:t>
            </a:r>
            <a:pPr algn="ctr" indent="0" marL="0">
              <a:buNone/>
            </a:pPr>
            <a:r>
              <a:rPr lang="en-US" sz="800" b="1" spc="100" kern="0" dirty="0">
                <a:solidFill>
                  <a:srgbClr val="5C6A62"/>
                </a:solidFill>
              </a:rPr>
              <a:t>   PLANNED</a:t>
            </a:r>
            <a:endParaRPr lang="en-US" sz="1100" dirty="0"/>
          </a:p>
        </p:txBody>
      </p:sp>
      <p:sp>
        <p:nvSpPr>
          <p:cNvPr id="11" name="Text 8"/>
          <p:cNvSpPr txBox="1"/>
          <p:nvPr/>
        </p:nvSpPr>
        <p:spPr>
          <a:xfrm>
            <a:off x="8403336" y="2249424"/>
            <a:ext cx="2052828" cy="420624"/>
          </a:xfrm>
          <a:prstGeom prst="roundRect">
            <a:avLst>
              <a:gd name="adj" fmla="val 52174"/>
            </a:avLst>
          </a:prstGeom>
          <a:solidFill>
            <a:srgbClr val="FFFFFF"/>
          </a:solidFill>
          <a:ln w="9525">
            <a:solidFill>
              <a:srgbClr val="C3C6BD"/>
            </a:solidFill>
          </a:ln>
        </p:spPr>
        <p:txBody>
          <a:bodyPr wrap="square" lIns="0" tIns="0" rIns="0" bIns="0" rtlCol="0" anchor="ctr"/>
          <a:lstStyle/>
          <a:p>
            <a:pPr algn="ctr" indent="0" marL="0">
              <a:buNone/>
            </a:pPr>
            <a:r>
              <a:rPr lang="en-US" sz="1100" b="1" dirty="0">
                <a:solidFill>
                  <a:srgbClr val="0D1813"/>
                </a:solidFill>
              </a:rPr>
              <a:t>Lead management</a:t>
            </a:r>
            <a:pPr algn="ctr" indent="0" marL="0">
              <a:buNone/>
            </a:pPr>
            <a:r>
              <a:rPr lang="en-US" sz="800" b="1" spc="100" kern="0" dirty="0">
                <a:solidFill>
                  <a:srgbClr val="5C6A62"/>
                </a:solidFill>
              </a:rPr>
              <a:t>   PLANNED</a:t>
            </a:r>
            <a:endParaRPr lang="en-US" sz="1100" dirty="0"/>
          </a:p>
        </p:txBody>
      </p:sp>
      <p:sp>
        <p:nvSpPr>
          <p:cNvPr id="12" name="Shape 9"/>
          <p:cNvSpPr/>
          <p:nvPr/>
        </p:nvSpPr>
        <p:spPr>
          <a:xfrm>
            <a:off x="548640" y="2971800"/>
            <a:ext cx="11094415" cy="713232"/>
          </a:xfrm>
          <a:prstGeom prst="roundRect">
            <a:avLst>
              <a:gd name="adj" fmla="val 15385"/>
            </a:avLst>
          </a:prstGeom>
          <a:solidFill>
            <a:srgbClr val="FFFFFF">
              <a:alpha val="75000"/>
            </a:srgbClr>
          </a:solidFill>
          <a:ln/>
        </p:spPr>
      </p:sp>
      <p:sp>
        <p:nvSpPr>
          <p:cNvPr id="13" name="Text 10"/>
          <p:cNvSpPr txBox="1"/>
          <p:nvPr/>
        </p:nvSpPr>
        <p:spPr>
          <a:xfrm>
            <a:off x="822960" y="297180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DOMAINS</a:t>
            </a:r>
            <a:endParaRPr lang="en-US" sz="900" dirty="0"/>
          </a:p>
        </p:txBody>
      </p:sp>
      <p:sp>
        <p:nvSpPr>
          <p:cNvPr id="14" name="Text 11"/>
          <p:cNvSpPr txBox="1"/>
          <p:nvPr/>
        </p:nvSpPr>
        <p:spPr>
          <a:xfrm>
            <a:off x="2651760" y="3118104"/>
            <a:ext cx="1266444"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Finance</a:t>
            </a:r>
            <a:pPr algn="ctr" indent="0" marL="0">
              <a:buNone/>
            </a:pPr>
            <a:r>
              <a:rPr lang="en-US" sz="800" b="1" spc="100" kern="0" dirty="0">
                <a:solidFill>
                  <a:srgbClr val="D6E151"/>
                </a:solidFill>
              </a:rPr>
              <a:t>   LIVE</a:t>
            </a:r>
            <a:endParaRPr lang="en-US" sz="1100" dirty="0"/>
          </a:p>
        </p:txBody>
      </p:sp>
      <p:sp>
        <p:nvSpPr>
          <p:cNvPr id="15" name="Text 12"/>
          <p:cNvSpPr txBox="1"/>
          <p:nvPr/>
        </p:nvSpPr>
        <p:spPr>
          <a:xfrm>
            <a:off x="4046220" y="3118104"/>
            <a:ext cx="1586484" cy="420624"/>
          </a:xfrm>
          <a:prstGeom prst="roundRect">
            <a:avLst>
              <a:gd name="adj" fmla="val 52174"/>
            </a:avLst>
          </a:prstGeom>
          <a:solidFill>
            <a:srgbClr val="FFFFFF"/>
          </a:solidFill>
          <a:ln w="9525">
            <a:solidFill>
              <a:srgbClr val="C3C6BD"/>
            </a:solidFill>
          </a:ln>
        </p:spPr>
        <p:txBody>
          <a:bodyPr wrap="square" lIns="0" tIns="0" rIns="0" bIns="0" rtlCol="0" anchor="ctr"/>
          <a:lstStyle/>
          <a:p>
            <a:pPr algn="ctr" indent="0" marL="0">
              <a:buNone/>
            </a:pPr>
            <a:r>
              <a:rPr lang="en-US" sz="1100" b="1" dirty="0">
                <a:solidFill>
                  <a:srgbClr val="0D1813"/>
                </a:solidFill>
              </a:rPr>
              <a:t>Inventory</a:t>
            </a:r>
            <a:pPr algn="ctr" indent="0" marL="0">
              <a:buNone/>
            </a:pPr>
            <a:r>
              <a:rPr lang="en-US" sz="800" b="1" spc="100" kern="0" dirty="0">
                <a:solidFill>
                  <a:srgbClr val="5C6A62"/>
                </a:solidFill>
              </a:rPr>
              <a:t>   PLANNED</a:t>
            </a:r>
            <a:endParaRPr lang="en-US" sz="1100" dirty="0"/>
          </a:p>
        </p:txBody>
      </p:sp>
      <p:sp>
        <p:nvSpPr>
          <p:cNvPr id="16" name="Text 13"/>
          <p:cNvSpPr txBox="1"/>
          <p:nvPr/>
        </p:nvSpPr>
        <p:spPr>
          <a:xfrm>
            <a:off x="5760720" y="3118104"/>
            <a:ext cx="1275588" cy="420624"/>
          </a:xfrm>
          <a:prstGeom prst="roundRect">
            <a:avLst>
              <a:gd name="adj" fmla="val 52174"/>
            </a:avLst>
          </a:prstGeom>
          <a:solidFill>
            <a:srgbClr val="FFFFFF"/>
          </a:solidFill>
          <a:ln w="9525">
            <a:solidFill>
              <a:srgbClr val="C3C6BD"/>
            </a:solidFill>
          </a:ln>
        </p:spPr>
        <p:txBody>
          <a:bodyPr wrap="square" lIns="0" tIns="0" rIns="0" bIns="0" rtlCol="0" anchor="ctr"/>
          <a:lstStyle/>
          <a:p>
            <a:pPr algn="ctr" indent="0" marL="0">
              <a:buNone/>
            </a:pPr>
            <a:r>
              <a:rPr lang="en-US" sz="1100" b="1" dirty="0">
                <a:solidFill>
                  <a:srgbClr val="0D1813"/>
                </a:solidFill>
              </a:rPr>
              <a:t>Leads</a:t>
            </a:r>
            <a:pPr algn="ctr" indent="0" marL="0">
              <a:buNone/>
            </a:pPr>
            <a:r>
              <a:rPr lang="en-US" sz="800" b="1" spc="100" kern="0" dirty="0">
                <a:solidFill>
                  <a:srgbClr val="5C6A62"/>
                </a:solidFill>
              </a:rPr>
              <a:t>   PLANNED</a:t>
            </a:r>
            <a:endParaRPr lang="en-US" sz="1100" dirty="0"/>
          </a:p>
        </p:txBody>
      </p:sp>
      <p:sp>
        <p:nvSpPr>
          <p:cNvPr id="17" name="Shape 14"/>
          <p:cNvSpPr/>
          <p:nvPr/>
        </p:nvSpPr>
        <p:spPr>
          <a:xfrm>
            <a:off x="548640" y="3840480"/>
            <a:ext cx="11094415" cy="713232"/>
          </a:xfrm>
          <a:prstGeom prst="roundRect">
            <a:avLst>
              <a:gd name="adj" fmla="val 15385"/>
            </a:avLst>
          </a:prstGeom>
          <a:solidFill>
            <a:srgbClr val="FFFFFF">
              <a:alpha val="75000"/>
            </a:srgbClr>
          </a:solidFill>
          <a:ln/>
        </p:spPr>
      </p:sp>
      <p:sp>
        <p:nvSpPr>
          <p:cNvPr id="18" name="Text 15"/>
          <p:cNvSpPr txBox="1"/>
          <p:nvPr/>
        </p:nvSpPr>
        <p:spPr>
          <a:xfrm>
            <a:off x="822960" y="384048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EXPERIENCE</a:t>
            </a:r>
            <a:endParaRPr lang="en-US" sz="900" dirty="0"/>
          </a:p>
        </p:txBody>
      </p:sp>
      <p:sp>
        <p:nvSpPr>
          <p:cNvPr id="19" name="Text 16"/>
          <p:cNvSpPr txBox="1"/>
          <p:nvPr/>
        </p:nvSpPr>
        <p:spPr>
          <a:xfrm>
            <a:off x="2651760" y="3986784"/>
            <a:ext cx="1810512"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Command centre</a:t>
            </a:r>
            <a:pPr algn="ctr" indent="0" marL="0">
              <a:buNone/>
            </a:pPr>
            <a:r>
              <a:rPr lang="en-US" sz="800" b="1" spc="100" kern="0" dirty="0">
                <a:solidFill>
                  <a:srgbClr val="D6E151"/>
                </a:solidFill>
              </a:rPr>
              <a:t>   LIVE</a:t>
            </a:r>
            <a:endParaRPr lang="en-US" sz="1100" dirty="0"/>
          </a:p>
        </p:txBody>
      </p:sp>
      <p:sp>
        <p:nvSpPr>
          <p:cNvPr id="20" name="Text 17"/>
          <p:cNvSpPr txBox="1"/>
          <p:nvPr/>
        </p:nvSpPr>
        <p:spPr>
          <a:xfrm>
            <a:off x="4590288" y="3986784"/>
            <a:ext cx="2276856"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Ask Clario assistant</a:t>
            </a:r>
            <a:pPr algn="ctr" indent="0" marL="0">
              <a:buNone/>
            </a:pPr>
            <a:r>
              <a:rPr lang="en-US" sz="800" b="1" spc="100" kern="0" dirty="0">
                <a:solidFill>
                  <a:srgbClr val="D6E151"/>
                </a:solidFill>
              </a:rPr>
              <a:t>   LIVE</a:t>
            </a:r>
            <a:endParaRPr lang="en-US" sz="1100" dirty="0"/>
          </a:p>
        </p:txBody>
      </p:sp>
      <p:sp>
        <p:nvSpPr>
          <p:cNvPr id="21" name="Shape 18"/>
          <p:cNvSpPr/>
          <p:nvPr/>
        </p:nvSpPr>
        <p:spPr>
          <a:xfrm>
            <a:off x="548640" y="4709160"/>
            <a:ext cx="11094415" cy="713232"/>
          </a:xfrm>
          <a:prstGeom prst="roundRect">
            <a:avLst>
              <a:gd name="adj" fmla="val 15385"/>
            </a:avLst>
          </a:prstGeom>
          <a:solidFill>
            <a:srgbClr val="FFFFFF">
              <a:alpha val="75000"/>
            </a:srgbClr>
          </a:solidFill>
          <a:ln/>
        </p:spPr>
      </p:sp>
      <p:sp>
        <p:nvSpPr>
          <p:cNvPr id="22" name="Text 19"/>
          <p:cNvSpPr txBox="1"/>
          <p:nvPr/>
        </p:nvSpPr>
        <p:spPr>
          <a:xfrm>
            <a:off x="822960" y="470916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PLATFORM</a:t>
            </a:r>
            <a:endParaRPr lang="en-US" sz="900" dirty="0"/>
          </a:p>
        </p:txBody>
      </p:sp>
      <p:sp>
        <p:nvSpPr>
          <p:cNvPr id="23" name="Text 20"/>
          <p:cNvSpPr txBox="1"/>
          <p:nvPr/>
        </p:nvSpPr>
        <p:spPr>
          <a:xfrm>
            <a:off x="2651760" y="4855464"/>
            <a:ext cx="2976372"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Workspaces, roles &amp; isolation</a:t>
            </a:r>
            <a:pPr algn="ctr" indent="0" marL="0">
              <a:buNone/>
            </a:pPr>
            <a:r>
              <a:rPr lang="en-US" sz="800" b="1" spc="100" kern="0" dirty="0">
                <a:solidFill>
                  <a:srgbClr val="D6E151"/>
                </a:solidFill>
              </a:rPr>
              <a:t>   LIVE</a:t>
            </a:r>
            <a:endParaRPr lang="en-US" sz="1100" dirty="0"/>
          </a:p>
        </p:txBody>
      </p:sp>
      <p:sp>
        <p:nvSpPr>
          <p:cNvPr id="24" name="Text 21"/>
          <p:cNvSpPr txBox="1"/>
          <p:nvPr/>
        </p:nvSpPr>
        <p:spPr>
          <a:xfrm>
            <a:off x="548640" y="5715000"/>
            <a:ext cx="10058400" cy="274320"/>
          </a:xfrm>
          <a:prstGeom prst="rect">
            <a:avLst/>
          </a:prstGeom>
          <a:noFill/>
          <a:ln/>
        </p:spPr>
        <p:txBody>
          <a:bodyPr wrap="square" lIns="0" tIns="0" rIns="0" bIns="0" rtlCol="0" anchor="t"/>
          <a:lstStyle/>
          <a:p>
            <a:pPr indent="0" marL="0">
              <a:buNone/>
            </a:pPr>
            <a:r>
              <a:rPr lang="en-US" sz="950" dirty="0">
                <a:solidFill>
                  <a:srgbClr val="5C6A62"/>
                </a:solidFill>
              </a:rPr>
              <a:t>“Live” is available in the product today. “In development” and “Planned” describe the platform’s direction.</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2E9D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The whole command centre, in your pocket.</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34433B"/>
                </a:solidFill>
              </a:rPr>
              <a:t>Every view — including Ask Clario — adapts to a phone, so owners can check cash or chase receivables between meetings.</a:t>
            </a:r>
            <a:endParaRPr lang="en-US" sz="1300" dirty="0"/>
          </a:p>
        </p:txBody>
      </p:sp>
      <p:pic>
        <p:nvPicPr>
          <p:cNvPr id="6" name="reveal-1" descr="Clario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Clarity without reports</a:t>
            </a:r>
            <a:endParaRPr lang="en-US" sz="1450" dirty="0"/>
          </a:p>
          <a:p>
            <a:pPr indent="0" marL="0">
              <a:spcAft>
                <a:spcPts val="300"/>
              </a:spcAft>
              <a:buNone/>
            </a:pPr>
            <a:r>
              <a:rPr lang="en-US" sz="1050" dirty="0">
                <a:solidFill>
                  <a:srgbClr val="5C6A62"/>
                </a:solidFill>
              </a:rPr>
              <a:t>Owners see performance, cash and receivables without building spreadsheets.</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Answers you can trust</a:t>
            </a:r>
            <a:endParaRPr lang="en-US" sz="1450" dirty="0"/>
          </a:p>
          <a:p>
            <a:pPr indent="0" marL="0">
              <a:spcAft>
                <a:spcPts val="300"/>
              </a:spcAft>
              <a:buNone/>
            </a:pPr>
            <a:r>
              <a:rPr lang="en-US" sz="1050" dirty="0">
                <a:solidFill>
                  <a:srgbClr val="5C6A62"/>
                </a:solidFill>
              </a:rPr>
              <a:t>Every figure traces back to the books, with its date.</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Guidance, in order</a:t>
            </a:r>
            <a:endParaRPr lang="en-US" sz="1450" dirty="0"/>
          </a:p>
          <a:p>
            <a:pPr indent="0" marL="0">
              <a:spcAft>
                <a:spcPts val="300"/>
              </a:spcAft>
              <a:buNone/>
            </a:pPr>
            <a:r>
              <a:rPr lang="en-US" sz="1050" dirty="0">
                <a:solidFill>
                  <a:srgbClr val="5C6A62"/>
                </a:solidFill>
              </a:rPr>
              <a:t>Signals and next steps turn numbers into a short list of decisions.</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Built to grow</a:t>
            </a:r>
            <a:endParaRPr lang="en-US" sz="1450" dirty="0"/>
          </a:p>
          <a:p>
            <a:pPr indent="0" marL="0">
              <a:spcAft>
                <a:spcPts val="300"/>
              </a:spcAft>
              <a:buNone/>
            </a:pPr>
            <a:r>
              <a:rPr lang="en-US" sz="1050" dirty="0">
                <a:solidFill>
                  <a:srgbClr val="5C6A62"/>
                </a:solidFill>
              </a:rPr>
              <a:t>Each new system Crita connects becomes another module on the same platform.</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Deterministic finance calculations — the assistant explains figures, never invents them</a:t>
            </a:r>
            <a:endParaRPr lang="en-US" sz="1150" dirty="0"/>
          </a:p>
          <a:p>
            <a:pPr marL="165100" indent="-165100">
              <a:spcAft>
                <a:spcPts val="400"/>
              </a:spcAft>
              <a:buSzPct val="100000"/>
              <a:buChar char="•"/>
            </a:pPr>
            <a:r>
              <a:rPr lang="en-US" sz="1150" dirty="0">
                <a:solidFill>
                  <a:srgbClr val="34433B"/>
                </a:solidFill>
              </a:rPr>
              <a:t>Server-side OAuth with encrypted tokens</a:t>
            </a:r>
            <a:endParaRPr lang="en-US" sz="1150" dirty="0"/>
          </a:p>
          <a:p>
            <a:pPr marL="165100" indent="-165100">
              <a:spcAft>
                <a:spcPts val="400"/>
              </a:spcAft>
              <a:buSzPct val="100000"/>
              <a:buChar char="•"/>
            </a:pPr>
            <a:r>
              <a:rPr lang="en-US" sz="1150" dirty="0">
                <a:solidFill>
                  <a:srgbClr val="34433B"/>
                </a:solidFill>
              </a:rPr>
              <a:t>Workspace isolation enforced on the server</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58521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a:t>
            </a:r>
            <a:endParaRPr lang="en-US" sz="950" dirty="0"/>
          </a:p>
        </p:txBody>
      </p:sp>
      <p:sp>
        <p:nvSpPr>
          <p:cNvPr id="19" name="Text 14"/>
          <p:cNvSpPr txBox="1"/>
          <p:nvPr/>
        </p:nvSpPr>
        <p:spPr>
          <a:xfrm>
            <a:off x="8485632"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TypeScript</a:t>
            </a:r>
            <a:endParaRPr lang="en-US" sz="950" dirty="0"/>
          </a:p>
        </p:txBody>
      </p:sp>
      <p:sp>
        <p:nvSpPr>
          <p:cNvPr id="20" name="Text 15"/>
          <p:cNvSpPr txBox="1"/>
          <p:nvPr/>
        </p:nvSpPr>
        <p:spPr>
          <a:xfrm>
            <a:off x="9464040"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Python API</a:t>
            </a:r>
            <a:endParaRPr lang="en-US" sz="950" dirty="0"/>
          </a:p>
        </p:txBody>
      </p:sp>
      <p:sp>
        <p:nvSpPr>
          <p:cNvPr id="21" name="Text 16"/>
          <p:cNvSpPr txBox="1"/>
          <p:nvPr/>
        </p:nvSpPr>
        <p:spPr>
          <a:xfrm>
            <a:off x="10442448"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PostgreSQL</a:t>
            </a:r>
            <a:endParaRPr lang="en-US" sz="950" dirty="0"/>
          </a:p>
        </p:txBody>
      </p:sp>
      <p:sp>
        <p:nvSpPr>
          <p:cNvPr id="22" name="Text 17"/>
          <p:cNvSpPr txBox="1"/>
          <p:nvPr/>
        </p:nvSpPr>
        <p:spPr>
          <a:xfrm>
            <a:off x="7818120" y="1261872"/>
            <a:ext cx="1144829"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Zoho Books API</a:t>
            </a:r>
            <a:endParaRPr lang="en-US" sz="950" dirty="0"/>
          </a:p>
        </p:txBody>
      </p:sp>
      <p:sp>
        <p:nvSpPr>
          <p:cNvPr id="23" name="Text 18"/>
          <p:cNvSpPr txBox="1"/>
          <p:nvPr/>
        </p:nvSpPr>
        <p:spPr>
          <a:xfrm>
            <a:off x="9045245" y="1261872"/>
            <a:ext cx="1580083"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LLM with scoped tools</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LIVE PRODUCT</a:t>
            </a:r>
            <a:endParaRPr lang="en-US" sz="900" dirty="0"/>
          </a:p>
        </p:txBody>
      </p:sp>
      <p:sp>
        <p:nvSpPr>
          <p:cNvPr id="27" name="Text 21">
            <a:hlinkClick r:id="rId5" tooltip="Clario"/>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Clario" history="1" highlightClick="0" endSnd="0">
                  <a:extLst>
                    <a:ext uri="{A12FA001-AC4F-418D-AE19-62706E023703}">
                      <ahyp:hlinkClr xmlns:ahyp="http://schemas.microsoft.com/office/drawing/2018/hyperlinkcolor" val="tx"/>
                    </a:ext>
                  </a:extLst>
                </a:hlinkClick>
              </a:rPr>
              <a:t>View live product →</a:t>
            </a:r>
            <a:endParaRPr lang="en-US" sz="1600" dirty="0"/>
          </a:p>
        </p:txBody>
      </p:sp>
      <p:sp>
        <p:nvSpPr>
          <p:cNvPr id="28" name="Text 22"/>
          <p:cNvSpPr txBox="1"/>
          <p:nvPr/>
        </p:nvSpPr>
        <p:spPr>
          <a:xfrm>
            <a:off x="8092440" y="4873752"/>
            <a:ext cx="3276295" cy="228600"/>
          </a:xfrm>
          <a:prstGeom prst="rect">
            <a:avLst/>
          </a:prstGeom>
          <a:noFill/>
          <a:ln/>
        </p:spPr>
        <p:txBody>
          <a:bodyPr wrap="square" lIns="0" tIns="0" rIns="0" bIns="0" rtlCol="0" anchor="t"/>
          <a:lstStyle/>
          <a:p>
            <a:pPr indent="0" marL="0">
              <a:buNone/>
            </a:pPr>
            <a:r>
              <a:rPr lang="en-US" sz="900" dirty="0">
                <a:solidFill>
                  <a:srgbClr val="8C938B"/>
                </a:solidFill>
              </a:rPr>
              <a:t>Clario</a:t>
            </a:r>
            <a:endParaRPr lang="en-US" sz="900" dirty="0"/>
          </a:p>
        </p:txBody>
      </p:sp>
      <p:sp>
        <p:nvSpPr>
          <p:cNvPr id="29" name="Shape 23">
            <a:hlinkClick r:id="rId6" tooltip="Clario"/>
          </p:cNvPr>
          <p:cNvSpPr/>
          <p:nvPr/>
        </p:nvSpPr>
        <p:spPr>
          <a:xfrm>
            <a:off x="8092440" y="4873752"/>
            <a:ext cx="521208" cy="228600"/>
          </a:xfrm>
          <a:prstGeom prst="rect">
            <a:avLst/>
          </a:prstGeom>
          <a:solidFill>
            <a:srgbClr val="FFFFFF">
              <a:alpha val="0"/>
            </a:srgbClr>
          </a:solidFill>
          <a:ln/>
        </p:spPr>
      </p:sp>
      <p:sp>
        <p:nvSpPr>
          <p:cNvPr id="30" name="Text 24"/>
          <p:cNvSpPr txBox="1"/>
          <p:nvPr/>
        </p:nvSpPr>
        <p:spPr>
          <a:xfrm>
            <a:off x="8092440" y="5257800"/>
            <a:ext cx="3276295" cy="731520"/>
          </a:xfrm>
          <a:prstGeom prst="rect">
            <a:avLst/>
          </a:prstGeom>
          <a:noFill/>
          <a:ln/>
        </p:spPr>
        <p:txBody>
          <a:bodyPr wrap="square" lIns="0" tIns="0" rIns="0" bIns="0" rtlCol="0" anchor="t"/>
          <a:lstStyle/>
          <a:p>
            <a:pPr indent="0" marL="0">
              <a:buNone/>
            </a:pPr>
            <a:r>
              <a:rPr lang="en-US" sz="1050" dirty="0">
                <a:solidFill>
                  <a:srgbClr val="BFC4BA"/>
                </a:solidFill>
              </a:rPr>
              <a:t>Live demo: Workspace owner views.</a:t>
            </a:r>
            <a:endParaRPr lang="en-US" sz="1050" dirty="0"/>
          </a:p>
        </p:txBody>
      </p:sp>
      <p:sp>
        <p:nvSpPr>
          <p:cNvPr id="31" name="Text 25"/>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800" dirty="0">
                <a:solidFill>
                  <a:srgbClr val="5C6A62"/>
                </a:solidFill>
              </a:rPr>
              <a:t>Shown with a sample company and test data.</a:t>
            </a:r>
            <a:endParaRPr lang="en-US" sz="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28</a:t>
            </a:fld>
            <a:endParaRPr lang="en-US"/>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13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8C938B"/>
                </a:solidFill>
              </a:rPr>
              <a:t>04 — FIELD OPERATIONS PLATFORM</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EEF0E6"/>
                </a:solidFill>
              </a:rPr>
              <a:t>SMC Task Management</a:t>
            </a:r>
            <a:endParaRPr lang="en-US" sz="4000" dirty="0"/>
          </a:p>
        </p:txBody>
      </p:sp>
      <p:sp>
        <p:nvSpPr>
          <p:cNvPr id="5" name="Text 2"/>
          <p:cNvSpPr txBox="1"/>
          <p:nvPr/>
        </p:nvSpPr>
        <p:spPr>
          <a:xfrm>
            <a:off x="548640" y="2450592"/>
            <a:ext cx="4572000" cy="777240"/>
          </a:xfrm>
          <a:prstGeom prst="rect">
            <a:avLst/>
          </a:prstGeom>
          <a:noFill/>
          <a:ln/>
        </p:spPr>
        <p:txBody>
          <a:bodyPr wrap="square" lIns="0" tIns="0" rIns="0" bIns="0" rtlCol="0" anchor="t"/>
          <a:lstStyle/>
          <a:p>
            <a:pPr indent="0" marL="0">
              <a:lnSpc>
                <a:spcPct val="108000"/>
              </a:lnSpc>
              <a:buNone/>
            </a:pPr>
            <a:r>
              <a:rPr lang="en-US" sz="1650" dirty="0">
                <a:solidFill>
                  <a:srgbClr val="EEF0E6"/>
                </a:solidFill>
                <a:latin typeface="Satoshi Medium" pitchFamily="34" charset="0"/>
                <a:ea typeface="Satoshi Medium" pitchFamily="34" charset="-122"/>
                <a:cs typeface="Satoshi Medium" pitchFamily="34" charset="-120"/>
              </a:rPr>
              <a:t>Field audits, planned, run and closed in one system.</a:t>
            </a:r>
            <a:endParaRPr lang="en-US" sz="1650" dirty="0"/>
          </a:p>
        </p:txBody>
      </p:sp>
      <p:sp>
        <p:nvSpPr>
          <p:cNvPr id="6" name="Text 3"/>
          <p:cNvSpPr txBox="1"/>
          <p:nvPr/>
        </p:nvSpPr>
        <p:spPr>
          <a:xfrm>
            <a:off x="548640" y="3273552"/>
            <a:ext cx="4572000" cy="1325880"/>
          </a:xfrm>
          <a:prstGeom prst="rect">
            <a:avLst/>
          </a:prstGeom>
          <a:noFill/>
          <a:ln/>
        </p:spPr>
        <p:txBody>
          <a:bodyPr wrap="square" lIns="0" tIns="0" rIns="0" bIns="0" rtlCol="0" anchor="t"/>
          <a:lstStyle/>
          <a:p>
            <a:pPr indent="0" marL="0">
              <a:lnSpc>
                <a:spcPct val="115000"/>
              </a:lnSpc>
              <a:buNone/>
            </a:pPr>
            <a:r>
              <a:rPr lang="en-US" sz="1100" dirty="0">
                <a:solidFill>
                  <a:srgbClr val="BFC4BA"/>
                </a:solidFill>
              </a:rPr>
              <a:t>A field-audit operations platform for an audit consultancy. Admins plan visits and define each client’s checklist; executives run every visit from their phone; nothing incomplete is lost between visits.</a:t>
            </a:r>
            <a:endParaRPr lang="en-US" sz="1100" dirty="0"/>
          </a:p>
        </p:txBody>
      </p:sp>
      <p:sp>
        <p:nvSpPr>
          <p:cNvPr id="7" name="Shape 4"/>
          <p:cNvSpPr/>
          <p:nvPr/>
        </p:nvSpPr>
        <p:spPr>
          <a:xfrm>
            <a:off x="548640" y="4754880"/>
            <a:ext cx="4572000" cy="0"/>
          </a:xfrm>
          <a:prstGeom prst="line">
            <a:avLst/>
          </a:prstGeom>
          <a:noFill/>
          <a:ln w="9525">
            <a:solidFill>
              <a:srgbClr val="2A3832"/>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CLIENT</a:t>
            </a:r>
            <a:endParaRPr lang="en-US" sz="800" dirty="0"/>
          </a:p>
          <a:p>
            <a:pPr indent="0" marL="0">
              <a:spcAft>
                <a:spcPts val="200"/>
              </a:spcAft>
              <a:buNone/>
            </a:pPr>
            <a:r>
              <a:rPr lang="en-US" sz="1100" b="1" dirty="0">
                <a:solidFill>
                  <a:srgbClr val="EEF0E6"/>
                </a:solidFill>
              </a:rPr>
              <a:t>Shaabi Management Consultancy</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SECTOR</a:t>
            </a:r>
            <a:endParaRPr lang="en-US" sz="800" dirty="0"/>
          </a:p>
          <a:p>
            <a:pPr indent="0" marL="0">
              <a:spcAft>
                <a:spcPts val="200"/>
              </a:spcAft>
              <a:buNone/>
            </a:pPr>
            <a:r>
              <a:rPr lang="en-US" sz="1100" b="1" dirty="0">
                <a:solidFill>
                  <a:srgbClr val="EEF0E6"/>
                </a:solidFill>
              </a:rPr>
              <a:t>Audit &amp; consulting</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PLATFORM</a:t>
            </a:r>
            <a:endParaRPr lang="en-US" sz="800" dirty="0"/>
          </a:p>
          <a:p>
            <a:pPr indent="0" marL="0">
              <a:spcAft>
                <a:spcPts val="200"/>
              </a:spcAft>
              <a:buNone/>
            </a:pPr>
            <a:r>
              <a:rPr lang="en-US" sz="1100" b="1" dirty="0">
                <a:solidFill>
                  <a:srgbClr val="EEF0E6"/>
                </a:solidFill>
              </a:rPr>
              <a:t>Web ·​ Android</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ROLES</a:t>
            </a:r>
            <a:endParaRPr lang="en-US" sz="800" dirty="0"/>
          </a:p>
          <a:p>
            <a:pPr indent="0" marL="0">
              <a:spcAft>
                <a:spcPts val="200"/>
              </a:spcAft>
              <a:buNone/>
            </a:pPr>
            <a:r>
              <a:rPr lang="en-US" sz="1100" b="1" dirty="0">
                <a:solidFill>
                  <a:srgbClr val="EEF0E6"/>
                </a:solidFill>
              </a:rPr>
              <a:t>Admin ·​ Field Executive</a:t>
            </a:r>
            <a:endParaRPr lang="en-US" sz="800" dirty="0"/>
          </a:p>
        </p:txBody>
      </p:sp>
      <p:pic>
        <p:nvPicPr>
          <p:cNvPr id="12" name="reveal-1" descr="SMC Task Management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29</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Weekly audits, dozens of clients, no single view.</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SMC’s executives visit client sites every week to verify operations, stock, accounts and reports — and every client needs a different checklist. Tracking was manual: unfinished items relied on memory to reach the next visit, and management had no live view of progress across the team.</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One system, from the admin’s calendar to the executive’s phone.</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a role-based platform that turns each audit visit into a structured, trackable workflow. Admins schedule visits and configure checklists per client. Executives open the visit on their phone, complete each item or record why it couldn’t be done, and close it only when the rules are met. Unfinished work carries forward — with admin approval — into the next visit.</a:t>
            </a:r>
            <a:endParaRPr lang="en-US" sz="1150" dirty="0"/>
          </a:p>
        </p:txBody>
      </p:sp>
      <p:sp>
        <p:nvSpPr>
          <p:cNvPr id="10" name="Shape 6"/>
          <p:cNvSpPr/>
          <p:nvPr/>
        </p:nvSpPr>
        <p:spPr>
          <a:xfrm>
            <a:off x="5760720" y="502920"/>
            <a:ext cx="5879592" cy="5715000"/>
          </a:xfrm>
          <a:prstGeom prst="roundRect">
            <a:avLst>
              <a:gd name="adj" fmla="val 2560"/>
            </a:avLst>
          </a:prstGeom>
          <a:solidFill>
            <a:srgbClr val="E9EDF5"/>
          </a:solidFill>
          <a:ln/>
        </p:spPr>
      </p:sp>
      <p:pic>
        <p:nvPicPr>
          <p:cNvPr id="11" name="Image 2" descr="SMC Task Management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30</a:t>
            </a:fld>
            <a:endParaRPr lang="en-US"/>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9EDF5"/>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SMC Task Management.</a:t>
            </a:r>
            <a:endParaRPr lang="en-US" sz="2800" dirty="0"/>
          </a:p>
        </p:txBody>
      </p:sp>
      <p:pic>
        <p:nvPicPr>
          <p:cNvPr id="5" name="reveal-1" descr="The week at a glance">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week at a glance</a:t>
            </a:r>
            <a:endParaRPr lang="en-US" sz="950" dirty="0"/>
          </a:p>
          <a:p>
            <a:pPr indent="0" marL="0">
              <a:spcAft>
                <a:spcPts val="300"/>
              </a:spcAft>
              <a:buNone/>
            </a:pPr>
            <a:r>
              <a:rPr lang="en-US" sz="1100" dirty="0">
                <a:solidFill>
                  <a:srgbClr val="5C6A62"/>
                </a:solidFill>
              </a:rPr>
              <a:t>Admins plan visits across the team in a weekly calendar — done, in progress, planned and carried forward, colour-coded.</a:t>
            </a:r>
            <a:endParaRPr lang="en-US" sz="950" dirty="0"/>
          </a:p>
        </p:txBody>
      </p:sp>
      <p:pic>
        <p:nvPicPr>
          <p:cNvPr id="7" name="reveal-2" descr="Live operational dashboard">    </p:cNvPr>
          <p:cNvPicPr>
            <a:picLocks noChangeAspect="1"/>
          </p:cNvPicPr>
          <p:nvPr/>
        </p:nvPicPr>
        <p:blipFill>
          <a:blip r:embed="rId3"/>
          <a:stretch>
            <a:fillRect/>
          </a:stretch>
        </p:blipFill>
        <p:spPr>
          <a:xfrm>
            <a:off x="5907552" y="1353231"/>
            <a:ext cx="5960831" cy="4066601"/>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Live operational dashboard</a:t>
            </a:r>
            <a:endParaRPr lang="en-US" sz="950" dirty="0"/>
          </a:p>
          <a:p>
            <a:pPr indent="0" marL="0">
              <a:spcAft>
                <a:spcPts val="300"/>
              </a:spcAft>
              <a:buNone/>
            </a:pPr>
            <a:r>
              <a:rPr lang="en-US" sz="1100" dirty="0">
                <a:solidFill>
                  <a:srgbClr val="5C6A62"/>
                </a:solidFill>
              </a:rPr>
              <a:t>Completion rate, staff performance and task distribution, with every executive’s workload one click away.</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9EDF5"/>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SMC Task Management.</a:t>
            </a:r>
            <a:endParaRPr lang="en-US" sz="2800" dirty="0"/>
          </a:p>
        </p:txBody>
      </p:sp>
      <p:pic>
        <p:nvPicPr>
          <p:cNvPr id="5" name="reveal-1" descr="Carry-forward, under control">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Carry-forward, under control</a:t>
            </a:r>
            <a:endParaRPr lang="en-US" sz="950" dirty="0"/>
          </a:p>
          <a:p>
            <a:pPr indent="0" marL="0">
              <a:spcAft>
                <a:spcPts val="300"/>
              </a:spcAft>
              <a:buNone/>
            </a:pPr>
            <a:r>
              <a:rPr lang="en-US" sz="1100" dirty="0">
                <a:solidFill>
                  <a:srgbClr val="5C6A62"/>
                </a:solidFill>
              </a:rPr>
              <a:t>Nothing moves to the next visit until an admin reviews it, chooses the schedule date and approves.</a:t>
            </a:r>
            <a:endParaRPr lang="en-US" sz="950" dirty="0"/>
          </a:p>
        </p:txBody>
      </p:sp>
      <p:pic>
        <p:nvPicPr>
          <p:cNvPr id="7" name="reveal-2" descr="A visit, start to finish">    </p:cNvPr>
          <p:cNvPicPr>
            <a:picLocks noChangeAspect="1"/>
          </p:cNvPicPr>
          <p:nvPr/>
        </p:nvPicPr>
        <p:blipFill>
          <a:blip r:embed="rId3"/>
          <a:stretch>
            <a:fillRect/>
          </a:stretch>
        </p:blipFill>
        <p:spPr>
          <a:xfrm>
            <a:off x="5907552" y="1353231"/>
            <a:ext cx="5960831" cy="4066601"/>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A visit, start to finish</a:t>
            </a:r>
            <a:endParaRPr lang="en-US" sz="950" dirty="0"/>
          </a:p>
          <a:p>
            <a:pPr indent="0" marL="0">
              <a:spcAft>
                <a:spcPts val="300"/>
              </a:spcAft>
              <a:buNone/>
            </a:pPr>
            <a:r>
              <a:rPr lang="en-US" sz="1100" dirty="0">
                <a:solidFill>
                  <a:srgbClr val="5C6A62"/>
                </a:solidFill>
              </a:rPr>
              <a:t>Tasks, subtasks, carried items and an activity trail on one screen — then an automatic summary at closure.</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SMC Task Management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Visit planning &amp; calendar</a:t>
            </a:r>
            <a:endParaRPr lang="en-US" sz="950" dirty="0"/>
          </a:p>
          <a:p>
            <a:pPr indent="0" marL="0">
              <a:spcAft>
                <a:spcPts val="300"/>
              </a:spcAft>
              <a:buNone/>
            </a:pPr>
            <a:r>
              <a:rPr lang="en-US" sz="1050" dirty="0">
                <a:solidFill>
                  <a:srgbClr val="5C6A62"/>
                </a:solidFill>
              </a:rPr>
              <a:t>Schedule, reschedule and reassign visits across executives in a weekly calendar.</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Client-specific checklists</a:t>
            </a:r>
            <a:endParaRPr lang="en-US" sz="950" dirty="0"/>
          </a:p>
          <a:p>
            <a:pPr indent="0" marL="0">
              <a:spcAft>
                <a:spcPts val="300"/>
              </a:spcAft>
              <a:buNone/>
            </a:pPr>
            <a:r>
              <a:rPr lang="en-US" sz="1050" dirty="0">
                <a:solidFill>
                  <a:srgbClr val="5C6A62"/>
                </a:solidFill>
              </a:rPr>
              <a:t>Each client gets its own task and subtask template, applied to every new visit automatically.</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Rules that keep audits complete</a:t>
            </a:r>
            <a:endParaRPr lang="en-US" sz="950" dirty="0"/>
          </a:p>
          <a:p>
            <a:pPr indent="0" marL="0">
              <a:spcAft>
                <a:spcPts val="300"/>
              </a:spcAft>
              <a:buNone/>
            </a:pPr>
            <a:r>
              <a:rPr lang="en-US" sz="1050" dirty="0">
                <a:solidFill>
                  <a:srgbClr val="5C6A62"/>
                </a:solidFill>
              </a:rPr>
              <a:t>A visit closes only when required work is done. The MD meeting must be answered and every open item needs a reason.</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Carry-forward with approval</a:t>
            </a:r>
            <a:endParaRPr lang="en-US" sz="950" dirty="0"/>
          </a:p>
          <a:p>
            <a:pPr indent="0" marL="0">
              <a:spcAft>
                <a:spcPts val="300"/>
              </a:spcAft>
              <a:buNone/>
            </a:pPr>
            <a:r>
              <a:rPr lang="en-US" sz="1050" dirty="0">
                <a:solidFill>
                  <a:srgbClr val="5C6A62"/>
                </a:solidFill>
              </a:rPr>
              <a:t>Unfinished items move into the next visit with their history — after an admin reviews and approves them.</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Progress, trail and summary</a:t>
            </a:r>
            <a:endParaRPr lang="en-US" sz="950" dirty="0"/>
          </a:p>
          <a:p>
            <a:pPr indent="0" marL="0">
              <a:spcAft>
                <a:spcPts val="300"/>
              </a:spcAft>
              <a:buNone/>
            </a:pPr>
            <a:r>
              <a:rPr lang="en-US" sz="1050" dirty="0">
                <a:solidFill>
                  <a:srgbClr val="5C6A62"/>
                </a:solidFill>
              </a:rPr>
              <a:t>Live progress per visit, a full activity trail and an automatic summary with a rating when the visit closes.</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Attendance &amp; leave</a:t>
            </a:r>
            <a:endParaRPr lang="en-US" sz="950" dirty="0"/>
          </a:p>
          <a:p>
            <a:pPr indent="0" marL="0">
              <a:spcAft>
                <a:spcPts val="300"/>
              </a:spcAft>
              <a:buNone/>
            </a:pPr>
            <a:r>
              <a:rPr lang="en-US" sz="1050" dirty="0">
                <a:solidFill>
                  <a:srgbClr val="5C6A62"/>
                </a:solidFill>
              </a:rPr>
              <a:t>Executives punch in and request leave from the app; admins review attendance and approve requests.</a:t>
            </a:r>
            <a:endParaRPr lang="en-US" sz="950" dirty="0"/>
          </a:p>
        </p:txBody>
      </p:sp>
      <p:sp>
        <p:nvSpPr>
          <p:cNvPr id="17" name="Shape 14"/>
          <p:cNvSpPr/>
          <p:nvPr/>
        </p:nvSpPr>
        <p:spPr>
          <a:xfrm>
            <a:off x="8503920" y="502920"/>
            <a:ext cx="3136392" cy="5715000"/>
          </a:xfrm>
          <a:prstGeom prst="roundRect">
            <a:avLst>
              <a:gd name="adj" fmla="val 4665"/>
            </a:avLst>
          </a:prstGeom>
          <a:solidFill>
            <a:srgbClr val="13213D"/>
          </a:solidFill>
          <a:ln/>
        </p:spPr>
      </p:sp>
      <p:pic>
        <p:nvPicPr>
          <p:cNvPr id="18" name="Image 1" descr="SMC Task Management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33</a:t>
            </a:fld>
            <a:endParaRPr lang="en-US"/>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13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every role.</a:t>
            </a:r>
            <a:endParaRPr lang="en-US" sz="2800" dirty="0"/>
          </a:p>
        </p:txBody>
      </p:sp>
      <p:pic>
        <p:nvPicPr>
          <p:cNvPr id="5" name="Image 1" descr="Admin view">    </p:cNvPr>
          <p:cNvPicPr>
            <a:picLocks noChangeAspect="1"/>
          </p:cNvPicPr>
          <p:nvPr/>
        </p:nvPicPr>
        <p:blipFill>
          <a:blip r:embed="rId2"/>
          <a:stretch>
            <a:fillRect/>
          </a:stretch>
        </p:blipFill>
        <p:spPr>
          <a:xfrm>
            <a:off x="298008" y="1244268"/>
            <a:ext cx="4961664" cy="3262464"/>
          </a:xfrm>
          <a:prstGeom prst="rect">
            <a:avLst/>
          </a:prstGeom>
        </p:spPr>
      </p:pic>
      <p:sp>
        <p:nvSpPr>
          <p:cNvPr id="6" name="Shape 2"/>
          <p:cNvSpPr/>
          <p:nvPr/>
        </p:nvSpPr>
        <p:spPr>
          <a:xfrm>
            <a:off x="548640" y="4315968"/>
            <a:ext cx="5387188" cy="0"/>
          </a:xfrm>
          <a:prstGeom prst="line">
            <a:avLst/>
          </a:prstGeom>
          <a:noFill/>
          <a:ln w="9525">
            <a:solidFill>
              <a:srgbClr val="2A3832"/>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DESKTOP &amp; MOBILE</a:t>
            </a:r>
            <a:endParaRPr lang="en-US" sz="800" dirty="0"/>
          </a:p>
          <a:p>
            <a:pPr indent="0" marL="0">
              <a:spcAft>
                <a:spcPts val="200"/>
              </a:spcAft>
              <a:buNone/>
            </a:pPr>
            <a:r>
              <a:rPr lang="en-US" sz="1700" b="1" dirty="0">
                <a:solidFill>
                  <a:srgbClr val="EEF0E6"/>
                </a:solidFill>
              </a:rPr>
              <a:t>Admin</a:t>
            </a:r>
            <a:endParaRPr lang="en-US" sz="800" dirty="0"/>
          </a:p>
          <a:p>
            <a:pPr indent="0" marL="0">
              <a:spcAft>
                <a:spcPts val="200"/>
              </a:spcAft>
              <a:buNone/>
            </a:pPr>
            <a:r>
              <a:rPr lang="en-US" sz="1100" dirty="0">
                <a:solidFill>
                  <a:srgbClr val="EEF0E6"/>
                </a:solidFill>
              </a:rPr>
              <a:t>Plans the week and keeps every visit on track.</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Dashboard of visits, completion rate and staff performance</a:t>
            </a:r>
            <a:endParaRPr lang="en-US" sz="1000" dirty="0"/>
          </a:p>
          <a:p>
            <a:pPr marL="165100" indent="-165100">
              <a:spcAft>
                <a:spcPts val="400"/>
              </a:spcAft>
              <a:buSzPct val="100000"/>
              <a:buChar char="•"/>
            </a:pPr>
            <a:r>
              <a:rPr lang="en-US" sz="1000" dirty="0">
                <a:solidFill>
                  <a:srgbClr val="BFC4BA"/>
                </a:solidFill>
              </a:rPr>
              <a:t>Weekly calendar for scheduling and reassignment</a:t>
            </a:r>
            <a:endParaRPr lang="en-US" sz="1000" dirty="0"/>
          </a:p>
          <a:p>
            <a:pPr marL="165100" indent="-165100">
              <a:spcAft>
                <a:spcPts val="400"/>
              </a:spcAft>
              <a:buSzPct val="100000"/>
              <a:buChar char="•"/>
            </a:pPr>
            <a:r>
              <a:rPr lang="en-US" sz="1000" dirty="0">
                <a:solidFill>
                  <a:srgbClr val="BFC4BA"/>
                </a:solidFill>
              </a:rPr>
              <a:t>Carry-forward approvals and client checklists</a:t>
            </a:r>
            <a:endParaRPr lang="en-US" sz="1000" dirty="0"/>
          </a:p>
          <a:p>
            <a:pPr marL="165100" indent="-165100">
              <a:spcAft>
                <a:spcPts val="400"/>
              </a:spcAft>
              <a:buSzPct val="100000"/>
              <a:buChar char="•"/>
            </a:pPr>
            <a:r>
              <a:rPr lang="en-US" sz="1000" dirty="0">
                <a:solidFill>
                  <a:srgbClr val="BFC4BA"/>
                </a:solidFill>
              </a:rPr>
              <a:t>Executive workload, attendance and leave</a:t>
            </a:r>
            <a:endParaRPr lang="en-US" sz="1000" dirty="0"/>
          </a:p>
        </p:txBody>
      </p:sp>
      <p:pic>
        <p:nvPicPr>
          <p:cNvPr id="9" name="Image 2" descr="Field Executive view">    </p:cNvPr>
          <p:cNvPicPr>
            <a:picLocks noChangeAspect="1"/>
          </p:cNvPicPr>
          <p:nvPr/>
        </p:nvPicPr>
        <p:blipFill>
          <a:blip r:embed="rId3"/>
          <a:stretch>
            <a:fillRect/>
          </a:stretch>
        </p:blipFill>
        <p:spPr>
          <a:xfrm>
            <a:off x="6026212" y="1262578"/>
            <a:ext cx="3670597" cy="3215178"/>
          </a:xfrm>
          <a:prstGeom prst="rect">
            <a:avLst/>
          </a:prstGeom>
        </p:spPr>
      </p:pic>
      <p:sp>
        <p:nvSpPr>
          <p:cNvPr id="10" name="Shape 5"/>
          <p:cNvSpPr/>
          <p:nvPr/>
        </p:nvSpPr>
        <p:spPr>
          <a:xfrm>
            <a:off x="6255868" y="4315968"/>
            <a:ext cx="5387188" cy="0"/>
          </a:xfrm>
          <a:prstGeom prst="line">
            <a:avLst/>
          </a:prstGeom>
          <a:noFill/>
          <a:ln w="9525">
            <a:solidFill>
              <a:srgbClr val="2A3832"/>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MOBILE-FIRST</a:t>
            </a:r>
            <a:endParaRPr lang="en-US" sz="800" dirty="0"/>
          </a:p>
          <a:p>
            <a:pPr indent="0" marL="0">
              <a:spcAft>
                <a:spcPts val="200"/>
              </a:spcAft>
              <a:buNone/>
            </a:pPr>
            <a:r>
              <a:rPr lang="en-US" sz="1700" b="1" dirty="0">
                <a:solidFill>
                  <a:srgbClr val="EEF0E6"/>
                </a:solidFill>
              </a:rPr>
              <a:t>Field Executive</a:t>
            </a:r>
            <a:endParaRPr lang="en-US" sz="800" dirty="0"/>
          </a:p>
          <a:p>
            <a:pPr indent="0" marL="0">
              <a:spcAft>
                <a:spcPts val="200"/>
              </a:spcAft>
              <a:buNone/>
            </a:pPr>
            <a:r>
              <a:rPr lang="en-US" sz="1100" dirty="0">
                <a:solidFill>
                  <a:srgbClr val="EEF0E6"/>
                </a:solidFill>
              </a:rPr>
              <a:t>Runs each visit on site, from the phone.</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Pending visits and carried-forward items at a glance</a:t>
            </a:r>
            <a:endParaRPr lang="en-US" sz="1000" dirty="0"/>
          </a:p>
          <a:p>
            <a:pPr marL="165100" indent="-165100">
              <a:spcAft>
                <a:spcPts val="400"/>
              </a:spcAft>
              <a:buSzPct val="100000"/>
              <a:buChar char="•"/>
            </a:pPr>
            <a:r>
              <a:rPr lang="en-US" sz="1000" dirty="0">
                <a:solidFill>
                  <a:srgbClr val="BFC4BA"/>
                </a:solidFill>
              </a:rPr>
              <a:t>Checklist per task, with reasons for open items</a:t>
            </a:r>
            <a:endParaRPr lang="en-US" sz="1000" dirty="0"/>
          </a:p>
          <a:p>
            <a:pPr marL="165100" indent="-165100">
              <a:spcAft>
                <a:spcPts val="400"/>
              </a:spcAft>
              <a:buSzPct val="100000"/>
              <a:buChar char="•"/>
            </a:pPr>
            <a:r>
              <a:rPr lang="en-US" sz="1000" dirty="0">
                <a:solidFill>
                  <a:srgbClr val="BFC4BA"/>
                </a:solidFill>
              </a:rPr>
              <a:t>MD meeting confirmation before closing</a:t>
            </a:r>
            <a:endParaRPr lang="en-US" sz="1000" dirty="0"/>
          </a:p>
          <a:p>
            <a:pPr marL="165100" indent="-165100">
              <a:spcAft>
                <a:spcPts val="400"/>
              </a:spcAft>
              <a:buSzPct val="100000"/>
              <a:buChar char="•"/>
            </a:pPr>
            <a:r>
              <a:rPr lang="en-US" sz="1000" dirty="0">
                <a:solidFill>
                  <a:srgbClr val="BFC4BA"/>
                </a:solidFill>
              </a:rPr>
              <a:t>Punch in, punch out and leave requests</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34</a:t>
            </a:fld>
            <a:endParaRPr lang="en-US"/>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13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Planned at the desk. Run in the field.</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BFC4BA"/>
                </a:solidFill>
              </a:rPr>
              <a:t>Executives run every visit from their phone — checklists, reasons, summaries, attendance. Admins get the same live picture on desktop and mobile.</a:t>
            </a:r>
            <a:endParaRPr lang="en-US" sz="1300" dirty="0"/>
          </a:p>
        </p:txBody>
      </p:sp>
      <p:pic>
        <p:nvPicPr>
          <p:cNvPr id="6" name="reveal-1" descr="SMC Task Management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35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Live visibility</a:t>
            </a:r>
            <a:endParaRPr lang="en-US" sz="1450" dirty="0"/>
          </a:p>
          <a:p>
            <a:pPr indent="0" marL="0">
              <a:spcAft>
                <a:spcPts val="300"/>
              </a:spcAft>
              <a:buNone/>
            </a:pPr>
            <a:r>
              <a:rPr lang="en-US" sz="1050" dirty="0">
                <a:solidFill>
                  <a:srgbClr val="5C6A62"/>
                </a:solidFill>
              </a:rPr>
              <a:t>Management sees the status of every visit and executive without chasing calls.</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Nothing slips between visits</a:t>
            </a:r>
            <a:endParaRPr lang="en-US" sz="1450" dirty="0"/>
          </a:p>
          <a:p>
            <a:pPr indent="0" marL="0">
              <a:spcAft>
                <a:spcPts val="300"/>
              </a:spcAft>
              <a:buNone/>
            </a:pPr>
            <a:r>
              <a:rPr lang="en-US" sz="1050" dirty="0">
                <a:solidFill>
                  <a:srgbClr val="5C6A62"/>
                </a:solidFill>
              </a:rPr>
              <a:t>Unfinished items carry forward with their reason, so follow-ups are never lost.</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Consistent audits</a:t>
            </a:r>
            <a:endParaRPr lang="en-US" sz="1450" dirty="0"/>
          </a:p>
          <a:p>
            <a:pPr indent="0" marL="0">
              <a:spcAft>
                <a:spcPts val="300"/>
              </a:spcAft>
              <a:buNone/>
            </a:pPr>
            <a:r>
              <a:rPr lang="en-US" sz="1050" dirty="0">
                <a:solidFill>
                  <a:srgbClr val="5C6A62"/>
                </a:solidFill>
              </a:rPr>
              <a:t>Client-specific checklists and closing rules make every visit complete and comparable.</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Less manual reporting</a:t>
            </a:r>
            <a:endParaRPr lang="en-US" sz="1450" dirty="0"/>
          </a:p>
          <a:p>
            <a:pPr indent="0" marL="0">
              <a:spcAft>
                <a:spcPts val="300"/>
              </a:spcAft>
              <a:buNone/>
            </a:pPr>
            <a:r>
              <a:rPr lang="en-US" sz="1050" dirty="0">
                <a:solidFill>
                  <a:srgbClr val="5C6A62"/>
                </a:solidFill>
              </a:rPr>
              <a:t>Progress and visit summaries are produced by the system, not compiled by hand.</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Mobile-first web app with an Android build for field executives</a:t>
            </a:r>
            <a:endParaRPr lang="en-US" sz="1150" dirty="0"/>
          </a:p>
          <a:p>
            <a:pPr marL="165100" indent="-165100">
              <a:spcAft>
                <a:spcPts val="400"/>
              </a:spcAft>
              <a:buSzPct val="100000"/>
              <a:buChar char="•"/>
            </a:pPr>
            <a:r>
              <a:rPr lang="en-US" sz="1150" dirty="0">
                <a:solidFill>
                  <a:srgbClr val="34433B"/>
                </a:solidFill>
              </a:rPr>
              <a:t>Executives only ever see the visits assigned to them</a:t>
            </a:r>
            <a:endParaRPr lang="en-US" sz="1150" dirty="0"/>
          </a:p>
          <a:p>
            <a:pPr marL="165100" indent="-165100">
              <a:spcAft>
                <a:spcPts val="400"/>
              </a:spcAft>
              <a:buSzPct val="100000"/>
              <a:buChar char="•"/>
            </a:pPr>
            <a:r>
              <a:rPr lang="en-US" sz="1150" dirty="0">
                <a:solidFill>
                  <a:srgbClr val="34433B"/>
                </a:solidFill>
              </a:rPr>
              <a:t>Lean data and instant checklist feedback on mobile networks</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Next.js</a:t>
            </a:r>
            <a:endParaRPr lang="en-US" sz="950" dirty="0"/>
          </a:p>
        </p:txBody>
      </p:sp>
      <p:sp>
        <p:nvSpPr>
          <p:cNvPr id="19" name="Text 14"/>
          <p:cNvSpPr txBox="1"/>
          <p:nvPr/>
        </p:nvSpPr>
        <p:spPr>
          <a:xfrm>
            <a:off x="8609990"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TypeScript</a:t>
            </a:r>
            <a:endParaRPr lang="en-US" sz="950" dirty="0"/>
          </a:p>
        </p:txBody>
      </p:sp>
      <p:sp>
        <p:nvSpPr>
          <p:cNvPr id="20" name="Text 15"/>
          <p:cNvSpPr txBox="1"/>
          <p:nvPr/>
        </p:nvSpPr>
        <p:spPr>
          <a:xfrm>
            <a:off x="9588398"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PostgreSQL</a:t>
            </a:r>
            <a:endParaRPr lang="en-US" sz="950" dirty="0"/>
          </a:p>
        </p:txBody>
      </p:sp>
      <p:sp>
        <p:nvSpPr>
          <p:cNvPr id="21" name="Text 16"/>
          <p:cNvSpPr txBox="1"/>
          <p:nvPr/>
        </p:nvSpPr>
        <p:spPr>
          <a:xfrm>
            <a:off x="10566806" y="896112"/>
            <a:ext cx="647395"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Prisma</a:t>
            </a:r>
            <a:endParaRPr lang="en-US" sz="950" dirty="0"/>
          </a:p>
        </p:txBody>
      </p:sp>
      <p:sp>
        <p:nvSpPr>
          <p:cNvPr id="22" name="Text 17"/>
          <p:cNvSpPr txBox="1"/>
          <p:nvPr/>
        </p:nvSpPr>
        <p:spPr>
          <a:xfrm>
            <a:off x="7818120" y="1261872"/>
            <a:ext cx="133136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Role-based access</a:t>
            </a:r>
            <a:endParaRPr lang="en-US" sz="950" dirty="0"/>
          </a:p>
        </p:txBody>
      </p:sp>
      <p:sp>
        <p:nvSpPr>
          <p:cNvPr id="23" name="Text 18"/>
          <p:cNvSpPr txBox="1"/>
          <p:nvPr/>
        </p:nvSpPr>
        <p:spPr>
          <a:xfrm>
            <a:off x="9231782" y="1261872"/>
            <a:ext cx="958291"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Android app</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LIVE PRODUCT</a:t>
            </a:r>
            <a:endParaRPr lang="en-US" sz="900" dirty="0"/>
          </a:p>
        </p:txBody>
      </p:sp>
      <p:sp>
        <p:nvSpPr>
          <p:cNvPr id="27" name="Text 21">
            <a:hlinkClick r:id="rId5" tooltip="SMC Task Management"/>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SMC Task Management" history="1" highlightClick="0" endSnd="0">
                  <a:extLst>
                    <a:ext uri="{A12FA001-AC4F-418D-AE19-62706E023703}">
                      <ahyp:hlinkClr xmlns:ahyp="http://schemas.microsoft.com/office/drawing/2018/hyperlinkcolor" val="tx"/>
                    </a:ext>
                  </a:extLst>
                </a:hlinkClick>
              </a:rPr>
              <a:t>View live project →</a:t>
            </a:r>
            <a:endParaRPr lang="en-US" sz="1600" dirty="0"/>
          </a:p>
        </p:txBody>
      </p:sp>
      <p:sp>
        <p:nvSpPr>
          <p:cNvPr id="28" name="Text 22"/>
          <p:cNvSpPr txBox="1"/>
          <p:nvPr/>
        </p:nvSpPr>
        <p:spPr>
          <a:xfrm>
            <a:off x="8092440" y="4873752"/>
            <a:ext cx="3276295" cy="228600"/>
          </a:xfrm>
          <a:prstGeom prst="rect">
            <a:avLst/>
          </a:prstGeom>
          <a:noFill/>
          <a:ln/>
        </p:spPr>
        <p:txBody>
          <a:bodyPr wrap="square" lIns="0" tIns="0" rIns="0" bIns="0" rtlCol="0" anchor="t"/>
          <a:lstStyle/>
          <a:p>
            <a:pPr indent="0" marL="0">
              <a:buNone/>
            </a:pPr>
            <a:r>
              <a:rPr lang="en-US" sz="900" dirty="0">
                <a:solidFill>
                  <a:srgbClr val="8C938B"/>
                </a:solidFill>
              </a:rPr>
              <a:t>SMC Task Management</a:t>
            </a:r>
            <a:endParaRPr lang="en-US" sz="900" dirty="0"/>
          </a:p>
        </p:txBody>
      </p:sp>
      <p:sp>
        <p:nvSpPr>
          <p:cNvPr id="29" name="Shape 23">
            <a:hlinkClick r:id="rId6" tooltip="SMC Task Management"/>
          </p:cNvPr>
          <p:cNvSpPr/>
          <p:nvPr/>
        </p:nvSpPr>
        <p:spPr>
          <a:xfrm>
            <a:off x="8092440" y="4873752"/>
            <a:ext cx="1353312" cy="228600"/>
          </a:xfrm>
          <a:prstGeom prst="rect">
            <a:avLst/>
          </a:prstGeom>
          <a:solidFill>
            <a:srgbClr val="FFFFFF">
              <a:alpha val="0"/>
            </a:srgbClr>
          </a:solidFill>
          <a:ln/>
        </p:spPr>
      </p:sp>
      <p:sp>
        <p:nvSpPr>
          <p:cNvPr id="30" name="Text 24"/>
          <p:cNvSpPr txBox="1"/>
          <p:nvPr/>
        </p:nvSpPr>
        <p:spPr>
          <a:xfrm>
            <a:off x="8092440" y="5257800"/>
            <a:ext cx="3276295" cy="731520"/>
          </a:xfrm>
          <a:prstGeom prst="rect">
            <a:avLst/>
          </a:prstGeom>
          <a:noFill/>
          <a:ln/>
        </p:spPr>
        <p:txBody>
          <a:bodyPr wrap="square" lIns="0" tIns="0" rIns="0" bIns="0" rtlCol="0" anchor="t"/>
          <a:lstStyle/>
          <a:p>
            <a:pPr indent="0" marL="0">
              <a:buNone/>
            </a:pPr>
            <a:r>
              <a:rPr lang="en-US" sz="1050" dirty="0">
                <a:solidFill>
                  <a:srgbClr val="BFC4BA"/>
                </a:solidFill>
              </a:rPr>
              <a:t>Live demo: Admin and Field Executive views.</a:t>
            </a:r>
            <a:endParaRPr lang="en-US" sz="1050" dirty="0"/>
          </a:p>
        </p:txBody>
      </p:sp>
      <p:sp>
        <p:nvSpPr>
          <p:cNvPr id="31" name="Text 25"/>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800" dirty="0">
                <a:solidFill>
                  <a:srgbClr val="5C6A62"/>
                </a:solidFill>
              </a:rPr>
              <a:t>Client, contact and staff names in these screens are anonymised to protect SMC’s confidentiality.</a:t>
            </a:r>
            <a:endParaRPr lang="en-US" sz="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36</a:t>
            </a:fld>
            <a:endParaRPr lang="en-US"/>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D7ECE4"/>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5C6A62"/>
                </a:solidFill>
              </a:rPr>
              <a:t>05 — SALES CRM WITH AN AI CO-PILOT</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0D1813"/>
                </a:solidFill>
              </a:rPr>
              <a:t>AI Sales CRM</a:t>
            </a:r>
            <a:endParaRPr lang="en-US" sz="4000" dirty="0"/>
          </a:p>
        </p:txBody>
      </p:sp>
      <p:sp>
        <p:nvSpPr>
          <p:cNvPr id="5" name="Text 2"/>
          <p:cNvSpPr txBox="1"/>
          <p:nvPr/>
        </p:nvSpPr>
        <p:spPr>
          <a:xfrm>
            <a:off x="548640" y="1883664"/>
            <a:ext cx="4572000" cy="777240"/>
          </a:xfrm>
          <a:prstGeom prst="rect">
            <a:avLst/>
          </a:prstGeom>
          <a:noFill/>
          <a:ln/>
        </p:spPr>
        <p:txBody>
          <a:bodyPr wrap="square" lIns="0" tIns="0" rIns="0" bIns="0" rtlCol="0" anchor="t"/>
          <a:lstStyle/>
          <a:p>
            <a:pPr indent="0" marL="0">
              <a:lnSpc>
                <a:spcPct val="108000"/>
              </a:lnSpc>
              <a:buNone/>
            </a:pPr>
            <a:r>
              <a:rPr lang="en-US" sz="1650" dirty="0">
                <a:solidFill>
                  <a:srgbClr val="0D1813"/>
                </a:solidFill>
                <a:latin typeface="Satoshi Medium" pitchFamily="34" charset="0"/>
                <a:ea typeface="Satoshi Medium" pitchFamily="34" charset="-122"/>
                <a:cs typeface="Satoshi Medium" pitchFamily="34" charset="-120"/>
              </a:rPr>
              <a:t>Leads, pipeline and follow-ups — with an AI co-pilot that reads every deal.</a:t>
            </a:r>
            <a:endParaRPr lang="en-US" sz="1650" dirty="0"/>
          </a:p>
        </p:txBody>
      </p:sp>
      <p:sp>
        <p:nvSpPr>
          <p:cNvPr id="6" name="Text 3"/>
          <p:cNvSpPr txBox="1"/>
          <p:nvPr/>
        </p:nvSpPr>
        <p:spPr>
          <a:xfrm>
            <a:off x="548640" y="2706624"/>
            <a:ext cx="4572000" cy="1325880"/>
          </a:xfrm>
          <a:prstGeom prst="rect">
            <a:avLst/>
          </a:prstGeom>
          <a:noFill/>
          <a:ln/>
        </p:spPr>
        <p:txBody>
          <a:bodyPr wrap="square" lIns="0" tIns="0" rIns="0" bIns="0" rtlCol="0" anchor="t"/>
          <a:lstStyle/>
          <a:p>
            <a:pPr indent="0" marL="0">
              <a:lnSpc>
                <a:spcPct val="115000"/>
              </a:lnSpc>
              <a:buNone/>
            </a:pPr>
            <a:r>
              <a:rPr lang="en-US" sz="1100" dirty="0">
                <a:solidFill>
                  <a:srgbClr val="34433B"/>
                </a:solidFill>
              </a:rPr>
              <a:t>Crita’s sales CRM: leads, contacts, a drag-and-drop pipeline, notes and follow-ups in one workspace, with Google Gemini summarising leads, drafting emails and rating the health of the pipeline.</a:t>
            </a:r>
            <a:endParaRPr lang="en-US" sz="1100" dirty="0"/>
          </a:p>
        </p:txBody>
      </p:sp>
      <p:sp>
        <p:nvSpPr>
          <p:cNvPr id="7" name="Shape 4"/>
          <p:cNvSpPr/>
          <p:nvPr/>
        </p:nvSpPr>
        <p:spPr>
          <a:xfrm>
            <a:off x="548640" y="4754880"/>
            <a:ext cx="4572000" cy="0"/>
          </a:xfrm>
          <a:prstGeom prst="line">
            <a:avLst/>
          </a:prstGeom>
          <a:noFill/>
          <a:ln w="9525">
            <a:solidFill>
              <a:srgbClr val="D3D5CC"/>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CLIENT</a:t>
            </a:r>
            <a:endParaRPr lang="en-US" sz="800" dirty="0"/>
          </a:p>
          <a:p>
            <a:pPr indent="0" marL="0">
              <a:spcAft>
                <a:spcPts val="200"/>
              </a:spcAft>
              <a:buNone/>
            </a:pPr>
            <a:r>
              <a:rPr lang="en-US" sz="1100" b="1" dirty="0">
                <a:solidFill>
                  <a:srgbClr val="0D1813"/>
                </a:solidFill>
              </a:rPr>
              <a:t>A Crita product</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SECTOR</a:t>
            </a:r>
            <a:endParaRPr lang="en-US" sz="800" dirty="0"/>
          </a:p>
          <a:p>
            <a:pPr indent="0" marL="0">
              <a:spcAft>
                <a:spcPts val="200"/>
              </a:spcAft>
              <a:buNone/>
            </a:pPr>
            <a:r>
              <a:rPr lang="en-US" sz="1100" b="1" dirty="0">
                <a:solidFill>
                  <a:srgbClr val="0D1813"/>
                </a:solidFill>
              </a:rPr>
              <a:t>Sales &amp; CRM</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PLATFORM</a:t>
            </a:r>
            <a:endParaRPr lang="en-US" sz="800" dirty="0"/>
          </a:p>
          <a:p>
            <a:pPr indent="0" marL="0">
              <a:spcAft>
                <a:spcPts val="200"/>
              </a:spcAft>
              <a:buNone/>
            </a:pPr>
            <a:r>
              <a:rPr lang="en-US" sz="1100" b="1" dirty="0">
                <a:solidFill>
                  <a:srgbClr val="0D1813"/>
                </a:solidFill>
              </a:rPr>
              <a:t>Web ·​ Responsive</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ROLES</a:t>
            </a:r>
            <a:endParaRPr lang="en-US" sz="800" dirty="0"/>
          </a:p>
          <a:p>
            <a:pPr indent="0" marL="0">
              <a:spcAft>
                <a:spcPts val="200"/>
              </a:spcAft>
              <a:buNone/>
            </a:pPr>
            <a:r>
              <a:rPr lang="en-US" sz="1100" b="1" dirty="0">
                <a:solidFill>
                  <a:srgbClr val="0D1813"/>
                </a:solidFill>
              </a:rPr>
              <a:t>Sales teams</a:t>
            </a:r>
            <a:endParaRPr lang="en-US" sz="800" dirty="0"/>
          </a:p>
        </p:txBody>
      </p:sp>
      <p:pic>
        <p:nvPicPr>
          <p:cNvPr id="12" name="reveal-1" descr="AI Sales CRM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37</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Deals slip between spreadsheets and memory.</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Small sales teams track leads in sheets and inboxes. Follow-ups are forgotten, nobody sees the pipeline’s real value, and every email to a prospect starts from a blank page.</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A clean CRM, with an assistant inside every lead.</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a CRM around the sales day: a dashboard of pipeline value, closed revenue and win rate; leads by stage, priority and source; a pipeline board; contacts, notes and follow-ups. Gemini reads each lead to suggest the next best action, drafts the email in the chosen tone and rates the pipeline as a whole.</a:t>
            </a:r>
            <a:endParaRPr lang="en-US" sz="1150" dirty="0"/>
          </a:p>
        </p:txBody>
      </p:sp>
      <p:sp>
        <p:nvSpPr>
          <p:cNvPr id="10" name="Shape 6"/>
          <p:cNvSpPr/>
          <p:nvPr/>
        </p:nvSpPr>
        <p:spPr>
          <a:xfrm>
            <a:off x="5760720" y="502920"/>
            <a:ext cx="5879592" cy="5715000"/>
          </a:xfrm>
          <a:prstGeom prst="roundRect">
            <a:avLst>
              <a:gd name="adj" fmla="val 2560"/>
            </a:avLst>
          </a:prstGeom>
          <a:solidFill>
            <a:srgbClr val="ECF4F0"/>
          </a:solidFill>
          <a:ln/>
        </p:spPr>
      </p:sp>
      <p:pic>
        <p:nvPicPr>
          <p:cNvPr id="11" name="Image 2" descr="AI Sales CRM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38</a:t>
            </a:fld>
            <a:endParaRPr lang="en-US"/>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ECF4F0"/>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AI Sales CRM.</a:t>
            </a:r>
            <a:endParaRPr lang="en-US" sz="2800" dirty="0"/>
          </a:p>
        </p:txBody>
      </p:sp>
      <p:pic>
        <p:nvPicPr>
          <p:cNvPr id="5" name="reveal-1" descr="The sales day on one screen">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sales day on one screen</a:t>
            </a:r>
            <a:endParaRPr lang="en-US" sz="950" dirty="0"/>
          </a:p>
          <a:p>
            <a:pPr indent="0" marL="0">
              <a:spcAft>
                <a:spcPts val="300"/>
              </a:spcAft>
              <a:buNone/>
            </a:pPr>
            <a:r>
              <a:rPr lang="en-US" sz="1100" dirty="0">
                <a:solidFill>
                  <a:srgbClr val="5C6A62"/>
                </a:solidFill>
              </a:rPr>
              <a:t>Pipeline value, revenue, win rate and new leads, with the latest movements underneath.</a:t>
            </a:r>
            <a:endParaRPr lang="en-US" sz="950" dirty="0"/>
          </a:p>
        </p:txBody>
      </p:sp>
      <p:pic>
        <p:nvPicPr>
          <p:cNvPr id="7" name="reveal-2" descr="Every deal, by stage">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Every deal, by stage</a:t>
            </a:r>
            <a:endParaRPr lang="en-US" sz="950" dirty="0"/>
          </a:p>
          <a:p>
            <a:pPr indent="0" marL="0">
              <a:spcAft>
                <a:spcPts val="300"/>
              </a:spcAft>
              <a:buNone/>
            </a:pPr>
            <a:r>
              <a:rPr lang="en-US" sz="1100" dirty="0">
                <a:solidFill>
                  <a:srgbClr val="5C6A62"/>
                </a:solidFill>
              </a:rPr>
              <a:t>A pipeline board with the value of each stage — move a deal by dragging it.</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ECF4F0"/>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AI Sales CRM.</a:t>
            </a:r>
            <a:endParaRPr lang="en-US" sz="2800" dirty="0"/>
          </a:p>
        </p:txBody>
      </p:sp>
      <p:pic>
        <p:nvPicPr>
          <p:cNvPr id="5" name="reveal-1" descr="Ask what to do next">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Ask what to do next</a:t>
            </a:r>
            <a:endParaRPr lang="en-US" sz="950" dirty="0"/>
          </a:p>
          <a:p>
            <a:pPr indent="0" marL="0">
              <a:spcAft>
                <a:spcPts val="300"/>
              </a:spcAft>
              <a:buNone/>
            </a:pPr>
            <a:r>
              <a:rPr lang="en-US" sz="1100" dirty="0">
                <a:solidFill>
                  <a:srgbClr val="5C6A62"/>
                </a:solidFill>
              </a:rPr>
              <a:t>Gemini summarises the lead, scores its risk and suggests the next best action.</a:t>
            </a:r>
            <a:endParaRPr lang="en-US" sz="950" dirty="0"/>
          </a:p>
        </p:txBody>
      </p:sp>
      <p:pic>
        <p:nvPicPr>
          <p:cNvPr id="7" name="reveal-2" descr="Pipeline health, scored">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Pipeline health, scored</a:t>
            </a:r>
            <a:endParaRPr lang="en-US" sz="950" dirty="0"/>
          </a:p>
          <a:p>
            <a:pPr indent="0" marL="0">
              <a:spcAft>
                <a:spcPts val="300"/>
              </a:spcAft>
              <a:buNone/>
            </a:pPr>
            <a:r>
              <a:rPr lang="en-US" sz="1100" dirty="0">
                <a:solidFill>
                  <a:srgbClr val="5C6A62"/>
                </a:solidFill>
              </a:rPr>
              <a:t>One click rates the whole pipeline and explains what is working and where deals stall.</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AI Sales CRM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Pipeline dashboard</a:t>
            </a:r>
            <a:endParaRPr lang="en-US" sz="950" dirty="0"/>
          </a:p>
          <a:p>
            <a:pPr indent="0" marL="0">
              <a:spcAft>
                <a:spcPts val="300"/>
              </a:spcAft>
              <a:buNone/>
            </a:pPr>
            <a:r>
              <a:rPr lang="en-US" sz="1050" dirty="0">
                <a:solidFill>
                  <a:srgbClr val="5C6A62"/>
                </a:solidFill>
              </a:rPr>
              <a:t>Pipeline value, closed revenue, win rate and new leads per month, with the latest lead movements.</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Leads in order</a:t>
            </a:r>
            <a:endParaRPr lang="en-US" sz="950" dirty="0"/>
          </a:p>
          <a:p>
            <a:pPr indent="0" marL="0">
              <a:spcAft>
                <a:spcPts val="300"/>
              </a:spcAft>
              <a:buNone/>
            </a:pPr>
            <a:r>
              <a:rPr lang="en-US" sz="1050" dirty="0">
                <a:solidFill>
                  <a:srgbClr val="5C6A62"/>
                </a:solidFill>
              </a:rPr>
              <a:t>Stage, priority, source and value on every lead, with a filter for each.</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Drag-and-drop pipeline</a:t>
            </a:r>
            <a:endParaRPr lang="en-US" sz="950" dirty="0"/>
          </a:p>
          <a:p>
            <a:pPr indent="0" marL="0">
              <a:spcAft>
                <a:spcPts val="300"/>
              </a:spcAft>
              <a:buNone/>
            </a:pPr>
            <a:r>
              <a:rPr lang="en-US" sz="1050" dirty="0">
                <a:solidFill>
                  <a:srgbClr val="5C6A62"/>
                </a:solidFill>
              </a:rPr>
              <a:t>New, qualified, proposal and won columns, with the value of every stage.</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AI lead summary</a:t>
            </a:r>
            <a:endParaRPr lang="en-US" sz="950" dirty="0"/>
          </a:p>
          <a:p>
            <a:pPr indent="0" marL="0">
              <a:spcAft>
                <a:spcPts val="300"/>
              </a:spcAft>
              <a:buNone/>
            </a:pPr>
            <a:r>
              <a:rPr lang="en-US" sz="1050" dirty="0">
                <a:solidFill>
                  <a:srgbClr val="5C6A62"/>
                </a:solidFill>
              </a:rPr>
              <a:t>A plain-language summary, risk score, suggested priority and next best action for any lead.</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AI email drafts</a:t>
            </a:r>
            <a:endParaRPr lang="en-US" sz="950" dirty="0"/>
          </a:p>
          <a:p>
            <a:pPr indent="0" marL="0">
              <a:spcAft>
                <a:spcPts val="300"/>
              </a:spcAft>
              <a:buNone/>
            </a:pPr>
            <a:r>
              <a:rPr lang="en-US" sz="1050" dirty="0">
                <a:solidFill>
                  <a:srgbClr val="5C6A62"/>
                </a:solidFill>
              </a:rPr>
              <a:t>Follow-up emails drafted by purpose and tone, ready to copy.</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Follow-ups that don’t slip</a:t>
            </a:r>
            <a:endParaRPr lang="en-US" sz="950" dirty="0"/>
          </a:p>
          <a:p>
            <a:pPr indent="0" marL="0">
              <a:spcAft>
                <a:spcPts val="300"/>
              </a:spcAft>
              <a:buNone/>
            </a:pPr>
            <a:r>
              <a:rPr lang="en-US" sz="1050" dirty="0">
                <a:solidFill>
                  <a:srgbClr val="5C6A62"/>
                </a:solidFill>
              </a:rPr>
              <a:t>Tasks with priority and status, and overdue work flagged.</a:t>
            </a:r>
            <a:endParaRPr lang="en-US" sz="950" dirty="0"/>
          </a:p>
        </p:txBody>
      </p:sp>
      <p:sp>
        <p:nvSpPr>
          <p:cNvPr id="17" name="Shape 14"/>
          <p:cNvSpPr/>
          <p:nvPr/>
        </p:nvSpPr>
        <p:spPr>
          <a:xfrm>
            <a:off x="8503920" y="502920"/>
            <a:ext cx="3136392" cy="5715000"/>
          </a:xfrm>
          <a:prstGeom prst="roundRect">
            <a:avLst>
              <a:gd name="adj" fmla="val 4665"/>
            </a:avLst>
          </a:prstGeom>
          <a:solidFill>
            <a:srgbClr val="D7ECE4"/>
          </a:solidFill>
          <a:ln/>
        </p:spPr>
      </p:sp>
      <p:pic>
        <p:nvPicPr>
          <p:cNvPr id="18" name="Image 1" descr="AI Sales CRM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41</a:t>
            </a:fld>
            <a:endParaRPr lang="en-US"/>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D7ECE4"/>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PLATFORM ARCHITECTURE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A CRM with the AI built in.</a:t>
            </a:r>
            <a:endParaRPr lang="en-US" sz="2800" dirty="0"/>
          </a:p>
        </p:txBody>
      </p:sp>
      <p:sp>
        <p:nvSpPr>
          <p:cNvPr id="5" name="Text 2"/>
          <p:cNvSpPr txBox="1"/>
          <p:nvPr/>
        </p:nvSpPr>
        <p:spPr>
          <a:xfrm>
            <a:off x="548640" y="1463040"/>
            <a:ext cx="10058400" cy="365760"/>
          </a:xfrm>
          <a:prstGeom prst="rect">
            <a:avLst/>
          </a:prstGeom>
          <a:noFill/>
          <a:ln/>
        </p:spPr>
        <p:txBody>
          <a:bodyPr wrap="square" lIns="0" tIns="0" rIns="0" bIns="0" rtlCol="0" anchor="t"/>
          <a:lstStyle/>
          <a:p>
            <a:pPr indent="0" marL="0">
              <a:buNone/>
            </a:pPr>
            <a:r>
              <a:rPr lang="en-US" sz="1300" dirty="0">
                <a:solidFill>
                  <a:srgbClr val="34433B"/>
                </a:solidFill>
              </a:rPr>
              <a:t>Gemini works from the CRM’s own records: summaries, drafts and insights come from the leads, notes and pipeline the team already keeps.</a:t>
            </a:r>
            <a:endParaRPr lang="en-US" sz="1300" dirty="0"/>
          </a:p>
        </p:txBody>
      </p:sp>
      <p:sp>
        <p:nvSpPr>
          <p:cNvPr id="6" name="Shape 3"/>
          <p:cNvSpPr/>
          <p:nvPr/>
        </p:nvSpPr>
        <p:spPr>
          <a:xfrm>
            <a:off x="548640" y="2103120"/>
            <a:ext cx="11094415" cy="713232"/>
          </a:xfrm>
          <a:prstGeom prst="roundRect">
            <a:avLst>
              <a:gd name="adj" fmla="val 15385"/>
            </a:avLst>
          </a:prstGeom>
          <a:solidFill>
            <a:srgbClr val="FFFFFF">
              <a:alpha val="75000"/>
            </a:srgbClr>
          </a:solidFill>
          <a:ln/>
        </p:spPr>
      </p:sp>
      <p:sp>
        <p:nvSpPr>
          <p:cNvPr id="7" name="Text 4"/>
          <p:cNvSpPr txBox="1"/>
          <p:nvPr/>
        </p:nvSpPr>
        <p:spPr>
          <a:xfrm>
            <a:off x="822960" y="210312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WORKSPACE</a:t>
            </a:r>
            <a:endParaRPr lang="en-US" sz="900" dirty="0"/>
          </a:p>
        </p:txBody>
      </p:sp>
      <p:sp>
        <p:nvSpPr>
          <p:cNvPr id="8" name="Text 5"/>
          <p:cNvSpPr txBox="1"/>
          <p:nvPr/>
        </p:nvSpPr>
        <p:spPr>
          <a:xfrm>
            <a:off x="2651760" y="2249424"/>
            <a:ext cx="1110996"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Leads</a:t>
            </a:r>
            <a:pPr algn="ctr" indent="0" marL="0">
              <a:buNone/>
            </a:pPr>
            <a:r>
              <a:rPr lang="en-US" sz="800" b="1" spc="100" kern="0" dirty="0">
                <a:solidFill>
                  <a:srgbClr val="D6E151"/>
                </a:solidFill>
              </a:rPr>
              <a:t>   LIVE</a:t>
            </a:r>
            <a:endParaRPr lang="en-US" sz="1100" dirty="0"/>
          </a:p>
        </p:txBody>
      </p:sp>
      <p:sp>
        <p:nvSpPr>
          <p:cNvPr id="9" name="Text 6"/>
          <p:cNvSpPr txBox="1"/>
          <p:nvPr/>
        </p:nvSpPr>
        <p:spPr>
          <a:xfrm>
            <a:off x="3890772" y="2249424"/>
            <a:ext cx="1344168"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Contacts</a:t>
            </a:r>
            <a:pPr algn="ctr" indent="0" marL="0">
              <a:buNone/>
            </a:pPr>
            <a:r>
              <a:rPr lang="en-US" sz="800" b="1" spc="100" kern="0" dirty="0">
                <a:solidFill>
                  <a:srgbClr val="D6E151"/>
                </a:solidFill>
              </a:rPr>
              <a:t>   LIVE</a:t>
            </a:r>
            <a:endParaRPr lang="en-US" sz="1100" dirty="0"/>
          </a:p>
        </p:txBody>
      </p:sp>
      <p:sp>
        <p:nvSpPr>
          <p:cNvPr id="10" name="Text 7"/>
          <p:cNvSpPr txBox="1"/>
          <p:nvPr/>
        </p:nvSpPr>
        <p:spPr>
          <a:xfrm>
            <a:off x="5362956" y="2249424"/>
            <a:ext cx="1344168"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Pipeline</a:t>
            </a:r>
            <a:pPr algn="ctr" indent="0" marL="0">
              <a:buNone/>
            </a:pPr>
            <a:r>
              <a:rPr lang="en-US" sz="800" b="1" spc="100" kern="0" dirty="0">
                <a:solidFill>
                  <a:srgbClr val="D6E151"/>
                </a:solidFill>
              </a:rPr>
              <a:t>   LIVE</a:t>
            </a:r>
            <a:endParaRPr lang="en-US" sz="1100" dirty="0"/>
          </a:p>
        </p:txBody>
      </p:sp>
      <p:sp>
        <p:nvSpPr>
          <p:cNvPr id="11" name="Text 8"/>
          <p:cNvSpPr txBox="1"/>
          <p:nvPr/>
        </p:nvSpPr>
        <p:spPr>
          <a:xfrm>
            <a:off x="6835140" y="2249424"/>
            <a:ext cx="1110996"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Notes</a:t>
            </a:r>
            <a:pPr algn="ctr" indent="0" marL="0">
              <a:buNone/>
            </a:pPr>
            <a:r>
              <a:rPr lang="en-US" sz="800" b="1" spc="100" kern="0" dirty="0">
                <a:solidFill>
                  <a:srgbClr val="D6E151"/>
                </a:solidFill>
              </a:rPr>
              <a:t>   LIVE</a:t>
            </a:r>
            <a:endParaRPr lang="en-US" sz="1100" dirty="0"/>
          </a:p>
        </p:txBody>
      </p:sp>
      <p:sp>
        <p:nvSpPr>
          <p:cNvPr id="12" name="Text 9"/>
          <p:cNvSpPr txBox="1"/>
          <p:nvPr/>
        </p:nvSpPr>
        <p:spPr>
          <a:xfrm>
            <a:off x="8074152" y="2249424"/>
            <a:ext cx="1499616"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Follow-ups</a:t>
            </a:r>
            <a:pPr algn="ctr" indent="0" marL="0">
              <a:buNone/>
            </a:pPr>
            <a:r>
              <a:rPr lang="en-US" sz="800" b="1" spc="100" kern="0" dirty="0">
                <a:solidFill>
                  <a:srgbClr val="D6E151"/>
                </a:solidFill>
              </a:rPr>
              <a:t>   LIVE</a:t>
            </a:r>
            <a:endParaRPr lang="en-US" sz="1100" dirty="0"/>
          </a:p>
        </p:txBody>
      </p:sp>
      <p:sp>
        <p:nvSpPr>
          <p:cNvPr id="13" name="Shape 10"/>
          <p:cNvSpPr/>
          <p:nvPr/>
        </p:nvSpPr>
        <p:spPr>
          <a:xfrm>
            <a:off x="548640" y="2971800"/>
            <a:ext cx="11094415" cy="713232"/>
          </a:xfrm>
          <a:prstGeom prst="roundRect">
            <a:avLst>
              <a:gd name="adj" fmla="val 15385"/>
            </a:avLst>
          </a:prstGeom>
          <a:solidFill>
            <a:srgbClr val="FFFFFF">
              <a:alpha val="75000"/>
            </a:srgbClr>
          </a:solidFill>
          <a:ln/>
        </p:spPr>
      </p:sp>
      <p:sp>
        <p:nvSpPr>
          <p:cNvPr id="14" name="Text 11"/>
          <p:cNvSpPr txBox="1"/>
          <p:nvPr/>
        </p:nvSpPr>
        <p:spPr>
          <a:xfrm>
            <a:off x="822960" y="297180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AI CO-PILOT</a:t>
            </a:r>
            <a:endParaRPr lang="en-US" sz="900" dirty="0"/>
          </a:p>
        </p:txBody>
      </p:sp>
      <p:sp>
        <p:nvSpPr>
          <p:cNvPr id="15" name="Text 12"/>
          <p:cNvSpPr txBox="1"/>
          <p:nvPr/>
        </p:nvSpPr>
        <p:spPr>
          <a:xfrm>
            <a:off x="2651760" y="3118104"/>
            <a:ext cx="1810512"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Lead summaries</a:t>
            </a:r>
            <a:pPr algn="ctr" indent="0" marL="0">
              <a:buNone/>
            </a:pPr>
            <a:r>
              <a:rPr lang="en-US" sz="800" b="1" spc="100" kern="0" dirty="0">
                <a:solidFill>
                  <a:srgbClr val="D6E151"/>
                </a:solidFill>
              </a:rPr>
              <a:t>   LIVE</a:t>
            </a:r>
            <a:endParaRPr lang="en-US" sz="1100" dirty="0"/>
          </a:p>
        </p:txBody>
      </p:sp>
      <p:sp>
        <p:nvSpPr>
          <p:cNvPr id="16" name="Text 13"/>
          <p:cNvSpPr txBox="1"/>
          <p:nvPr/>
        </p:nvSpPr>
        <p:spPr>
          <a:xfrm>
            <a:off x="4590288" y="3118104"/>
            <a:ext cx="1655064"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Email drafts</a:t>
            </a:r>
            <a:pPr algn="ctr" indent="0" marL="0">
              <a:buNone/>
            </a:pPr>
            <a:r>
              <a:rPr lang="en-US" sz="800" b="1" spc="100" kern="0" dirty="0">
                <a:solidFill>
                  <a:srgbClr val="D6E151"/>
                </a:solidFill>
              </a:rPr>
              <a:t>   LIVE</a:t>
            </a:r>
            <a:endParaRPr lang="en-US" sz="1100" dirty="0"/>
          </a:p>
        </p:txBody>
      </p:sp>
      <p:sp>
        <p:nvSpPr>
          <p:cNvPr id="17" name="Text 14"/>
          <p:cNvSpPr txBox="1"/>
          <p:nvPr/>
        </p:nvSpPr>
        <p:spPr>
          <a:xfrm>
            <a:off x="6373368" y="3118104"/>
            <a:ext cx="2043684"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Pipeline insights</a:t>
            </a:r>
            <a:pPr algn="ctr" indent="0" marL="0">
              <a:buNone/>
            </a:pPr>
            <a:r>
              <a:rPr lang="en-US" sz="800" b="1" spc="100" kern="0" dirty="0">
                <a:solidFill>
                  <a:srgbClr val="D6E151"/>
                </a:solidFill>
              </a:rPr>
              <a:t>   LIVE</a:t>
            </a:r>
            <a:endParaRPr lang="en-US" sz="1100" dirty="0"/>
          </a:p>
        </p:txBody>
      </p:sp>
      <p:sp>
        <p:nvSpPr>
          <p:cNvPr id="18" name="Shape 15"/>
          <p:cNvSpPr/>
          <p:nvPr/>
        </p:nvSpPr>
        <p:spPr>
          <a:xfrm>
            <a:off x="548640" y="3840480"/>
            <a:ext cx="11094415" cy="713232"/>
          </a:xfrm>
          <a:prstGeom prst="roundRect">
            <a:avLst>
              <a:gd name="adj" fmla="val 15385"/>
            </a:avLst>
          </a:prstGeom>
          <a:solidFill>
            <a:srgbClr val="FFFFFF">
              <a:alpha val="75000"/>
            </a:srgbClr>
          </a:solidFill>
          <a:ln/>
        </p:spPr>
      </p:sp>
      <p:sp>
        <p:nvSpPr>
          <p:cNvPr id="19" name="Text 16"/>
          <p:cNvSpPr txBox="1"/>
          <p:nvPr/>
        </p:nvSpPr>
        <p:spPr>
          <a:xfrm>
            <a:off x="822960" y="384048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PLATFORM</a:t>
            </a:r>
            <a:endParaRPr lang="en-US" sz="900" dirty="0"/>
          </a:p>
        </p:txBody>
      </p:sp>
      <p:sp>
        <p:nvSpPr>
          <p:cNvPr id="20" name="Text 17"/>
          <p:cNvSpPr txBox="1"/>
          <p:nvPr/>
        </p:nvSpPr>
        <p:spPr>
          <a:xfrm>
            <a:off x="2651760" y="3986784"/>
            <a:ext cx="1810512"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Secure sign-in</a:t>
            </a:r>
            <a:pPr algn="ctr" indent="0" marL="0">
              <a:buNone/>
            </a:pPr>
            <a:r>
              <a:rPr lang="en-US" sz="800" b="1" spc="100" kern="0" dirty="0">
                <a:solidFill>
                  <a:srgbClr val="D6E151"/>
                </a:solidFill>
              </a:rPr>
              <a:t>   LIVE</a:t>
            </a:r>
            <a:endParaRPr lang="en-US" sz="1100" dirty="0"/>
          </a:p>
        </p:txBody>
      </p:sp>
      <p:sp>
        <p:nvSpPr>
          <p:cNvPr id="21" name="Text 18"/>
          <p:cNvSpPr txBox="1"/>
          <p:nvPr/>
        </p:nvSpPr>
        <p:spPr>
          <a:xfrm>
            <a:off x="4590288" y="3986784"/>
            <a:ext cx="1732788"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Google Gemini</a:t>
            </a:r>
            <a:pPr algn="ctr" indent="0" marL="0">
              <a:buNone/>
            </a:pPr>
            <a:r>
              <a:rPr lang="en-US" sz="800" b="1" spc="100" kern="0" dirty="0">
                <a:solidFill>
                  <a:srgbClr val="D6E151"/>
                </a:solidFill>
              </a:rPr>
              <a:t>   LIVE</a:t>
            </a:r>
            <a:endParaRPr lang="en-US" sz="1100" dirty="0"/>
          </a:p>
        </p:txBody>
      </p:sp>
      <p:sp>
        <p:nvSpPr>
          <p:cNvPr id="22" name="Text 19"/>
          <p:cNvSpPr txBox="1"/>
          <p:nvPr/>
        </p:nvSpPr>
        <p:spPr>
          <a:xfrm>
            <a:off x="548640" y="5715000"/>
            <a:ext cx="10058400" cy="274320"/>
          </a:xfrm>
          <a:prstGeom prst="rect">
            <a:avLst/>
          </a:prstGeom>
          <a:noFill/>
          <a:ln/>
        </p:spPr>
        <p:txBody>
          <a:bodyPr wrap="square" lIns="0" tIns="0" rIns="0" bIns="0" rtlCol="0" anchor="t"/>
          <a:lstStyle/>
          <a:p>
            <a:pPr indent="0" marL="0">
              <a:buNone/>
            </a:pPr>
            <a:r>
              <a:rPr lang="en-US" sz="950" dirty="0">
                <a:solidFill>
                  <a:srgbClr val="5C6A62"/>
                </a:solidFill>
              </a:rPr>
              <a:t>“Live” is available in the product today. “In development” and “Planned” describe the platform’s direction.</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42</a:t>
            </a:fld>
            <a:endParaRPr lang="en-US"/>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D7ECE4"/>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The pipeline, wherever the meeting is.</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34433B"/>
                </a:solidFill>
              </a:rPr>
              <a:t>Dashboard, leads, pipeline and AI summaries all adapt to a phone — check a deal and its next step on the way in.</a:t>
            </a:r>
            <a:endParaRPr lang="en-US" sz="1300" dirty="0"/>
          </a:p>
        </p:txBody>
      </p:sp>
      <p:pic>
        <p:nvPicPr>
          <p:cNvPr id="6" name="reveal-1" descr="AI Sales CRM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A pipeline you can see</a:t>
            </a:r>
            <a:endParaRPr lang="en-US" sz="1450" dirty="0"/>
          </a:p>
          <a:p>
            <a:pPr indent="0" marL="0">
              <a:spcAft>
                <a:spcPts val="300"/>
              </a:spcAft>
              <a:buNone/>
            </a:pPr>
            <a:r>
              <a:rPr lang="en-US" sz="1050" dirty="0">
                <a:solidFill>
                  <a:srgbClr val="5C6A62"/>
                </a:solidFill>
              </a:rPr>
              <a:t>Value, stage and win rate live on the dashboard, not in a spreadsheet.</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Next steps, suggested</a:t>
            </a:r>
            <a:endParaRPr lang="en-US" sz="1450" dirty="0"/>
          </a:p>
          <a:p>
            <a:pPr indent="0" marL="0">
              <a:spcAft>
                <a:spcPts val="300"/>
              </a:spcAft>
              <a:buNone/>
            </a:pPr>
            <a:r>
              <a:rPr lang="en-US" sz="1050" dirty="0">
                <a:solidFill>
                  <a:srgbClr val="5C6A62"/>
                </a:solidFill>
              </a:rPr>
              <a:t>Every lead comes with a clear next best action.</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Faster outreach</a:t>
            </a:r>
            <a:endParaRPr lang="en-US" sz="1450" dirty="0"/>
          </a:p>
          <a:p>
            <a:pPr indent="0" marL="0">
              <a:spcAft>
                <a:spcPts val="300"/>
              </a:spcAft>
              <a:buNone/>
            </a:pPr>
            <a:r>
              <a:rPr lang="en-US" sz="1050" dirty="0">
                <a:solidFill>
                  <a:srgbClr val="5C6A62"/>
                </a:solidFill>
              </a:rPr>
              <a:t>Follow-up emails are drafted in seconds, in the right tone.</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Nothing forgotten</a:t>
            </a:r>
            <a:endParaRPr lang="en-US" sz="1450" dirty="0"/>
          </a:p>
          <a:p>
            <a:pPr indent="0" marL="0">
              <a:spcAft>
                <a:spcPts val="300"/>
              </a:spcAft>
              <a:buNone/>
            </a:pPr>
            <a:r>
              <a:rPr lang="en-US" sz="1050" dirty="0">
                <a:solidFill>
                  <a:srgbClr val="5C6A62"/>
                </a:solidFill>
              </a:rPr>
              <a:t>Follow-ups carry priority and due dates, and overdue work stands out.</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Gemini summaries, email drafts and pipeline insights from the CRM’s own records</a:t>
            </a:r>
            <a:endParaRPr lang="en-US" sz="1150" dirty="0"/>
          </a:p>
          <a:p>
            <a:pPr marL="165100" indent="-165100">
              <a:spcAft>
                <a:spcPts val="400"/>
              </a:spcAft>
              <a:buSzPct val="100000"/>
              <a:buChar char="•"/>
            </a:pPr>
            <a:r>
              <a:rPr lang="en-US" sz="1150" dirty="0">
                <a:solidFill>
                  <a:srgbClr val="34433B"/>
                </a:solidFill>
              </a:rPr>
              <a:t>Drag-and-drop pipeline across stages</a:t>
            </a:r>
            <a:endParaRPr lang="en-US" sz="1150" dirty="0"/>
          </a:p>
          <a:p>
            <a:pPr marL="165100" indent="-165100">
              <a:spcAft>
                <a:spcPts val="400"/>
              </a:spcAft>
              <a:buSzPct val="100000"/>
              <a:buChar char="•"/>
            </a:pPr>
            <a:r>
              <a:rPr lang="en-US" sz="1150" dirty="0">
                <a:solidFill>
                  <a:srgbClr val="34433B"/>
                </a:solidFill>
              </a:rPr>
              <a:t>One-click demo workspace for prospects</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58521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a:t>
            </a:r>
            <a:endParaRPr lang="en-US" sz="950" dirty="0"/>
          </a:p>
        </p:txBody>
      </p:sp>
      <p:sp>
        <p:nvSpPr>
          <p:cNvPr id="19" name="Text 14"/>
          <p:cNvSpPr txBox="1"/>
          <p:nvPr/>
        </p:nvSpPr>
        <p:spPr>
          <a:xfrm>
            <a:off x="8485632"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Node.js</a:t>
            </a:r>
            <a:endParaRPr lang="en-US" sz="950" dirty="0"/>
          </a:p>
        </p:txBody>
      </p:sp>
      <p:sp>
        <p:nvSpPr>
          <p:cNvPr id="20" name="Text 15"/>
          <p:cNvSpPr txBox="1"/>
          <p:nvPr/>
        </p:nvSpPr>
        <p:spPr>
          <a:xfrm>
            <a:off x="9277502"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Express</a:t>
            </a:r>
            <a:endParaRPr lang="en-US" sz="950" dirty="0"/>
          </a:p>
        </p:txBody>
      </p:sp>
      <p:sp>
        <p:nvSpPr>
          <p:cNvPr id="21" name="Text 16"/>
          <p:cNvSpPr txBox="1"/>
          <p:nvPr/>
        </p:nvSpPr>
        <p:spPr>
          <a:xfrm>
            <a:off x="10069373"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MongoDB</a:t>
            </a:r>
            <a:endParaRPr lang="en-US" sz="950" dirty="0"/>
          </a:p>
        </p:txBody>
      </p:sp>
      <p:sp>
        <p:nvSpPr>
          <p:cNvPr id="22" name="Text 17"/>
          <p:cNvSpPr txBox="1"/>
          <p:nvPr/>
        </p:nvSpPr>
        <p:spPr>
          <a:xfrm>
            <a:off x="7818120" y="1261872"/>
            <a:ext cx="108265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Google Gemini</a:t>
            </a:r>
            <a:endParaRPr lang="en-US" sz="950" dirty="0"/>
          </a:p>
        </p:txBody>
      </p:sp>
      <p:sp>
        <p:nvSpPr>
          <p:cNvPr id="23" name="Text 18"/>
          <p:cNvSpPr txBox="1"/>
          <p:nvPr/>
        </p:nvSpPr>
        <p:spPr>
          <a:xfrm>
            <a:off x="8983066" y="1261872"/>
            <a:ext cx="77175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JWT auth</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LIVE PRODUCT</a:t>
            </a:r>
            <a:endParaRPr lang="en-US" sz="900" dirty="0"/>
          </a:p>
        </p:txBody>
      </p:sp>
      <p:sp>
        <p:nvSpPr>
          <p:cNvPr id="27" name="Text 21">
            <a:hlinkClick r:id="rId5" tooltip="AI Sales CRM"/>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AI Sales CRM" history="1" highlightClick="0" endSnd="0">
                  <a:extLst>
                    <a:ext uri="{A12FA001-AC4F-418D-AE19-62706E023703}">
                      <ahyp:hlinkClr xmlns:ahyp="http://schemas.microsoft.com/office/drawing/2018/hyperlinkcolor" val="tx"/>
                    </a:ext>
                  </a:extLst>
                </a:hlinkClick>
              </a:rPr>
              <a:t>Try the live demo →</a:t>
            </a:r>
            <a:endParaRPr lang="en-US" sz="1600" dirty="0"/>
          </a:p>
        </p:txBody>
      </p:sp>
      <p:sp>
        <p:nvSpPr>
          <p:cNvPr id="28" name="Text 22"/>
          <p:cNvSpPr txBox="1"/>
          <p:nvPr/>
        </p:nvSpPr>
        <p:spPr>
          <a:xfrm>
            <a:off x="8092440" y="4873752"/>
            <a:ext cx="3276295" cy="228600"/>
          </a:xfrm>
          <a:prstGeom prst="rect">
            <a:avLst/>
          </a:prstGeom>
          <a:noFill/>
          <a:ln/>
        </p:spPr>
        <p:txBody>
          <a:bodyPr wrap="square" lIns="0" tIns="0" rIns="0" bIns="0" rtlCol="0" anchor="t"/>
          <a:lstStyle/>
          <a:p>
            <a:pPr indent="0" marL="0">
              <a:buNone/>
            </a:pPr>
            <a:r>
              <a:rPr lang="en-US" sz="900" dirty="0">
                <a:solidFill>
                  <a:srgbClr val="8C938B"/>
                </a:solidFill>
              </a:rPr>
              <a:t>AI Sales CRM</a:t>
            </a:r>
            <a:endParaRPr lang="en-US" sz="900" dirty="0"/>
          </a:p>
        </p:txBody>
      </p:sp>
      <p:sp>
        <p:nvSpPr>
          <p:cNvPr id="29" name="Shape 23">
            <a:hlinkClick r:id="rId6" tooltip="AI Sales CRM"/>
          </p:cNvPr>
          <p:cNvSpPr/>
          <p:nvPr/>
        </p:nvSpPr>
        <p:spPr>
          <a:xfrm>
            <a:off x="8092440" y="4873752"/>
            <a:ext cx="905256" cy="228600"/>
          </a:xfrm>
          <a:prstGeom prst="rect">
            <a:avLst/>
          </a:prstGeom>
          <a:solidFill>
            <a:srgbClr val="FFFFFF">
              <a:alpha val="0"/>
            </a:srgbClr>
          </a:solidFill>
          <a:ln/>
        </p:spPr>
      </p:sp>
      <p:sp>
        <p:nvSpPr>
          <p:cNvPr id="30" name="Text 24"/>
          <p:cNvSpPr txBox="1"/>
          <p:nvPr/>
        </p:nvSpPr>
        <p:spPr>
          <a:xfrm>
            <a:off x="8092440" y="5257800"/>
            <a:ext cx="3276295" cy="731520"/>
          </a:xfrm>
          <a:prstGeom prst="rect">
            <a:avLst/>
          </a:prstGeom>
          <a:noFill/>
          <a:ln/>
        </p:spPr>
        <p:txBody>
          <a:bodyPr wrap="square" lIns="0" tIns="0" rIns="0" bIns="0" rtlCol="0" anchor="t"/>
          <a:lstStyle/>
          <a:p>
            <a:pPr indent="0" marL="0">
              <a:buNone/>
            </a:pPr>
            <a:r>
              <a:rPr lang="en-US" sz="1050" dirty="0">
                <a:solidFill>
                  <a:srgbClr val="BFC4BA"/>
                </a:solidFill>
              </a:rPr>
              <a:t>One-click demo account — choose “Try Demo Account” on the sign-in screen.</a:t>
            </a:r>
            <a:endParaRPr lang="en-US" sz="1050" dirty="0"/>
          </a:p>
        </p:txBody>
      </p:sp>
      <p:sp>
        <p:nvSpPr>
          <p:cNvPr id="31" name="Text 25"/>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800" dirty="0">
                <a:solidFill>
                  <a:srgbClr val="5C6A62"/>
                </a:solidFill>
              </a:rPr>
              <a:t>Shown in the public demo workspace with sample data.</a:t>
            </a:r>
            <a:endParaRPr lang="en-US" sz="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44</a:t>
            </a:fld>
            <a:endParaRPr lang="en-US"/>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DFE4EC"/>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5C6A62"/>
                </a:solidFill>
              </a:rPr>
              <a:t>06 — WAREHOUSE &amp; INVENTORY MANAGEMENT</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0D1813"/>
                </a:solidFill>
              </a:rPr>
              <a:t>City Threads</a:t>
            </a:r>
            <a:endParaRPr lang="en-US" sz="4000" dirty="0"/>
          </a:p>
        </p:txBody>
      </p:sp>
      <p:sp>
        <p:nvSpPr>
          <p:cNvPr id="5" name="Text 2"/>
          <p:cNvSpPr txBox="1"/>
          <p:nvPr/>
        </p:nvSpPr>
        <p:spPr>
          <a:xfrm>
            <a:off x="548640" y="1883664"/>
            <a:ext cx="4572000" cy="777240"/>
          </a:xfrm>
          <a:prstGeom prst="rect">
            <a:avLst/>
          </a:prstGeom>
          <a:noFill/>
          <a:ln/>
        </p:spPr>
        <p:txBody>
          <a:bodyPr wrap="square" lIns="0" tIns="0" rIns="0" bIns="0" rtlCol="0" anchor="t"/>
          <a:lstStyle/>
          <a:p>
            <a:pPr indent="0" marL="0">
              <a:lnSpc>
                <a:spcPct val="108000"/>
              </a:lnSpc>
              <a:buNone/>
            </a:pPr>
            <a:r>
              <a:rPr lang="en-US" sz="1650" dirty="0">
                <a:solidFill>
                  <a:srgbClr val="0D1813"/>
                </a:solidFill>
                <a:latin typeface="Satoshi Medium" pitchFamily="34" charset="0"/>
                <a:ea typeface="Satoshi Medium" pitchFamily="34" charset="-122"/>
                <a:cs typeface="Satoshi Medium" pitchFamily="34" charset="-120"/>
              </a:rPr>
              <a:t>Every lot, every bin, every dispatch — accounted for.</a:t>
            </a:r>
            <a:endParaRPr lang="en-US" sz="1650" dirty="0"/>
          </a:p>
        </p:txBody>
      </p:sp>
      <p:sp>
        <p:nvSpPr>
          <p:cNvPr id="6" name="Text 3"/>
          <p:cNvSpPr txBox="1"/>
          <p:nvPr/>
        </p:nvSpPr>
        <p:spPr>
          <a:xfrm>
            <a:off x="548640" y="2706624"/>
            <a:ext cx="4572000" cy="1325880"/>
          </a:xfrm>
          <a:prstGeom prst="rect">
            <a:avLst/>
          </a:prstGeom>
          <a:noFill/>
          <a:ln/>
        </p:spPr>
        <p:txBody>
          <a:bodyPr wrap="square" lIns="0" tIns="0" rIns="0" bIns="0" rtlCol="0" anchor="t"/>
          <a:lstStyle/>
          <a:p>
            <a:pPr indent="0" marL="0">
              <a:lnSpc>
                <a:spcPct val="115000"/>
              </a:lnSpc>
              <a:buNone/>
            </a:pPr>
            <a:r>
              <a:rPr lang="en-US" sz="1100" dirty="0">
                <a:solidFill>
                  <a:srgbClr val="34433B"/>
                </a:solidFill>
              </a:rPr>
              <a:t>A warehouse management system for a textile distributor: barcoded stock units, a visual map of every rack and bin, and an order-to-dispatch flow — with a one-handed phone app for the warehouse floor.</a:t>
            </a:r>
            <a:endParaRPr lang="en-US" sz="1100" dirty="0"/>
          </a:p>
        </p:txBody>
      </p:sp>
      <p:sp>
        <p:nvSpPr>
          <p:cNvPr id="7" name="Shape 4"/>
          <p:cNvSpPr/>
          <p:nvPr/>
        </p:nvSpPr>
        <p:spPr>
          <a:xfrm>
            <a:off x="548640" y="4754880"/>
            <a:ext cx="4572000" cy="0"/>
          </a:xfrm>
          <a:prstGeom prst="line">
            <a:avLst/>
          </a:prstGeom>
          <a:noFill/>
          <a:ln w="9525">
            <a:solidFill>
              <a:srgbClr val="D3D5CC"/>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CLIENT</a:t>
            </a:r>
            <a:endParaRPr lang="en-US" sz="800" dirty="0"/>
          </a:p>
          <a:p>
            <a:pPr indent="0" marL="0">
              <a:spcAft>
                <a:spcPts val="200"/>
              </a:spcAft>
              <a:buNone/>
            </a:pPr>
            <a:r>
              <a:rPr lang="en-US" sz="1100" b="1" dirty="0">
                <a:solidFill>
                  <a:srgbClr val="0D1813"/>
                </a:solidFill>
              </a:rPr>
              <a:t>City Threads Textiles</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SECTOR</a:t>
            </a:r>
            <a:endParaRPr lang="en-US" sz="800" dirty="0"/>
          </a:p>
          <a:p>
            <a:pPr indent="0" marL="0">
              <a:spcAft>
                <a:spcPts val="200"/>
              </a:spcAft>
              <a:buNone/>
            </a:pPr>
            <a:r>
              <a:rPr lang="en-US" sz="1100" b="1" dirty="0">
                <a:solidFill>
                  <a:srgbClr val="0D1813"/>
                </a:solidFill>
              </a:rPr>
              <a:t>Textile distribution</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PLATFORM</a:t>
            </a:r>
            <a:endParaRPr lang="en-US" sz="800" dirty="0"/>
          </a:p>
          <a:p>
            <a:pPr indent="0" marL="0">
              <a:spcAft>
                <a:spcPts val="200"/>
              </a:spcAft>
              <a:buNone/>
            </a:pPr>
            <a:r>
              <a:rPr lang="en-US" sz="1100" b="1" dirty="0">
                <a:solidFill>
                  <a:srgbClr val="0D1813"/>
                </a:solidFill>
              </a:rPr>
              <a:t>Web ·​ Android</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ROLES</a:t>
            </a:r>
            <a:endParaRPr lang="en-US" sz="800" dirty="0"/>
          </a:p>
          <a:p>
            <a:pPr indent="0" marL="0">
              <a:spcAft>
                <a:spcPts val="200"/>
              </a:spcAft>
              <a:buNone/>
            </a:pPr>
            <a:r>
              <a:rPr lang="en-US" sz="1100" b="1" dirty="0">
                <a:solidFill>
                  <a:srgbClr val="0D1813"/>
                </a:solidFill>
              </a:rPr>
              <a:t>Administrator ·​ Warehouse Executive</a:t>
            </a:r>
            <a:endParaRPr lang="en-US" sz="800" dirty="0"/>
          </a:p>
        </p:txBody>
      </p:sp>
      <p:pic>
        <p:nvPicPr>
          <p:cNvPr id="12" name="reveal-1" descr="City Threads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45</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Two warehouses. A fragmented inventory process.</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City Threads stores thread stock across racks and bins in two warehouses. With a fragmented, manual process, finding a lot, knowing which space was free and tracing what moved where took time — and depended on the people who remembered.</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A barcode on every lot. A map of every bin.</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a warehouse system where every physical lot becomes a stock unit with a permanent ID and barcode. Administrators manage the structure, orders and stock from a desktop workspace; executives receive, move, count, pick and dispatch from their phone — scanning instead of searching.</a:t>
            </a:r>
            <a:endParaRPr lang="en-US" sz="1150" dirty="0"/>
          </a:p>
        </p:txBody>
      </p:sp>
      <p:sp>
        <p:nvSpPr>
          <p:cNvPr id="10" name="Shape 6"/>
          <p:cNvSpPr/>
          <p:nvPr/>
        </p:nvSpPr>
        <p:spPr>
          <a:xfrm>
            <a:off x="5760720" y="502920"/>
            <a:ext cx="5879592" cy="5715000"/>
          </a:xfrm>
          <a:prstGeom prst="roundRect">
            <a:avLst>
              <a:gd name="adj" fmla="val 2560"/>
            </a:avLst>
          </a:prstGeom>
          <a:solidFill>
            <a:srgbClr val="EDF0F4"/>
          </a:solidFill>
          <a:ln/>
        </p:spPr>
      </p:sp>
      <p:pic>
        <p:nvPicPr>
          <p:cNvPr id="11" name="Image 2" descr="City Threads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46</a:t>
            </a:fld>
            <a:endParaRPr lang="en-US"/>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EDF0F4"/>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City Threads.</a:t>
            </a:r>
            <a:endParaRPr lang="en-US" sz="2800" dirty="0"/>
          </a:p>
        </p:txBody>
      </p:sp>
      <p:pic>
        <p:nvPicPr>
          <p:cNvPr id="5" name="reveal-1" descr="The whole operation, live">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whole operation, live</a:t>
            </a:r>
            <a:endParaRPr lang="en-US" sz="950" dirty="0"/>
          </a:p>
          <a:p>
            <a:pPr indent="0" marL="0">
              <a:spcAft>
                <a:spcPts val="300"/>
              </a:spcAft>
              <a:buNone/>
            </a:pPr>
            <a:r>
              <a:rPr lang="en-US" sz="1100" dirty="0">
                <a:solidFill>
                  <a:srgbClr val="5C6A62"/>
                </a:solidFill>
              </a:rPr>
              <a:t>Stock, utilisation, locations, count discrepancies and recent sales across both warehouses.</a:t>
            </a:r>
            <a:endParaRPr lang="en-US" sz="950" dirty="0"/>
          </a:p>
        </p:txBody>
      </p:sp>
      <p:pic>
        <p:nvPicPr>
          <p:cNvPr id="7" name="reveal-2" descr="Area, rack, bin">    </p:cNvPr>
          <p:cNvPicPr>
            <a:picLocks noChangeAspect="1"/>
          </p:cNvPicPr>
          <p:nvPr/>
        </p:nvPicPr>
        <p:blipFill>
          <a:blip r:embed="rId3"/>
          <a:stretch>
            <a:fillRect/>
          </a:stretch>
        </p:blipFill>
        <p:spPr>
          <a:xfrm>
            <a:off x="5907552" y="1353231"/>
            <a:ext cx="5960831" cy="4061805"/>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Area, rack, bin</a:t>
            </a:r>
            <a:endParaRPr lang="en-US" sz="950" dirty="0"/>
          </a:p>
          <a:p>
            <a:pPr indent="0" marL="0">
              <a:spcAft>
                <a:spcPts val="300"/>
              </a:spcAft>
              <a:buNone/>
            </a:pPr>
            <a:r>
              <a:rPr lang="en-US" sz="1100" dirty="0">
                <a:solidFill>
                  <a:srgbClr val="5C6A62"/>
                </a:solidFill>
              </a:rPr>
              <a:t>A visual map of the floor: capacity, occupancy and blocked locations at every level.</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EDF0F4"/>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City Threads.</a:t>
            </a:r>
            <a:endParaRPr lang="en-US" sz="2800" dirty="0"/>
          </a:p>
        </p:txBody>
      </p:sp>
      <p:pic>
        <p:nvPicPr>
          <p:cNvPr id="5" name="reveal-1" descr="From order to truck">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From order to truck</a:t>
            </a:r>
            <a:endParaRPr lang="en-US" sz="950" dirty="0"/>
          </a:p>
          <a:p>
            <a:pPr indent="0" marL="0">
              <a:spcAft>
                <a:spcPts val="300"/>
              </a:spcAft>
              <a:buNone/>
            </a:pPr>
            <a:r>
              <a:rPr lang="en-US" sz="1100" dirty="0">
                <a:solidFill>
                  <a:srgbClr val="5C6A62"/>
                </a:solidFill>
              </a:rPr>
              <a:t>Sales orders move through picking to dispatch, with every quantity reserved and accounted for.</a:t>
            </a:r>
            <a:endParaRPr lang="en-US" sz="950" dirty="0"/>
          </a:p>
        </p:txBody>
      </p:sp>
      <p:pic>
        <p:nvPicPr>
          <p:cNvPr id="7" name="reveal-2" descr="Dispatch with proof">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Dispatch with proof</a:t>
            </a:r>
            <a:endParaRPr lang="en-US" sz="950" dirty="0"/>
          </a:p>
          <a:p>
            <a:pPr indent="0" marL="0">
              <a:spcAft>
                <a:spcPts val="300"/>
              </a:spcAft>
              <a:buNone/>
            </a:pPr>
            <a:r>
              <a:rPr lang="en-US" sz="1100" dirty="0">
                <a:solidFill>
                  <a:srgbClr val="5C6A62"/>
                </a:solidFill>
              </a:rPr>
              <a:t>Ready-to-ship orders and a full dispatch history with vehicle numbers and who sent what.</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City Threads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Barcoded stock units</a:t>
            </a:r>
            <a:endParaRPr lang="en-US" sz="950" dirty="0"/>
          </a:p>
          <a:p>
            <a:pPr indent="0" marL="0">
              <a:spcAft>
                <a:spcPts val="300"/>
              </a:spcAft>
              <a:buNone/>
            </a:pPr>
            <a:r>
              <a:rPr lang="en-US" sz="1050" dirty="0">
                <a:solidFill>
                  <a:srgbClr val="5C6A62"/>
                </a:solidFill>
              </a:rPr>
              <a:t>Every lot gets a permanent Stock ID and Code 128 barcode. Scan it with the phone camera, upload a photo or type the ID.</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Warehouse explorer</a:t>
            </a:r>
            <a:endParaRPr lang="en-US" sz="950" dirty="0"/>
          </a:p>
          <a:p>
            <a:pPr indent="0" marL="0">
              <a:spcAft>
                <a:spcPts val="300"/>
              </a:spcAft>
              <a:buNone/>
            </a:pPr>
            <a:r>
              <a:rPr lang="en-US" sz="1050" dirty="0">
                <a:solidFill>
                  <a:srgbClr val="5C6A62"/>
                </a:solidFill>
              </a:rPr>
              <a:t>Walk area → rack → bin to see capacity, occupancy and blocked locations, and change the structure in place.</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Order to dispatch</a:t>
            </a:r>
            <a:endParaRPr lang="en-US" sz="950" dirty="0"/>
          </a:p>
          <a:p>
            <a:pPr indent="0" marL="0">
              <a:spcAft>
                <a:spcPts val="300"/>
              </a:spcAft>
              <a:buNone/>
            </a:pPr>
            <a:r>
              <a:rPr lang="en-US" sz="1050" dirty="0">
                <a:solidFill>
                  <a:srgbClr val="5C6A62"/>
                </a:solidFill>
              </a:rPr>
              <a:t>Purchase orders and goods receipts in; sales orders, pick lists and dispatch out — with stock reserved on the way.</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Floor operations on the phone</a:t>
            </a:r>
            <a:endParaRPr lang="en-US" sz="950" dirty="0"/>
          </a:p>
          <a:p>
            <a:pPr indent="0" marL="0">
              <a:spcAft>
                <a:spcPts val="300"/>
              </a:spcAft>
              <a:buNone/>
            </a:pPr>
            <a:r>
              <a:rPr lang="en-US" sz="1050" dirty="0">
                <a:solidFill>
                  <a:srgbClr val="5C6A62"/>
                </a:solidFill>
              </a:rPr>
              <a:t>Goods inward, transfer, adjustment, cycle count, picking and dispatch — built for one hand.</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A ledger that reconciles</a:t>
            </a:r>
            <a:endParaRPr lang="en-US" sz="950" dirty="0"/>
          </a:p>
          <a:p>
            <a:pPr indent="0" marL="0">
              <a:spcAft>
                <a:spcPts val="300"/>
              </a:spcAft>
              <a:buNone/>
            </a:pPr>
            <a:r>
              <a:rPr lang="en-US" sz="1050" dirty="0">
                <a:solidFill>
                  <a:srgbClr val="5C6A62"/>
                </a:solidFill>
              </a:rPr>
              <a:t>Every movement is recorded. Counts verify the shelf without changing stock; differences are corrected with a reason.</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Commercial visibility</a:t>
            </a:r>
            <a:endParaRPr lang="en-US" sz="950" dirty="0"/>
          </a:p>
          <a:p>
            <a:pPr indent="0" marL="0">
              <a:spcAft>
                <a:spcPts val="300"/>
              </a:spcAft>
              <a:buNone/>
            </a:pPr>
            <a:r>
              <a:rPr lang="en-US" sz="1050" dirty="0">
                <a:solidFill>
                  <a:srgbClr val="5C6A62"/>
                </a:solidFill>
              </a:rPr>
              <a:t>Customers, suppliers, sales and executive performance alongside stock.</a:t>
            </a:r>
            <a:endParaRPr lang="en-US" sz="950" dirty="0"/>
          </a:p>
        </p:txBody>
      </p:sp>
      <p:sp>
        <p:nvSpPr>
          <p:cNvPr id="17" name="Shape 14"/>
          <p:cNvSpPr/>
          <p:nvPr/>
        </p:nvSpPr>
        <p:spPr>
          <a:xfrm>
            <a:off x="8503920" y="502920"/>
            <a:ext cx="3136392" cy="5715000"/>
          </a:xfrm>
          <a:prstGeom prst="roundRect">
            <a:avLst>
              <a:gd name="adj" fmla="val 4665"/>
            </a:avLst>
          </a:prstGeom>
          <a:solidFill>
            <a:srgbClr val="DFE4EC"/>
          </a:solidFill>
          <a:ln/>
        </p:spPr>
      </p:sp>
      <p:pic>
        <p:nvPicPr>
          <p:cNvPr id="18" name="Image 1" descr="City Threads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49</a:t>
            </a:fld>
            <a:endParaRPr lang="en-US"/>
          </a:p>
        </p:txBody>
      </p:sp>
    </p:spTree>
  </p:cSld>
  <p:clrMapOvr>
    <a:masterClrMapping/>
  </p:clrMapOvr>
  <p:transition spd="med">
    <p:fade/>
  </p:transition>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DFE4EC"/>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Built for every role.</a:t>
            </a:r>
            <a:endParaRPr lang="en-US" sz="2800" dirty="0"/>
          </a:p>
        </p:txBody>
      </p:sp>
      <p:pic>
        <p:nvPicPr>
          <p:cNvPr id="5" name="Image 1" descr="Administrator view">    </p:cNvPr>
          <p:cNvPicPr>
            <a:picLocks noChangeAspect="1"/>
          </p:cNvPicPr>
          <p:nvPr/>
        </p:nvPicPr>
        <p:blipFill>
          <a:blip r:embed="rId2"/>
          <a:stretch>
            <a:fillRect/>
          </a:stretch>
        </p:blipFill>
        <p:spPr>
          <a:xfrm>
            <a:off x="297613" y="1243923"/>
            <a:ext cx="4969490" cy="3263355"/>
          </a:xfrm>
          <a:prstGeom prst="rect">
            <a:avLst/>
          </a:prstGeom>
        </p:spPr>
      </p:pic>
      <p:sp>
        <p:nvSpPr>
          <p:cNvPr id="6" name="Shape 2"/>
          <p:cNvSpPr/>
          <p:nvPr/>
        </p:nvSpPr>
        <p:spPr>
          <a:xfrm>
            <a:off x="548640" y="4315968"/>
            <a:ext cx="5387188" cy="0"/>
          </a:xfrm>
          <a:prstGeom prst="line">
            <a:avLst/>
          </a:prstGeom>
          <a:noFill/>
          <a:ln w="9525">
            <a:solidFill>
              <a:srgbClr val="D3D5CC"/>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DESKTOP WORKSPACE</a:t>
            </a:r>
            <a:endParaRPr lang="en-US" sz="800" dirty="0"/>
          </a:p>
          <a:p>
            <a:pPr indent="0" marL="0">
              <a:spcAft>
                <a:spcPts val="200"/>
              </a:spcAft>
              <a:buNone/>
            </a:pPr>
            <a:r>
              <a:rPr lang="en-US" sz="1700" b="1" dirty="0">
                <a:solidFill>
                  <a:srgbClr val="0D1813"/>
                </a:solidFill>
              </a:rPr>
              <a:t>Administrator</a:t>
            </a:r>
            <a:endParaRPr lang="en-US" sz="800" dirty="0"/>
          </a:p>
          <a:p>
            <a:pPr indent="0" marL="0">
              <a:spcAft>
                <a:spcPts val="200"/>
              </a:spcAft>
              <a:buNone/>
            </a:pPr>
            <a:r>
              <a:rPr lang="en-US" sz="1100" dirty="0">
                <a:solidFill>
                  <a:srgbClr val="0D1813"/>
                </a:solidFill>
              </a:rPr>
              <a:t>Sees and shapes the whole operation.</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Overview of stock, utilisation and recent operations</a:t>
            </a:r>
            <a:endParaRPr lang="en-US" sz="1000" dirty="0"/>
          </a:p>
          <a:p>
            <a:pPr marL="165100" indent="-165100">
              <a:spcAft>
                <a:spcPts val="400"/>
              </a:spcAft>
              <a:buSzPct val="100000"/>
              <a:buChar char="•"/>
            </a:pPr>
            <a:r>
              <a:rPr lang="en-US" sz="1000" dirty="0">
                <a:solidFill>
                  <a:srgbClr val="34433B"/>
                </a:solidFill>
              </a:rPr>
              <a:t>Warehouse structure: areas, racks and bins</a:t>
            </a:r>
            <a:endParaRPr lang="en-US" sz="1000" dirty="0"/>
          </a:p>
          <a:p>
            <a:pPr marL="165100" indent="-165100">
              <a:spcAft>
                <a:spcPts val="400"/>
              </a:spcAft>
              <a:buSzPct val="100000"/>
              <a:buChar char="•"/>
            </a:pPr>
            <a:r>
              <a:rPr lang="en-US" sz="1000" dirty="0">
                <a:solidFill>
                  <a:srgbClr val="34433B"/>
                </a:solidFill>
              </a:rPr>
              <a:t>Purchase orders, sales orders and dispatch</a:t>
            </a:r>
            <a:endParaRPr lang="en-US" sz="1000" dirty="0"/>
          </a:p>
          <a:p>
            <a:pPr marL="165100" indent="-165100">
              <a:spcAft>
                <a:spcPts val="400"/>
              </a:spcAft>
              <a:buSzPct val="100000"/>
              <a:buChar char="•"/>
            </a:pPr>
            <a:r>
              <a:rPr lang="en-US" sz="1000" dirty="0">
                <a:solidFill>
                  <a:srgbClr val="34433B"/>
                </a:solidFill>
              </a:rPr>
              <a:t>Customers, suppliers and users</a:t>
            </a:r>
            <a:endParaRPr lang="en-US" sz="1000" dirty="0"/>
          </a:p>
        </p:txBody>
      </p:sp>
      <p:pic>
        <p:nvPicPr>
          <p:cNvPr id="9" name="Image 2" descr="Warehouse Executive view">    </p:cNvPr>
          <p:cNvPicPr>
            <a:picLocks noChangeAspect="1"/>
          </p:cNvPicPr>
          <p:nvPr/>
        </p:nvPicPr>
        <p:blipFill>
          <a:blip r:embed="rId3"/>
          <a:stretch>
            <a:fillRect/>
          </a:stretch>
        </p:blipFill>
        <p:spPr>
          <a:xfrm>
            <a:off x="6026212" y="1262578"/>
            <a:ext cx="3670597" cy="3215178"/>
          </a:xfrm>
          <a:prstGeom prst="rect">
            <a:avLst/>
          </a:prstGeom>
        </p:spPr>
      </p:pic>
      <p:sp>
        <p:nvSpPr>
          <p:cNvPr id="10" name="Shape 5"/>
          <p:cNvSpPr/>
          <p:nvPr/>
        </p:nvSpPr>
        <p:spPr>
          <a:xfrm>
            <a:off x="6255868" y="4315968"/>
            <a:ext cx="5387188" cy="0"/>
          </a:xfrm>
          <a:prstGeom prst="line">
            <a:avLst/>
          </a:prstGeom>
          <a:noFill/>
          <a:ln w="9525">
            <a:solidFill>
              <a:srgbClr val="D3D5CC"/>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MOBILE APP</a:t>
            </a:r>
            <a:endParaRPr lang="en-US" sz="800" dirty="0"/>
          </a:p>
          <a:p>
            <a:pPr indent="0" marL="0">
              <a:spcAft>
                <a:spcPts val="200"/>
              </a:spcAft>
              <a:buNone/>
            </a:pPr>
            <a:r>
              <a:rPr lang="en-US" sz="1700" b="1" dirty="0">
                <a:solidFill>
                  <a:srgbClr val="0D1813"/>
                </a:solidFill>
              </a:rPr>
              <a:t>Warehouse Executive</a:t>
            </a:r>
            <a:endParaRPr lang="en-US" sz="800" dirty="0"/>
          </a:p>
          <a:p>
            <a:pPr indent="0" marL="0">
              <a:spcAft>
                <a:spcPts val="200"/>
              </a:spcAft>
              <a:buNone/>
            </a:pPr>
            <a:r>
              <a:rPr lang="en-US" sz="1100" dirty="0">
                <a:solidFill>
                  <a:srgbClr val="0D1813"/>
                </a:solidFill>
              </a:rPr>
              <a:t>Works the floor, one-handed.</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Home with capacity and today’s operations</a:t>
            </a:r>
            <a:endParaRPr lang="en-US" sz="1000" dirty="0"/>
          </a:p>
          <a:p>
            <a:pPr marL="165100" indent="-165100">
              <a:spcAft>
                <a:spcPts val="400"/>
              </a:spcAft>
              <a:buSzPct val="100000"/>
              <a:buChar char="•"/>
            </a:pPr>
            <a:r>
              <a:rPr lang="en-US" sz="1000" dirty="0">
                <a:solidFill>
                  <a:srgbClr val="34433B"/>
                </a:solidFill>
              </a:rPr>
              <a:t>Inward, transfer, adjustment, count, pick and dispatch</a:t>
            </a:r>
            <a:endParaRPr lang="en-US" sz="1000" dirty="0"/>
          </a:p>
          <a:p>
            <a:pPr marL="165100" indent="-165100">
              <a:spcAft>
                <a:spcPts val="400"/>
              </a:spcAft>
              <a:buSzPct val="100000"/>
              <a:buChar char="•"/>
            </a:pPr>
            <a:r>
              <a:rPr lang="en-US" sz="1000" dirty="0">
                <a:solidFill>
                  <a:srgbClr val="34433B"/>
                </a:solidFill>
              </a:rPr>
              <a:t>Scan or search any stock unit</a:t>
            </a:r>
            <a:endParaRPr lang="en-US" sz="1000" dirty="0"/>
          </a:p>
          <a:p>
            <a:pPr marL="165100" indent="-165100">
              <a:spcAft>
                <a:spcPts val="400"/>
              </a:spcAft>
              <a:buSzPct val="100000"/>
              <a:buChar char="•"/>
            </a:pPr>
            <a:r>
              <a:rPr lang="en-US" sz="1000" dirty="0">
                <a:solidFill>
                  <a:srgbClr val="34433B"/>
                </a:solidFill>
              </a:rPr>
              <a:t>Personal activity history</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50</a:t>
            </a:fld>
            <a:endParaRPr lang="en-US"/>
          </a:p>
        </p:txBody>
      </p:sp>
    </p:spTree>
  </p:cSld>
  <p:clrMapOvr>
    <a:masterClrMapping/>
  </p:clrMapOvr>
  <p:transition spd="med">
    <p:fade/>
  </p:transition>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DFE4EC"/>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One hand on the phone. One on the stock.</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34433B"/>
                </a:solidFill>
              </a:rPr>
              <a:t>Executives scan, confirm and move on — inward, transfer, count, pick and dispatch. Administrators plan and review from the desktop.</a:t>
            </a:r>
            <a:endParaRPr lang="en-US" sz="1300" dirty="0"/>
          </a:p>
        </p:txBody>
      </p:sp>
      <p:pic>
        <p:nvPicPr>
          <p:cNvPr id="6" name="reveal-1" descr="City Threads on phones">    </p:cNvPr>
          <p:cNvPicPr>
            <a:picLocks noChangeAspect="1"/>
          </p:cNvPicPr>
          <p:nvPr/>
        </p:nvPicPr>
        <p:blipFill>
          <a:blip r:embed="rId2"/>
          <a:stretch>
            <a:fillRect/>
          </a:stretch>
        </p:blipFill>
        <p:spPr>
          <a:xfrm>
            <a:off x="4303014" y="1320546"/>
            <a:ext cx="7670292" cy="433120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Find any lot, instantly</a:t>
            </a:r>
            <a:endParaRPr lang="en-US" sz="1450" dirty="0"/>
          </a:p>
          <a:p>
            <a:pPr indent="0" marL="0">
              <a:spcAft>
                <a:spcPts val="300"/>
              </a:spcAft>
              <a:buNone/>
            </a:pPr>
            <a:r>
              <a:rPr lang="en-US" sz="1050" dirty="0">
                <a:solidFill>
                  <a:srgbClr val="5C6A62"/>
                </a:solidFill>
              </a:rPr>
              <a:t>Scan a label to see what it is, where it is and what to do next.</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Plan space with confidence</a:t>
            </a:r>
            <a:endParaRPr lang="en-US" sz="1450" dirty="0"/>
          </a:p>
          <a:p>
            <a:pPr indent="0" marL="0">
              <a:spcAft>
                <a:spcPts val="300"/>
              </a:spcAft>
              <a:buNone/>
            </a:pPr>
            <a:r>
              <a:rPr lang="en-US" sz="1050" dirty="0">
                <a:solidFill>
                  <a:srgbClr val="5C6A62"/>
                </a:solidFill>
              </a:rPr>
              <a:t>Utilisation and free capacity are visible before put-away.</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Fewer errors on the floor</a:t>
            </a:r>
            <a:endParaRPr lang="en-US" sz="1450" dirty="0"/>
          </a:p>
          <a:p>
            <a:pPr indent="0" marL="0">
              <a:spcAft>
                <a:spcPts val="300"/>
              </a:spcAft>
              <a:buNone/>
            </a:pPr>
            <a:r>
              <a:rPr lang="en-US" sz="1050" dirty="0">
                <a:solidFill>
                  <a:srgbClr val="5C6A62"/>
                </a:solidFill>
              </a:rPr>
              <a:t>One identification flow for every operation; counts never change stock silently.</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Real-time visibility</a:t>
            </a:r>
            <a:endParaRPr lang="en-US" sz="1450" dirty="0"/>
          </a:p>
          <a:p>
            <a:pPr indent="0" marL="0">
              <a:spcAft>
                <a:spcPts val="300"/>
              </a:spcAft>
              <a:buNone/>
            </a:pPr>
            <a:r>
              <a:rPr lang="en-US" sz="1050" dirty="0">
                <a:solidFill>
                  <a:srgbClr val="5C6A62"/>
                </a:solidFill>
              </a:rPr>
              <a:t>Stock and operations across both warehouses, as they happen.</a:t>
            </a:r>
            <a:endParaRPr lang="en-US" sz="1450" dirty="0"/>
          </a:p>
        </p:txBody>
      </p:sp>
      <p:sp>
        <p:nvSpPr>
          <p:cNvPr id="13" name="Shape 10"/>
          <p:cNvSpPr/>
          <p:nvPr/>
        </p:nvSpPr>
        <p:spPr>
          <a:xfrm>
            <a:off x="548640" y="4434840"/>
            <a:ext cx="6784848" cy="1783080"/>
          </a:xfrm>
          <a:prstGeom prst="roundRect">
            <a:avLst>
              <a:gd name="adj" fmla="val 7179"/>
            </a:avLst>
          </a:prstGeom>
          <a:solidFill>
            <a:srgbClr val="033F2D"/>
          </a:solidFill>
          <a:ln/>
        </p:spPr>
      </p:sp>
      <p:sp>
        <p:nvSpPr>
          <p:cNvPr id="14" name="Text 11"/>
          <p:cNvSpPr txBox="1"/>
          <p:nvPr/>
        </p:nvSpPr>
        <p:spPr>
          <a:xfrm>
            <a:off x="868680" y="4645152"/>
            <a:ext cx="6172200" cy="1463040"/>
          </a:xfrm>
          <a:prstGeom prst="rect">
            <a:avLst/>
          </a:prstGeom>
          <a:noFill/>
          <a:ln/>
        </p:spPr>
        <p:txBody>
          <a:bodyPr wrap="square" lIns="0" tIns="0" rIns="0" bIns="0" rtlCol="0" anchor="t"/>
          <a:lstStyle/>
          <a:p>
            <a:pPr indent="0" marL="0">
              <a:lnSpc>
                <a:spcPct val="112000"/>
              </a:lnSpc>
              <a:spcAft>
                <a:spcPts val="800"/>
              </a:spcAft>
              <a:buNone/>
            </a:pPr>
            <a:r>
              <a:rPr lang="en-US" sz="1250" dirty="0">
                <a:solidFill>
                  <a:srgbClr val="EEF0E6"/>
                </a:solidFill>
                <a:latin typeface="Satoshi Medium" pitchFamily="34" charset="0"/>
                <a:ea typeface="Satoshi Medium" pitchFamily="34" charset="-122"/>
                <a:cs typeface="Satoshi Medium" pitchFamily="34" charset="-120"/>
              </a:rPr>
              <a:t>“CRITA helped us replace a fragmented inventory process with a much more organised and efficient system. The application gave our team better visibility, reduced manual work, and made it easier to track inventory in real time.”</a:t>
            </a:r>
            <a:endParaRPr lang="en-US" sz="1250" dirty="0"/>
          </a:p>
          <a:p>
            <a:pPr indent="0" marL="0">
              <a:lnSpc>
                <a:spcPct val="112000"/>
              </a:lnSpc>
              <a:spcAft>
                <a:spcPts val="800"/>
              </a:spcAft>
              <a:buNone/>
            </a:pPr>
            <a:r>
              <a:rPr lang="en-US" sz="1000" b="1" dirty="0">
                <a:solidFill>
                  <a:srgbClr val="BFC4BA"/>
                </a:solidFill>
              </a:rPr>
              <a:t>Sreyash · City Threads</a:t>
            </a:r>
            <a:endParaRPr lang="en-US" sz="1250" dirty="0"/>
          </a:p>
        </p:txBody>
      </p:sp>
      <p:pic>
        <p:nvPicPr>
          <p:cNvPr id="15" name="Image 1" descr="F:\Office Project\Crita Portfolio\portfolio\ppt\brand\c.png">    </p:cNvPr>
          <p:cNvPicPr>
            <a:picLocks noChangeAspect="1"/>
          </p:cNvPicPr>
          <p:nvPr/>
        </p:nvPicPr>
        <p:blipFill>
          <a:blip r:embed="rId2"/>
          <a:stretch>
            <a:fillRect/>
          </a:stretch>
        </p:blipFill>
        <p:spPr>
          <a:xfrm>
            <a:off x="7818120" y="544068"/>
            <a:ext cx="182880" cy="134417"/>
          </a:xfrm>
          <a:prstGeom prst="rect">
            <a:avLst/>
          </a:prstGeom>
        </p:spPr>
      </p:pic>
      <p:sp>
        <p:nvSpPr>
          <p:cNvPr id="16"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7" name="Text 13"/>
          <p:cNvSpPr txBox="1"/>
          <p:nvPr/>
        </p:nvSpPr>
        <p:spPr>
          <a:xfrm>
            <a:off x="7818120"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Next.js</a:t>
            </a:r>
            <a:endParaRPr lang="en-US" sz="950" dirty="0"/>
          </a:p>
        </p:txBody>
      </p:sp>
      <p:sp>
        <p:nvSpPr>
          <p:cNvPr id="18" name="Text 14"/>
          <p:cNvSpPr txBox="1"/>
          <p:nvPr/>
        </p:nvSpPr>
        <p:spPr>
          <a:xfrm>
            <a:off x="8609990" y="896112"/>
            <a:ext cx="58521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a:t>
            </a:r>
            <a:endParaRPr lang="en-US" sz="950" dirty="0"/>
          </a:p>
        </p:txBody>
      </p:sp>
      <p:sp>
        <p:nvSpPr>
          <p:cNvPr id="19" name="Text 15"/>
          <p:cNvSpPr txBox="1"/>
          <p:nvPr/>
        </p:nvSpPr>
        <p:spPr>
          <a:xfrm>
            <a:off x="9277502"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PostgreSQL</a:t>
            </a:r>
            <a:endParaRPr lang="en-US" sz="950" dirty="0"/>
          </a:p>
        </p:txBody>
      </p:sp>
      <p:sp>
        <p:nvSpPr>
          <p:cNvPr id="20" name="Text 16"/>
          <p:cNvSpPr txBox="1"/>
          <p:nvPr/>
        </p:nvSpPr>
        <p:spPr>
          <a:xfrm>
            <a:off x="7818120" y="1261872"/>
            <a:ext cx="139354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Cloudflare Workers</a:t>
            </a:r>
            <a:endParaRPr lang="en-US" sz="950" dirty="0"/>
          </a:p>
        </p:txBody>
      </p:sp>
      <p:sp>
        <p:nvSpPr>
          <p:cNvPr id="21" name="Text 17"/>
          <p:cNvSpPr txBox="1"/>
          <p:nvPr/>
        </p:nvSpPr>
        <p:spPr>
          <a:xfrm>
            <a:off x="9293962" y="1261872"/>
            <a:ext cx="133136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Code 128 barcodes</a:t>
            </a:r>
            <a:endParaRPr lang="en-US" sz="950" dirty="0"/>
          </a:p>
        </p:txBody>
      </p:sp>
      <p:sp>
        <p:nvSpPr>
          <p:cNvPr id="22" name="Text 18"/>
          <p:cNvSpPr txBox="1"/>
          <p:nvPr/>
        </p:nvSpPr>
        <p:spPr>
          <a:xfrm>
            <a:off x="7818120" y="1627632"/>
            <a:ext cx="958291"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Android app</a:t>
            </a:r>
            <a:endParaRPr lang="en-US" sz="950" dirty="0"/>
          </a:p>
        </p:txBody>
      </p:sp>
      <p:sp>
        <p:nvSpPr>
          <p:cNvPr id="23" name="Text 19"/>
          <p:cNvSpPr txBox="1"/>
          <p:nvPr/>
        </p:nvSpPr>
        <p:spPr>
          <a:xfrm>
            <a:off x="7818120" y="2103120"/>
            <a:ext cx="3824935" cy="15087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Camera scanning through the browser’s native barcode detector, with manual entry always available</a:t>
            </a:r>
            <a:endParaRPr lang="en-US" sz="1000" dirty="0"/>
          </a:p>
          <a:p>
            <a:pPr marL="165100" indent="-165100">
              <a:spcAft>
                <a:spcPts val="400"/>
              </a:spcAft>
              <a:buSzPct val="100000"/>
              <a:buChar char="•"/>
            </a:pPr>
            <a:r>
              <a:rPr lang="en-US" sz="1000" dirty="0">
                <a:solidFill>
                  <a:srgbClr val="34433B"/>
                </a:solidFill>
              </a:rPr>
              <a:t>Bins are released only when stock reaches zero — enforced in one place</a:t>
            </a:r>
            <a:endParaRPr lang="en-US" sz="1000" dirty="0"/>
          </a:p>
          <a:p>
            <a:pPr marL="165100" indent="-165100">
              <a:spcAft>
                <a:spcPts val="400"/>
              </a:spcAft>
              <a:buSzPct val="100000"/>
              <a:buChar char="•"/>
            </a:pPr>
            <a:r>
              <a:rPr lang="en-US" sz="1000" dirty="0">
                <a:solidFill>
                  <a:srgbClr val="34433B"/>
                </a:solidFill>
              </a:rPr>
              <a:t>Served from Cloudflare’s global edge network</a:t>
            </a:r>
            <a:endParaRPr lang="en-US" sz="1000" dirty="0"/>
          </a:p>
        </p:txBody>
      </p:sp>
      <p:sp>
        <p:nvSpPr>
          <p:cNvPr id="24" name="Shape 20"/>
          <p:cNvSpPr/>
          <p:nvPr/>
        </p:nvSpPr>
        <p:spPr>
          <a:xfrm>
            <a:off x="7818120" y="3931920"/>
            <a:ext cx="3824935" cy="2286000"/>
          </a:xfrm>
          <a:prstGeom prst="roundRect">
            <a:avLst>
              <a:gd name="adj" fmla="val 5600"/>
            </a:avLst>
          </a:prstGeom>
          <a:solidFill>
            <a:srgbClr val="06120D"/>
          </a:solidFill>
          <a:ln/>
        </p:spPr>
      </p:sp>
      <p:pic>
        <p:nvPicPr>
          <p:cNvPr id="25" name="Image 2" descr="F:\Office Project\Crita Portfolio\portfolio\ppt\brand\c.png">    </p:cNvPr>
          <p:cNvPicPr>
            <a:picLocks noChangeAspect="1"/>
          </p:cNvPicPr>
          <p:nvPr/>
        </p:nvPicPr>
        <p:blipFill>
          <a:blip r:embed="rId3"/>
          <a:stretch>
            <a:fillRect/>
          </a:stretch>
        </p:blipFill>
        <p:spPr>
          <a:xfrm>
            <a:off x="8092440" y="4201668"/>
            <a:ext cx="182880" cy="134417"/>
          </a:xfrm>
          <a:prstGeom prst="rect">
            <a:avLst/>
          </a:prstGeom>
        </p:spPr>
      </p:pic>
      <p:sp>
        <p:nvSpPr>
          <p:cNvPr id="26" name="Text 21"/>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LIVE PRODUCT</a:t>
            </a:r>
            <a:endParaRPr lang="en-US" sz="900" dirty="0"/>
          </a:p>
        </p:txBody>
      </p:sp>
      <p:sp>
        <p:nvSpPr>
          <p:cNvPr id="27" name="Text 22">
            <a:hlinkClick r:id="rId4" tooltip="City Threads"/>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4" invalidUrl="" action="" tgtFrame="" tooltip="City Threads" history="1" highlightClick="0" endSnd="0">
                  <a:extLst>
                    <a:ext uri="{A12FA001-AC4F-418D-AE19-62706E023703}">
                      <ahyp:hlinkClr xmlns:ahyp="http://schemas.microsoft.com/office/drawing/2018/hyperlinkcolor" val="tx"/>
                    </a:ext>
                  </a:extLst>
                </a:hlinkClick>
              </a:rPr>
              <a:t>View live demo →</a:t>
            </a:r>
            <a:endParaRPr lang="en-US" sz="1600" dirty="0"/>
          </a:p>
        </p:txBody>
      </p:sp>
      <p:sp>
        <p:nvSpPr>
          <p:cNvPr id="28" name="Text 23"/>
          <p:cNvSpPr txBox="1"/>
          <p:nvPr/>
        </p:nvSpPr>
        <p:spPr>
          <a:xfrm>
            <a:off x="8092440" y="4873752"/>
            <a:ext cx="3276295" cy="228600"/>
          </a:xfrm>
          <a:prstGeom prst="rect">
            <a:avLst/>
          </a:prstGeom>
          <a:noFill/>
          <a:ln/>
        </p:spPr>
        <p:txBody>
          <a:bodyPr wrap="square" lIns="0" tIns="0" rIns="0" bIns="0" rtlCol="0" anchor="t"/>
          <a:lstStyle/>
          <a:p>
            <a:pPr indent="0" marL="0">
              <a:buNone/>
            </a:pPr>
            <a:r>
              <a:rPr lang="en-US" sz="900" dirty="0">
                <a:solidFill>
                  <a:srgbClr val="8C938B"/>
                </a:solidFill>
              </a:rPr>
              <a:t>City Threads</a:t>
            </a:r>
            <a:endParaRPr lang="en-US" sz="900" dirty="0"/>
          </a:p>
        </p:txBody>
      </p:sp>
      <p:sp>
        <p:nvSpPr>
          <p:cNvPr id="29" name="Shape 24">
            <a:hlinkClick r:id="rId5" tooltip="City Threads"/>
          </p:cNvPr>
          <p:cNvSpPr/>
          <p:nvPr/>
        </p:nvSpPr>
        <p:spPr>
          <a:xfrm>
            <a:off x="8092440" y="4873752"/>
            <a:ext cx="905256" cy="228600"/>
          </a:xfrm>
          <a:prstGeom prst="rect">
            <a:avLst/>
          </a:prstGeom>
          <a:solidFill>
            <a:srgbClr val="FFFFFF">
              <a:alpha val="0"/>
            </a:srgbClr>
          </a:solidFill>
          <a:ln/>
        </p:spPr>
      </p:sp>
      <p:sp>
        <p:nvSpPr>
          <p:cNvPr id="30" name="Text 25"/>
          <p:cNvSpPr txBox="1"/>
          <p:nvPr/>
        </p:nvSpPr>
        <p:spPr>
          <a:xfrm>
            <a:off x="8092440" y="5230368"/>
            <a:ext cx="3276295" cy="868680"/>
          </a:xfrm>
          <a:prstGeom prst="rect">
            <a:avLst/>
          </a:prstGeom>
          <a:noFill/>
          <a:ln/>
        </p:spPr>
        <p:txBody>
          <a:bodyPr wrap="square" lIns="0" tIns="0" rIns="0" bIns="0" rtlCol="0" anchor="t"/>
          <a:lstStyle/>
          <a:p>
            <a:pPr indent="0" marL="0">
              <a:spcAft>
                <a:spcPts val="200"/>
              </a:spcAft>
              <a:buNone/>
            </a:pPr>
            <a:r>
              <a:rPr lang="en-US" sz="950" b="1" dirty="0">
                <a:solidFill>
                  <a:srgbClr val="EEF0E6"/>
                </a:solidFill>
              </a:rPr>
              <a:t>Administrator</a:t>
            </a:r>
            <a:endParaRPr lang="en-US" sz="950" dirty="0"/>
          </a:p>
          <a:p>
            <a:pPr indent="0" marL="0">
              <a:spcAft>
                <a:spcPts val="200"/>
              </a:spcAft>
              <a:buNone/>
            </a:pPr>
            <a:r>
              <a:rPr lang="en-US" sz="950" dirty="0">
                <a:solidFill>
                  <a:srgbClr val="BFC4BA"/>
                </a:solidFill>
              </a:rPr>
              <a:t>admin@citythreads.com  ·  Admin@123</a:t>
            </a:r>
            <a:endParaRPr lang="en-US" sz="950" dirty="0"/>
          </a:p>
          <a:p>
            <a:pPr indent="0" marL="0">
              <a:spcAft>
                <a:spcPts val="200"/>
              </a:spcAft>
              <a:buNone/>
            </a:pPr>
            <a:r>
              <a:rPr lang="en-US" sz="950" b="1" dirty="0">
                <a:solidFill>
                  <a:srgbClr val="EEF0E6"/>
                </a:solidFill>
              </a:rPr>
              <a:t>Warehouse Executive</a:t>
            </a:r>
            <a:endParaRPr lang="en-US" sz="950" dirty="0"/>
          </a:p>
          <a:p>
            <a:pPr indent="0" marL="0">
              <a:spcAft>
                <a:spcPts val="200"/>
              </a:spcAft>
              <a:buNone/>
            </a:pPr>
            <a:r>
              <a:rPr lang="en-US" sz="950" dirty="0">
                <a:solidFill>
                  <a:srgbClr val="BFC4BA"/>
                </a:solidFill>
              </a:rPr>
              <a:t>aarav@citythreads.com  ·  Exec@123</a:t>
            </a:r>
            <a:endParaRPr lang="en-US" sz="950" dirty="0"/>
          </a:p>
        </p:txBody>
      </p:sp>
      <p:sp>
        <p:nvSpPr>
          <p:cNvPr id="31" name="Text 26"/>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800" dirty="0">
                <a:solidFill>
                  <a:srgbClr val="5C6A62"/>
                </a:solidFill>
              </a:rPr>
              <a:t>Demonstration environment with sample data.</a:t>
            </a:r>
            <a:endParaRPr lang="en-US" sz="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52</a:t>
            </a:fld>
            <a:endParaRPr lang="en-US"/>
          </a:p>
        </p:txBody>
      </p:sp>
    </p:spTree>
  </p:cSld>
  <p:clrMapOvr>
    <a:masterClrMapping/>
  </p:clrMapOvr>
  <p:transition spd="med">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5402F"/>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8C938B"/>
                </a:solidFill>
              </a:rPr>
              <a:t>07 — B2B MATERIAL-TRADING APP</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EEF0E6"/>
                </a:solidFill>
              </a:rPr>
              <a:t>Veloce Trade</a:t>
            </a:r>
            <a:endParaRPr lang="en-US" sz="4000" dirty="0"/>
          </a:p>
        </p:txBody>
      </p:sp>
      <p:sp>
        <p:nvSpPr>
          <p:cNvPr id="5" name="Text 2"/>
          <p:cNvSpPr txBox="1"/>
          <p:nvPr/>
        </p:nvSpPr>
        <p:spPr>
          <a:xfrm>
            <a:off x="548640" y="1883664"/>
            <a:ext cx="4572000" cy="777240"/>
          </a:xfrm>
          <a:prstGeom prst="rect">
            <a:avLst/>
          </a:prstGeom>
          <a:noFill/>
          <a:ln/>
        </p:spPr>
        <p:txBody>
          <a:bodyPr wrap="square" lIns="0" tIns="0" rIns="0" bIns="0" rtlCol="0" anchor="t"/>
          <a:lstStyle/>
          <a:p>
            <a:pPr indent="0" marL="0">
              <a:lnSpc>
                <a:spcPct val="108000"/>
              </a:lnSpc>
              <a:buNone/>
            </a:pPr>
            <a:r>
              <a:rPr lang="en-US" sz="1650" dirty="0">
                <a:solidFill>
                  <a:srgbClr val="EEF0E6"/>
                </a:solidFill>
                <a:latin typeface="Satoshi Medium" pitchFamily="34" charset="0"/>
                <a:ea typeface="Satoshi Medium" pitchFamily="34" charset="-122"/>
                <a:cs typeface="Satoshi Medium" pitchFamily="34" charset="-120"/>
              </a:rPr>
              <a:t>List, buy, dispatch and get paid — every truckload on one app.</a:t>
            </a:r>
            <a:endParaRPr lang="en-US" sz="1650" dirty="0"/>
          </a:p>
        </p:txBody>
      </p:sp>
      <p:sp>
        <p:nvSpPr>
          <p:cNvPr id="6" name="Text 3"/>
          <p:cNvSpPr txBox="1"/>
          <p:nvPr/>
        </p:nvSpPr>
        <p:spPr>
          <a:xfrm>
            <a:off x="548640" y="2706624"/>
            <a:ext cx="4572000" cy="1325880"/>
          </a:xfrm>
          <a:prstGeom prst="rect">
            <a:avLst/>
          </a:prstGeom>
          <a:noFill/>
          <a:ln/>
        </p:spPr>
        <p:txBody>
          <a:bodyPr wrap="square" lIns="0" tIns="0" rIns="0" bIns="0" rtlCol="0" anchor="t"/>
          <a:lstStyle/>
          <a:p>
            <a:pPr indent="0" marL="0">
              <a:lnSpc>
                <a:spcPct val="115000"/>
              </a:lnSpc>
              <a:buNone/>
            </a:pPr>
            <a:r>
              <a:rPr lang="en-US" sz="1100" dirty="0">
                <a:solidFill>
                  <a:srgbClr val="BFC4BA"/>
                </a:solidFill>
              </a:rPr>
              <a:t>A mobile trading app for Veloce’s network of material sellers, vendors and recyclers. Clients list material for pickup with its pricing; vendors raise purchase orders, send truckloads, assign drivers, labour and vehicles, upload documents and record payments — with every shipment tracked step by step.</a:t>
            </a:r>
            <a:endParaRPr lang="en-US" sz="1100" dirty="0"/>
          </a:p>
        </p:txBody>
      </p:sp>
      <p:sp>
        <p:nvSpPr>
          <p:cNvPr id="7" name="Shape 4"/>
          <p:cNvSpPr/>
          <p:nvPr/>
        </p:nvSpPr>
        <p:spPr>
          <a:xfrm>
            <a:off x="548640" y="4754880"/>
            <a:ext cx="4572000" cy="0"/>
          </a:xfrm>
          <a:prstGeom prst="line">
            <a:avLst/>
          </a:prstGeom>
          <a:noFill/>
          <a:ln w="9525">
            <a:solidFill>
              <a:srgbClr val="2A3832"/>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CLIENT</a:t>
            </a:r>
            <a:endParaRPr lang="en-US" sz="800" dirty="0"/>
          </a:p>
          <a:p>
            <a:pPr indent="0" marL="0">
              <a:spcAft>
                <a:spcPts val="200"/>
              </a:spcAft>
              <a:buNone/>
            </a:pPr>
            <a:r>
              <a:rPr lang="en-US" sz="1100" b="1" dirty="0">
                <a:solidFill>
                  <a:srgbClr val="EEF0E6"/>
                </a:solidFill>
              </a:rPr>
              <a:t>Veloce</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SECTOR</a:t>
            </a:r>
            <a:endParaRPr lang="en-US" sz="800" dirty="0"/>
          </a:p>
          <a:p>
            <a:pPr indent="0" marL="0">
              <a:spcAft>
                <a:spcPts val="200"/>
              </a:spcAft>
              <a:buNone/>
            </a:pPr>
            <a:r>
              <a:rPr lang="en-US" sz="1100" b="1" dirty="0">
                <a:solidFill>
                  <a:srgbClr val="EEF0E6"/>
                </a:solidFill>
              </a:rPr>
              <a:t>Scrap &amp; recycling</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PLATFORM</a:t>
            </a:r>
            <a:endParaRPr lang="en-US" sz="800" dirty="0"/>
          </a:p>
          <a:p>
            <a:pPr indent="0" marL="0">
              <a:spcAft>
                <a:spcPts val="200"/>
              </a:spcAft>
              <a:buNone/>
            </a:pPr>
            <a:r>
              <a:rPr lang="en-US" sz="1100" b="1" dirty="0">
                <a:solidFill>
                  <a:srgbClr val="EEF0E6"/>
                </a:solidFill>
              </a:rPr>
              <a:t>Mobile app</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ROLES</a:t>
            </a:r>
            <a:endParaRPr lang="en-US" sz="800" dirty="0"/>
          </a:p>
          <a:p>
            <a:pPr indent="0" marL="0">
              <a:spcAft>
                <a:spcPts val="200"/>
              </a:spcAft>
              <a:buNone/>
            </a:pPr>
            <a:r>
              <a:rPr lang="en-US" sz="1100" b="1" dirty="0">
                <a:solidFill>
                  <a:srgbClr val="EEF0E6"/>
                </a:solidFill>
              </a:rPr>
              <a:t>Client ·​ Vendor ·​ Recycler</a:t>
            </a:r>
            <a:endParaRPr lang="en-US" sz="800" dirty="0"/>
          </a:p>
        </p:txBody>
      </p:sp>
      <p:pic>
        <p:nvPicPr>
          <p:cNvPr id="12" name="reveal-1" descr="Veloce Trade on desktop and mobile">    </p:cNvPr>
          <p:cNvPicPr>
            <a:picLocks noChangeAspect="1"/>
          </p:cNvPicPr>
          <p:nvPr/>
        </p:nvPicPr>
        <p:blipFill>
          <a:blip r:embed="rId2"/>
          <a:stretch>
            <a:fillRect/>
          </a:stretch>
        </p:blipFill>
        <p:spPr>
          <a:xfrm>
            <a:off x="5162702" y="1292047"/>
            <a:ext cx="6819595" cy="443849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53</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Trades run on calls, paperwork and trust.</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Buying and moving material between companies involves pricing, taxes, trucks, weighment slips, invoices and part payments. When that lives in phone calls and paper, nobody can see where a load is, which documents are missing or what is still owed.</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One app for every step of a trade.</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Veloce Trade as a role-based mobile app. Verified companies list material with pricing that includes TDS, TCS and GST; buyers order against listings; and each fulfilment moves through assignment, loading, documents, invoicing, payment and transit — with the people, the vehicle and the proof attached at every step.</a:t>
            </a:r>
            <a:endParaRPr lang="en-US" sz="1150" dirty="0"/>
          </a:p>
        </p:txBody>
      </p:sp>
      <p:sp>
        <p:nvSpPr>
          <p:cNvPr id="10" name="Shape 6"/>
          <p:cNvSpPr/>
          <p:nvPr/>
        </p:nvSpPr>
        <p:spPr>
          <a:xfrm>
            <a:off x="5760720" y="502920"/>
            <a:ext cx="5879592" cy="5715000"/>
          </a:xfrm>
          <a:prstGeom prst="roundRect">
            <a:avLst>
              <a:gd name="adj" fmla="val 2560"/>
            </a:avLst>
          </a:prstGeom>
          <a:solidFill>
            <a:srgbClr val="E8F0EA"/>
          </a:solidFill>
          <a:ln/>
        </p:spPr>
      </p:sp>
      <p:pic>
        <p:nvPicPr>
          <p:cNvPr id="11" name="Image 2" descr="Veloce Trade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54</a:t>
            </a:fld>
            <a:endParaRPr lang="en-US"/>
          </a:p>
        </p:txBody>
      </p:sp>
    </p:spTree>
  </p:cSld>
  <p:clrMapOvr>
    <a:masterClrMapping/>
  </p:clrMapOvr>
  <p:transition spd="med">
    <p:fade/>
  </p:transition>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E8F0EA"/>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Veloce Trade.</a:t>
            </a:r>
            <a:endParaRPr lang="en-US" sz="2800" dirty="0"/>
          </a:p>
        </p:txBody>
      </p:sp>
      <p:pic>
        <p:nvPicPr>
          <p:cNvPr id="5" name="reveal-1" descr="Pickups by status">    </p:cNvPr>
          <p:cNvPicPr>
            <a:picLocks noChangeAspect="1"/>
          </p:cNvPicPr>
          <p:nvPr/>
        </p:nvPicPr>
        <p:blipFill>
          <a:blip r:embed="rId2"/>
          <a:stretch>
            <a:fillRect/>
          </a:stretch>
        </p:blipFill>
        <p:spPr>
          <a:xfrm>
            <a:off x="273443" y="1359985"/>
            <a:ext cx="2649359" cy="5238080"/>
          </a:xfrm>
          <a:prstGeom prst="rect">
            <a:avLst/>
          </a:prstGeom>
        </p:spPr>
      </p:pic>
      <p:sp>
        <p:nvSpPr>
          <p:cNvPr id="6" name="Text 2"/>
          <p:cNvSpPr txBox="1"/>
          <p:nvPr/>
        </p:nvSpPr>
        <p:spPr>
          <a:xfrm>
            <a:off x="2926080"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01</a:t>
            </a:r>
            <a:endParaRPr lang="en-US" sz="950" dirty="0"/>
          </a:p>
          <a:p>
            <a:pPr indent="0" marL="0">
              <a:spcAft>
                <a:spcPts val="400"/>
              </a:spcAft>
              <a:buNone/>
            </a:pPr>
            <a:r>
              <a:rPr lang="en-US" sz="1500" b="1" dirty="0">
                <a:solidFill>
                  <a:srgbClr val="0D1813"/>
                </a:solidFill>
              </a:rPr>
              <a:t>Pickups by status</a:t>
            </a:r>
            <a:endParaRPr lang="en-US" sz="950" dirty="0"/>
          </a:p>
          <a:p>
            <a:pPr indent="0" marL="0">
              <a:spcAft>
                <a:spcPts val="400"/>
              </a:spcAft>
              <a:buNone/>
            </a:pPr>
            <a:r>
              <a:rPr lang="en-US" sz="1100" dirty="0">
                <a:solidFill>
                  <a:srgbClr val="5C6A62"/>
                </a:solidFill>
              </a:rPr>
              <a:t>Active, in-transit, completed and cancelled pickups, with payments alongside.</a:t>
            </a:r>
            <a:endParaRPr lang="en-US" sz="950" dirty="0"/>
          </a:p>
        </p:txBody>
      </p:sp>
      <p:pic>
        <p:nvPicPr>
          <p:cNvPr id="7" name="reveal-2" descr="List material with its pricing">    </p:cNvPr>
          <p:cNvPicPr>
            <a:picLocks noChangeAspect="1"/>
          </p:cNvPicPr>
          <p:nvPr/>
        </p:nvPicPr>
        <p:blipFill>
          <a:blip r:embed="rId3"/>
          <a:stretch>
            <a:fillRect/>
          </a:stretch>
        </p:blipFill>
        <p:spPr>
          <a:xfrm>
            <a:off x="5915568" y="1360228"/>
            <a:ext cx="2646685" cy="5237454"/>
          </a:xfrm>
          <a:prstGeom prst="rect">
            <a:avLst/>
          </a:prstGeom>
        </p:spPr>
      </p:pic>
      <p:sp>
        <p:nvSpPr>
          <p:cNvPr id="8" name="Text 3"/>
          <p:cNvSpPr txBox="1"/>
          <p:nvPr/>
        </p:nvSpPr>
        <p:spPr>
          <a:xfrm>
            <a:off x="8567928"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02</a:t>
            </a:r>
            <a:endParaRPr lang="en-US" sz="950" dirty="0"/>
          </a:p>
          <a:p>
            <a:pPr indent="0" marL="0">
              <a:spcAft>
                <a:spcPts val="400"/>
              </a:spcAft>
              <a:buNone/>
            </a:pPr>
            <a:r>
              <a:rPr lang="en-US" sz="1500" b="1" dirty="0">
                <a:solidFill>
                  <a:srgbClr val="0D1813"/>
                </a:solidFill>
              </a:rPr>
              <a:t>List material with its pricing</a:t>
            </a:r>
            <a:endParaRPr lang="en-US" sz="950" dirty="0"/>
          </a:p>
          <a:p>
            <a:pPr indent="0" marL="0">
              <a:spcAft>
                <a:spcPts val="400"/>
              </a:spcAft>
              <a:buNone/>
            </a:pPr>
            <a:r>
              <a:rPr lang="en-US" sz="1100" dirty="0">
                <a:solidFill>
                  <a:srgbClr val="5C6A62"/>
                </a:solidFill>
              </a:rPr>
              <a:t>Zone, quantity, units and payment terms, with the taxes calculated up front.</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E8F0EA"/>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Veloce Trade.</a:t>
            </a:r>
            <a:endParaRPr lang="en-US" sz="2800" dirty="0"/>
          </a:p>
        </p:txBody>
      </p:sp>
      <p:pic>
        <p:nvPicPr>
          <p:cNvPr id="5" name="reveal-1" descr="Every shipment, step by step">    </p:cNvPr>
          <p:cNvPicPr>
            <a:picLocks noChangeAspect="1"/>
          </p:cNvPicPr>
          <p:nvPr/>
        </p:nvPicPr>
        <p:blipFill>
          <a:blip r:embed="rId2"/>
          <a:stretch>
            <a:fillRect/>
          </a:stretch>
        </p:blipFill>
        <p:spPr>
          <a:xfrm>
            <a:off x="273581" y="1360107"/>
            <a:ext cx="2648021" cy="5237767"/>
          </a:xfrm>
          <a:prstGeom prst="rect">
            <a:avLst/>
          </a:prstGeom>
        </p:spPr>
      </p:pic>
      <p:sp>
        <p:nvSpPr>
          <p:cNvPr id="6" name="Text 2"/>
          <p:cNvSpPr txBox="1"/>
          <p:nvPr/>
        </p:nvSpPr>
        <p:spPr>
          <a:xfrm>
            <a:off x="2926080"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03</a:t>
            </a:r>
            <a:endParaRPr lang="en-US" sz="950" dirty="0"/>
          </a:p>
          <a:p>
            <a:pPr indent="0" marL="0">
              <a:spcAft>
                <a:spcPts val="400"/>
              </a:spcAft>
              <a:buNone/>
            </a:pPr>
            <a:r>
              <a:rPr lang="en-US" sz="1500" b="1" dirty="0">
                <a:solidFill>
                  <a:srgbClr val="0D1813"/>
                </a:solidFill>
              </a:rPr>
              <a:t>Every shipment, step by step</a:t>
            </a:r>
            <a:endParaRPr lang="en-US" sz="950" dirty="0"/>
          </a:p>
          <a:p>
            <a:pPr indent="0" marL="0">
              <a:spcAft>
                <a:spcPts val="400"/>
              </a:spcAft>
              <a:buNone/>
            </a:pPr>
            <a:r>
              <a:rPr lang="en-US" sz="1100" dirty="0">
                <a:solidFill>
                  <a:srgbClr val="5C6A62"/>
                </a:solidFill>
              </a:rPr>
              <a:t>Assigned, loading, documents, invoicing, payment and transit — each step timestamped.</a:t>
            </a:r>
            <a:endParaRPr lang="en-US" sz="950" dirty="0"/>
          </a:p>
        </p:txBody>
      </p:sp>
      <p:pic>
        <p:nvPicPr>
          <p:cNvPr id="7" name="reveal-2" descr="Money in and out">    </p:cNvPr>
          <p:cNvPicPr>
            <a:picLocks noChangeAspect="1"/>
          </p:cNvPicPr>
          <p:nvPr/>
        </p:nvPicPr>
        <p:blipFill>
          <a:blip r:embed="rId3"/>
          <a:stretch>
            <a:fillRect/>
          </a:stretch>
        </p:blipFill>
        <p:spPr>
          <a:xfrm>
            <a:off x="5915429" y="1360107"/>
            <a:ext cx="2648021" cy="5237767"/>
          </a:xfrm>
          <a:prstGeom prst="rect">
            <a:avLst/>
          </a:prstGeom>
        </p:spPr>
      </p:pic>
      <p:sp>
        <p:nvSpPr>
          <p:cNvPr id="8" name="Text 3"/>
          <p:cNvSpPr txBox="1"/>
          <p:nvPr/>
        </p:nvSpPr>
        <p:spPr>
          <a:xfrm>
            <a:off x="8567928"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04</a:t>
            </a:r>
            <a:endParaRPr lang="en-US" sz="950" dirty="0"/>
          </a:p>
          <a:p>
            <a:pPr indent="0" marL="0">
              <a:spcAft>
                <a:spcPts val="400"/>
              </a:spcAft>
              <a:buNone/>
            </a:pPr>
            <a:r>
              <a:rPr lang="en-US" sz="1500" b="1" dirty="0">
                <a:solidFill>
                  <a:srgbClr val="0D1813"/>
                </a:solidFill>
              </a:rPr>
              <a:t>Money in and out</a:t>
            </a:r>
            <a:endParaRPr lang="en-US" sz="950" dirty="0"/>
          </a:p>
          <a:p>
            <a:pPr indent="0" marL="0">
              <a:spcAft>
                <a:spcPts val="400"/>
              </a:spcAft>
              <a:buNone/>
            </a:pPr>
            <a:r>
              <a:rPr lang="en-US" sz="1100" dirty="0">
                <a:solidFill>
                  <a:srgbClr val="5C6A62"/>
                </a:solidFill>
              </a:rPr>
              <a:t>Paid, payable and receivable totals across bills and invoices.</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Veloce Trade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Verified trading partners</a:t>
            </a:r>
            <a:endParaRPr lang="en-US" sz="950" dirty="0"/>
          </a:p>
          <a:p>
            <a:pPr indent="0" marL="0">
              <a:spcAft>
                <a:spcPts val="300"/>
              </a:spcAft>
              <a:buNone/>
            </a:pPr>
            <a:r>
              <a:rPr lang="en-US" sz="1050" dirty="0">
                <a:solidFill>
                  <a:srgbClr val="5C6A62"/>
                </a:solidFill>
              </a:rPr>
              <a:t>Companies join with GST, PAN, MSME, signatory and bank documents, checked before the account goes live.</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Listings with pricing built in</a:t>
            </a:r>
            <a:endParaRPr lang="en-US" sz="950" dirty="0"/>
          </a:p>
          <a:p>
            <a:pPr indent="0" marL="0">
              <a:spcAft>
                <a:spcPts val="300"/>
              </a:spcAft>
              <a:buNone/>
            </a:pPr>
            <a:r>
              <a:rPr lang="en-US" sz="1050" dirty="0">
                <a:solidFill>
                  <a:srgbClr val="5C6A62"/>
                </a:solidFill>
              </a:rPr>
              <a:t>Material, zone, quantity and payment terms, with TDS, TCS and GST shown before the listing is created.</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Purchase orders from listings</a:t>
            </a:r>
            <a:endParaRPr lang="en-US" sz="950" dirty="0"/>
          </a:p>
          <a:p>
            <a:pPr indent="0" marL="0">
              <a:spcAft>
                <a:spcPts val="300"/>
              </a:spcAft>
              <a:buNone/>
            </a:pPr>
            <a:r>
              <a:rPr lang="en-US" sz="1050" dirty="0">
                <a:solidFill>
                  <a:srgbClr val="5C6A62"/>
                </a:solidFill>
              </a:rPr>
              <a:t>Buyers order against a listing, within its available quantity, and set the delivery details.</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Trucks, drivers and labour</a:t>
            </a:r>
            <a:endParaRPr lang="en-US" sz="950" dirty="0"/>
          </a:p>
          <a:p>
            <a:pPr indent="0" marL="0">
              <a:spcAft>
                <a:spcPts val="300"/>
              </a:spcAft>
              <a:buNone/>
            </a:pPr>
            <a:r>
              <a:rPr lang="en-US" sz="1050" dirty="0">
                <a:solidFill>
                  <a:srgbClr val="5C6A62"/>
                </a:solidFill>
              </a:rPr>
              <a:t>Each fulfilment gets its driver, labour and vehicle from the company’s own resources.</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Shipments tracked step by step</a:t>
            </a:r>
            <a:endParaRPr lang="en-US" sz="950" dirty="0"/>
          </a:p>
          <a:p>
            <a:pPr indent="0" marL="0">
              <a:spcAft>
                <a:spcPts val="300"/>
              </a:spcAft>
              <a:buNone/>
            </a:pPr>
            <a:r>
              <a:rPr lang="en-US" sz="1050" dirty="0">
                <a:solidFill>
                  <a:srgbClr val="5C6A62"/>
                </a:solidFill>
              </a:rPr>
              <a:t>From assigned to delivered, with weighment slips and location-tagged vehicle photos at the stage that needs them.</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Payables, receivables and instalments</a:t>
            </a:r>
            <a:endParaRPr lang="en-US" sz="950" dirty="0"/>
          </a:p>
          <a:p>
            <a:pPr indent="0" marL="0">
              <a:spcAft>
                <a:spcPts val="300"/>
              </a:spcAft>
              <a:buNone/>
            </a:pPr>
            <a:r>
              <a:rPr lang="en-US" sz="1050" dirty="0">
                <a:solidFill>
                  <a:srgbClr val="5C6A62"/>
                </a:solidFill>
              </a:rPr>
              <a:t>Payments recorded with bank advice and receipts; dashboards show what is paid, payable and receivable.</a:t>
            </a:r>
            <a:endParaRPr lang="en-US" sz="950" dirty="0"/>
          </a:p>
        </p:txBody>
      </p:sp>
      <p:sp>
        <p:nvSpPr>
          <p:cNvPr id="17" name="Shape 14"/>
          <p:cNvSpPr/>
          <p:nvPr/>
        </p:nvSpPr>
        <p:spPr>
          <a:xfrm>
            <a:off x="8503920" y="502920"/>
            <a:ext cx="3136392" cy="5715000"/>
          </a:xfrm>
          <a:prstGeom prst="roundRect">
            <a:avLst>
              <a:gd name="adj" fmla="val 4665"/>
            </a:avLst>
          </a:prstGeom>
          <a:solidFill>
            <a:srgbClr val="15402F"/>
          </a:solidFill>
          <a:ln/>
        </p:spPr>
      </p:sp>
      <p:pic>
        <p:nvPicPr>
          <p:cNvPr id="18" name="Image 1" descr="Veloce Trade on a phone">    </p:cNvPr>
          <p:cNvPicPr>
            <a:picLocks noChangeAspect="1"/>
          </p:cNvPicPr>
          <p:nvPr/>
        </p:nvPicPr>
        <p:blipFill>
          <a:blip r:embed="rId2"/>
          <a:stretch>
            <a:fillRect/>
          </a:stretch>
        </p:blipFill>
        <p:spPr>
          <a:xfrm>
            <a:off x="8569683" y="489599"/>
            <a:ext cx="3004867" cy="5909199"/>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57</a:t>
            </a:fld>
            <a:endParaRPr lang="en-US"/>
          </a:p>
        </p:txBody>
      </p:sp>
    </p:spTree>
  </p:cSld>
  <p:clrMapOvr>
    <a:masterClrMapping/>
  </p:clrMapOvr>
  <p:transition spd="med">
    <p:fade/>
  </p:transition>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5402F"/>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every role.</a:t>
            </a:r>
            <a:endParaRPr lang="en-US" sz="2800" dirty="0"/>
          </a:p>
        </p:txBody>
      </p:sp>
      <p:pic>
        <p:nvPicPr>
          <p:cNvPr id="5" name="Image 1" descr="Client Executive view">    </p:cNvPr>
          <p:cNvPicPr>
            <a:picLocks noChangeAspect="1"/>
          </p:cNvPicPr>
          <p:nvPr/>
        </p:nvPicPr>
        <p:blipFill>
          <a:blip r:embed="rId2"/>
          <a:stretch>
            <a:fillRect/>
          </a:stretch>
        </p:blipFill>
        <p:spPr>
          <a:xfrm>
            <a:off x="319150" y="1262722"/>
            <a:ext cx="3667950" cy="3214805"/>
          </a:xfrm>
          <a:prstGeom prst="rect">
            <a:avLst/>
          </a:prstGeom>
        </p:spPr>
      </p:pic>
      <p:sp>
        <p:nvSpPr>
          <p:cNvPr id="6" name="Shape 2"/>
          <p:cNvSpPr/>
          <p:nvPr/>
        </p:nvSpPr>
        <p:spPr>
          <a:xfrm>
            <a:off x="548640" y="4315968"/>
            <a:ext cx="5387188" cy="0"/>
          </a:xfrm>
          <a:prstGeom prst="line">
            <a:avLst/>
          </a:prstGeom>
          <a:noFill/>
          <a:ln w="9525">
            <a:solidFill>
              <a:srgbClr val="2A3832"/>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 APP</a:t>
            </a:r>
            <a:endParaRPr lang="en-US" sz="800" dirty="0"/>
          </a:p>
          <a:p>
            <a:pPr indent="0" marL="0">
              <a:spcAft>
                <a:spcPts val="200"/>
              </a:spcAft>
              <a:buNone/>
            </a:pPr>
            <a:r>
              <a:rPr lang="en-US" sz="1700" b="1" dirty="0">
                <a:solidFill>
                  <a:srgbClr val="EEF0E6"/>
                </a:solidFill>
              </a:rPr>
              <a:t>Client Executive</a:t>
            </a:r>
            <a:endParaRPr lang="en-US" sz="800" dirty="0"/>
          </a:p>
          <a:p>
            <a:pPr indent="0" marL="0">
              <a:spcAft>
                <a:spcPts val="200"/>
              </a:spcAft>
              <a:buNone/>
            </a:pPr>
            <a:r>
              <a:rPr lang="en-US" sz="1100" dirty="0">
                <a:solidFill>
                  <a:srgbClr val="EEF0E6"/>
                </a:solidFill>
              </a:rPr>
              <a:t>Lists material and tracks pickups.</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Pickups with pricing and payment terms</a:t>
            </a:r>
            <a:endParaRPr lang="en-US" sz="1000" dirty="0"/>
          </a:p>
          <a:p>
            <a:pPr marL="165100" indent="-165100">
              <a:spcAft>
                <a:spcPts val="400"/>
              </a:spcAft>
              <a:buSzPct val="100000"/>
              <a:buChar char="•"/>
            </a:pPr>
            <a:r>
              <a:rPr lang="en-US" sz="1000" dirty="0">
                <a:solidFill>
                  <a:srgbClr val="BFC4BA"/>
                </a:solidFill>
              </a:rPr>
              <a:t>Pickup status, history and purchase orders</a:t>
            </a:r>
            <a:endParaRPr lang="en-US" sz="1000" dirty="0"/>
          </a:p>
          <a:p>
            <a:pPr marL="165100" indent="-165100">
              <a:spcAft>
                <a:spcPts val="400"/>
              </a:spcAft>
              <a:buSzPct val="100000"/>
              <a:buChar char="•"/>
            </a:pPr>
            <a:r>
              <a:rPr lang="en-US" sz="1000" dirty="0">
                <a:solidFill>
                  <a:srgbClr val="BFC4BA"/>
                </a:solidFill>
              </a:rPr>
              <a:t>Contracts and payments</a:t>
            </a:r>
            <a:endParaRPr lang="en-US" sz="1000" dirty="0"/>
          </a:p>
          <a:p>
            <a:pPr marL="165100" indent="-165100">
              <a:spcAft>
                <a:spcPts val="400"/>
              </a:spcAft>
              <a:buSzPct val="100000"/>
              <a:buChar char="•"/>
            </a:pPr>
            <a:r>
              <a:rPr lang="en-US" sz="1000" dirty="0">
                <a:solidFill>
                  <a:srgbClr val="BFC4BA"/>
                </a:solidFill>
              </a:rPr>
              <a:t>Company documents and profile</a:t>
            </a:r>
            <a:endParaRPr lang="en-US" sz="1000" dirty="0"/>
          </a:p>
        </p:txBody>
      </p:sp>
      <p:pic>
        <p:nvPicPr>
          <p:cNvPr id="9" name="Image 2" descr="Vendor Executive view">    </p:cNvPr>
          <p:cNvPicPr>
            <a:picLocks noChangeAspect="1"/>
          </p:cNvPicPr>
          <p:nvPr/>
        </p:nvPicPr>
        <p:blipFill>
          <a:blip r:embed="rId3"/>
          <a:stretch>
            <a:fillRect/>
          </a:stretch>
        </p:blipFill>
        <p:spPr>
          <a:xfrm>
            <a:off x="6026378" y="1262722"/>
            <a:ext cx="3667950" cy="3214805"/>
          </a:xfrm>
          <a:prstGeom prst="rect">
            <a:avLst/>
          </a:prstGeom>
        </p:spPr>
      </p:pic>
      <p:sp>
        <p:nvSpPr>
          <p:cNvPr id="10" name="Shape 5"/>
          <p:cNvSpPr/>
          <p:nvPr/>
        </p:nvSpPr>
        <p:spPr>
          <a:xfrm>
            <a:off x="6255868" y="4315968"/>
            <a:ext cx="5387188" cy="0"/>
          </a:xfrm>
          <a:prstGeom prst="line">
            <a:avLst/>
          </a:prstGeom>
          <a:noFill/>
          <a:ln w="9525">
            <a:solidFill>
              <a:srgbClr val="2A3832"/>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 APP</a:t>
            </a:r>
            <a:endParaRPr lang="en-US" sz="800" dirty="0"/>
          </a:p>
          <a:p>
            <a:pPr indent="0" marL="0">
              <a:spcAft>
                <a:spcPts val="200"/>
              </a:spcAft>
              <a:buNone/>
            </a:pPr>
            <a:r>
              <a:rPr lang="en-US" sz="1700" b="1" dirty="0">
                <a:solidFill>
                  <a:srgbClr val="EEF0E6"/>
                </a:solidFill>
              </a:rPr>
              <a:t>Vendor Executive</a:t>
            </a:r>
            <a:endParaRPr lang="en-US" sz="800" dirty="0"/>
          </a:p>
          <a:p>
            <a:pPr indent="0" marL="0">
              <a:spcAft>
                <a:spcPts val="200"/>
              </a:spcAft>
              <a:buNone/>
            </a:pPr>
            <a:r>
              <a:rPr lang="en-US" sz="1100" dirty="0">
                <a:solidFill>
                  <a:srgbClr val="EEF0E6"/>
                </a:solidFill>
              </a:rPr>
              <a:t>Buys, dispatches and settles.</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Purchase orders against listings</a:t>
            </a:r>
            <a:endParaRPr lang="en-US" sz="1000" dirty="0"/>
          </a:p>
          <a:p>
            <a:pPr marL="165100" indent="-165100">
              <a:spcAft>
                <a:spcPts val="400"/>
              </a:spcAft>
              <a:buSzPct val="100000"/>
              <a:buChar char="•"/>
            </a:pPr>
            <a:r>
              <a:rPr lang="en-US" sz="1000" dirty="0">
                <a:solidFill>
                  <a:srgbClr val="BFC4BA"/>
                </a:solidFill>
              </a:rPr>
              <a:t>Fulfilments with driver, labour and vehicle</a:t>
            </a:r>
            <a:endParaRPr lang="en-US" sz="1000" dirty="0"/>
          </a:p>
          <a:p>
            <a:pPr marL="165100" indent="-165100">
              <a:spcAft>
                <a:spcPts val="400"/>
              </a:spcAft>
              <a:buSzPct val="100000"/>
              <a:buChar char="•"/>
            </a:pPr>
            <a:r>
              <a:rPr lang="en-US" sz="1000" dirty="0">
                <a:solidFill>
                  <a:srgbClr val="BFC4BA"/>
                </a:solidFill>
              </a:rPr>
              <a:t>Documents at each shipment stage</a:t>
            </a:r>
            <a:endParaRPr lang="en-US" sz="1000" dirty="0"/>
          </a:p>
          <a:p>
            <a:pPr marL="165100" indent="-165100">
              <a:spcAft>
                <a:spcPts val="400"/>
              </a:spcAft>
              <a:buSzPct val="100000"/>
              <a:buChar char="•"/>
            </a:pPr>
            <a:r>
              <a:rPr lang="en-US" sz="1000" dirty="0">
                <a:solidFill>
                  <a:srgbClr val="BFC4BA"/>
                </a:solidFill>
              </a:rPr>
              <a:t>Payables, receivables and instalments</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58</a:t>
            </a:fld>
            <a:endParaRPr lang="en-US"/>
          </a:p>
        </p:txBody>
      </p:sp>
    </p:spTree>
  </p:cSld>
  <p:clrMapOvr>
    <a:masterClrMapping/>
  </p:clrMapOvr>
  <p:transition spd="med">
    <p:fade/>
  </p:transition>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5402F"/>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the people moving the material.</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BFC4BA"/>
                </a:solidFill>
              </a:rPr>
              <a:t>Every role works from a phone — listing, ordering, loading, documenting and paying, one clear step at a time. Recyclers use the same toolkit.</a:t>
            </a:r>
            <a:endParaRPr lang="en-US" sz="1300" dirty="0"/>
          </a:p>
        </p:txBody>
      </p:sp>
      <p:pic>
        <p:nvPicPr>
          <p:cNvPr id="6" name="reveal-1" descr="Veloce Trade on phones">    </p:cNvPr>
          <p:cNvPicPr>
            <a:picLocks noChangeAspect="1"/>
          </p:cNvPicPr>
          <p:nvPr/>
        </p:nvPicPr>
        <p:blipFill>
          <a:blip r:embed="rId2"/>
          <a:stretch>
            <a:fillRect/>
          </a:stretch>
        </p:blipFill>
        <p:spPr>
          <a:xfrm>
            <a:off x="4303014" y="1320546"/>
            <a:ext cx="7670292" cy="433120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59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Every load visible</a:t>
            </a:r>
            <a:endParaRPr lang="en-US" sz="1450" dirty="0"/>
          </a:p>
          <a:p>
            <a:pPr indent="0" marL="0">
              <a:spcAft>
                <a:spcPts val="300"/>
              </a:spcAft>
              <a:buNone/>
            </a:pPr>
            <a:r>
              <a:rPr lang="en-US" sz="1050" dirty="0">
                <a:solidFill>
                  <a:srgbClr val="5C6A62"/>
                </a:solidFill>
              </a:rPr>
              <a:t>Each shipment’s stage, people and vehicle are visible the moment they change.</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Proof at every step</a:t>
            </a:r>
            <a:endParaRPr lang="en-US" sz="1450" dirty="0"/>
          </a:p>
          <a:p>
            <a:pPr indent="0" marL="0">
              <a:spcAft>
                <a:spcPts val="300"/>
              </a:spcAft>
              <a:buNone/>
            </a:pPr>
            <a:r>
              <a:rPr lang="en-US" sz="1050" dirty="0">
                <a:solidFill>
                  <a:srgbClr val="5C6A62"/>
                </a:solidFill>
              </a:rPr>
              <a:t>Weighment slips, photos, invoices and payment receipts sit on the shipment they belong to.</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Pricing without surprises</a:t>
            </a:r>
            <a:endParaRPr lang="en-US" sz="1450" dirty="0"/>
          </a:p>
          <a:p>
            <a:pPr indent="0" marL="0">
              <a:spcAft>
                <a:spcPts val="300"/>
              </a:spcAft>
              <a:buNone/>
            </a:pPr>
            <a:r>
              <a:rPr lang="en-US" sz="1050" dirty="0">
                <a:solidFill>
                  <a:srgbClr val="5C6A62"/>
                </a:solidFill>
              </a:rPr>
              <a:t>Taxes and payment terms are shown before anything is listed or ordered.</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A verified network</a:t>
            </a:r>
            <a:endParaRPr lang="en-US" sz="1450" dirty="0"/>
          </a:p>
          <a:p>
            <a:pPr indent="0" marL="0">
              <a:spcAft>
                <a:spcPts val="300"/>
              </a:spcAft>
              <a:buNone/>
            </a:pPr>
            <a:r>
              <a:rPr lang="en-US" sz="1050" dirty="0">
                <a:solidFill>
                  <a:srgbClr val="5C6A62"/>
                </a:solidFill>
              </a:rPr>
              <a:t>Companies trade only after their documents are checked.</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A ten-step shipment flow, with a timestamp on every change</a:t>
            </a:r>
            <a:endParaRPr lang="en-US" sz="1150" dirty="0"/>
          </a:p>
          <a:p>
            <a:pPr marL="165100" indent="-165100">
              <a:spcAft>
                <a:spcPts val="400"/>
              </a:spcAft>
              <a:buSzPct val="100000"/>
              <a:buChar char="•"/>
            </a:pPr>
            <a:r>
              <a:rPr lang="en-US" sz="1150" dirty="0">
                <a:solidFill>
                  <a:srgbClr val="34433B"/>
                </a:solidFill>
              </a:rPr>
              <a:t>TDS, TCS and GST calculated before a listing is created</a:t>
            </a:r>
            <a:endParaRPr lang="en-US" sz="1150" dirty="0"/>
          </a:p>
          <a:p>
            <a:pPr marL="165100" indent="-165100">
              <a:spcAft>
                <a:spcPts val="400"/>
              </a:spcAft>
              <a:buSzPct val="100000"/>
              <a:buChar char="•"/>
            </a:pPr>
            <a:r>
              <a:rPr lang="en-US" sz="1150" dirty="0">
                <a:solidFill>
                  <a:srgbClr val="34433B"/>
                </a:solidFill>
              </a:rPr>
              <a:t>Uploads that need a location are refused without one</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Mobile app</a:t>
            </a:r>
            <a:endParaRPr lang="en-US" sz="950" dirty="0"/>
          </a:p>
        </p:txBody>
      </p:sp>
      <p:sp>
        <p:nvSpPr>
          <p:cNvPr id="19" name="Text 14"/>
          <p:cNvSpPr txBox="1"/>
          <p:nvPr/>
        </p:nvSpPr>
        <p:spPr>
          <a:xfrm>
            <a:off x="8796528" y="896112"/>
            <a:ext cx="1580083"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Role-based workspaces</a:t>
            </a:r>
            <a:endParaRPr lang="en-US" sz="950" dirty="0"/>
          </a:p>
        </p:txBody>
      </p:sp>
      <p:sp>
        <p:nvSpPr>
          <p:cNvPr id="20" name="Text 15"/>
          <p:cNvSpPr txBox="1"/>
          <p:nvPr/>
        </p:nvSpPr>
        <p:spPr>
          <a:xfrm>
            <a:off x="10458907" y="896112"/>
            <a:ext cx="958291"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OTP sign-up</a:t>
            </a:r>
            <a:endParaRPr lang="en-US" sz="950" dirty="0"/>
          </a:p>
        </p:txBody>
      </p:sp>
      <p:sp>
        <p:nvSpPr>
          <p:cNvPr id="21" name="Text 16"/>
          <p:cNvSpPr txBox="1"/>
          <p:nvPr/>
        </p:nvSpPr>
        <p:spPr>
          <a:xfrm>
            <a:off x="7818120" y="1261872"/>
            <a:ext cx="1455725"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KYC document checks</a:t>
            </a:r>
            <a:endParaRPr lang="en-US" sz="950" dirty="0"/>
          </a:p>
        </p:txBody>
      </p:sp>
      <p:sp>
        <p:nvSpPr>
          <p:cNvPr id="22" name="Text 17"/>
          <p:cNvSpPr txBox="1"/>
          <p:nvPr/>
        </p:nvSpPr>
        <p:spPr>
          <a:xfrm>
            <a:off x="9356141" y="1261872"/>
            <a:ext cx="170444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Location-tagged uploads</a:t>
            </a:r>
            <a:endParaRPr lang="en-US" sz="950" dirty="0"/>
          </a:p>
        </p:txBody>
      </p:sp>
      <p:sp>
        <p:nvSpPr>
          <p:cNvPr id="23" name="Text 18"/>
          <p:cNvSpPr txBox="1"/>
          <p:nvPr/>
        </p:nvSpPr>
        <p:spPr>
          <a:xfrm>
            <a:off x="7818120" y="1627632"/>
            <a:ext cx="1455725"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Instalment payments</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IN PRODUCTION</a:t>
            </a:r>
            <a:endParaRPr lang="en-US" sz="900" dirty="0"/>
          </a:p>
        </p:txBody>
      </p:sp>
      <p:sp>
        <p:nvSpPr>
          <p:cNvPr id="27" name="Text 21">
            <a:hlinkClick r:id="rId5" tooltip="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abishek@crita.in" history="1" highlightClick="0" endSnd="0">
                  <a:extLst>
                    <a:ext uri="{A12FA001-AC4F-418D-AE19-62706E023703}">
                      <ahyp:hlinkClr xmlns:ahyp="http://schemas.microsoft.com/office/drawing/2018/hyperlinkcolor" val="tx"/>
                    </a:ext>
                  </a:extLst>
                </a:hlinkClick>
              </a:rPr>
              <a:t>Walkthrough on request →</a:t>
            </a:r>
            <a:endParaRPr lang="en-US" sz="1600" dirty="0"/>
          </a:p>
        </p:txBody>
      </p:sp>
      <p:sp>
        <p:nvSpPr>
          <p:cNvPr id="28" name="Text 22"/>
          <p:cNvSpPr txBox="1"/>
          <p:nvPr/>
        </p:nvSpPr>
        <p:spPr>
          <a:xfrm>
            <a:off x="8092440" y="5257800"/>
            <a:ext cx="3276295" cy="731520"/>
          </a:xfrm>
          <a:prstGeom prst="rect">
            <a:avLst/>
          </a:prstGeom>
          <a:noFill/>
          <a:ln/>
        </p:spPr>
        <p:txBody>
          <a:bodyPr wrap="square" lIns="0" tIns="0" rIns="0" bIns="0" rtlCol="0" anchor="t"/>
          <a:lstStyle/>
          <a:p>
            <a:pPr indent="0" marL="0">
              <a:buNone/>
            </a:pPr>
            <a:r>
              <a:rPr lang="en-US" sz="1050" dirty="0">
                <a:solidFill>
                  <a:srgbClr val="BFC4BA"/>
                </a:solidFill>
              </a:rPr>
              <a:t>A live walkthrough of the Client Executive, Vendor Executive and Recycler views.</a:t>
            </a:r>
            <a:endParaRPr lang="en-US" sz="1050" dirty="0"/>
          </a:p>
        </p:txBody>
      </p:sp>
      <p:sp>
        <p:nvSpPr>
          <p:cNvPr id="29" name="Text 23"/>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800" dirty="0">
                <a:solidFill>
                  <a:srgbClr val="5C6A62"/>
                </a:solidFill>
              </a:rPr>
              <a:t>Screens from Veloce Trade’s user guide, with its demonstration accounts. The app is in production with Veloce.</a:t>
            </a:r>
            <a:endParaRPr lang="en-US" sz="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60</a:t>
            </a:fld>
            <a:endParaRPr lang="en-US"/>
          </a:p>
        </p:txBody>
      </p:sp>
    </p:spTree>
  </p:cSld>
  <p:clrMapOvr>
    <a:masterClrMapping/>
  </p:clrMapOvr>
  <p:transition spd="med">
    <p:fade/>
  </p:transition>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ECE5D3"/>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5C6A62"/>
                </a:solidFill>
              </a:rPr>
              <a:t>08 — EXPENSE, APPROVAL &amp; BUDGET PLATFORM</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0D1813"/>
                </a:solidFill>
              </a:rPr>
              <a:t>Expense Log</a:t>
            </a:r>
            <a:endParaRPr lang="en-US" sz="4000" dirty="0"/>
          </a:p>
        </p:txBody>
      </p:sp>
      <p:sp>
        <p:nvSpPr>
          <p:cNvPr id="5" name="Text 2"/>
          <p:cNvSpPr txBox="1"/>
          <p:nvPr/>
        </p:nvSpPr>
        <p:spPr>
          <a:xfrm>
            <a:off x="548640" y="1883664"/>
            <a:ext cx="4572000" cy="777240"/>
          </a:xfrm>
          <a:prstGeom prst="rect">
            <a:avLst/>
          </a:prstGeom>
          <a:noFill/>
          <a:ln/>
        </p:spPr>
        <p:txBody>
          <a:bodyPr wrap="square" lIns="0" tIns="0" rIns="0" bIns="0" rtlCol="0" anchor="t"/>
          <a:lstStyle/>
          <a:p>
            <a:pPr indent="0" marL="0">
              <a:lnSpc>
                <a:spcPct val="108000"/>
              </a:lnSpc>
              <a:buNone/>
            </a:pPr>
            <a:r>
              <a:rPr lang="en-US" sz="1650" dirty="0">
                <a:solidFill>
                  <a:srgbClr val="0D1813"/>
                </a:solidFill>
                <a:latin typeface="Satoshi Medium" pitchFamily="34" charset="0"/>
                <a:ea typeface="Satoshi Medium" pitchFamily="34" charset="-122"/>
                <a:cs typeface="Satoshi Medium" pitchFamily="34" charset="-120"/>
              </a:rPr>
              <a:t>Every claim approved, reimbursed and measured against budget.</a:t>
            </a:r>
            <a:endParaRPr lang="en-US" sz="1650" dirty="0"/>
          </a:p>
        </p:txBody>
      </p:sp>
      <p:sp>
        <p:nvSpPr>
          <p:cNvPr id="6" name="Text 3"/>
          <p:cNvSpPr txBox="1"/>
          <p:nvPr/>
        </p:nvSpPr>
        <p:spPr>
          <a:xfrm>
            <a:off x="548640" y="2706624"/>
            <a:ext cx="4572000" cy="1325880"/>
          </a:xfrm>
          <a:prstGeom prst="rect">
            <a:avLst/>
          </a:prstGeom>
          <a:noFill/>
          <a:ln/>
        </p:spPr>
        <p:txBody>
          <a:bodyPr wrap="square" lIns="0" tIns="0" rIns="0" bIns="0" rtlCol="0" anchor="t"/>
          <a:lstStyle/>
          <a:p>
            <a:pPr indent="0" marL="0">
              <a:lnSpc>
                <a:spcPct val="115000"/>
              </a:lnSpc>
              <a:buNone/>
            </a:pPr>
            <a:r>
              <a:rPr lang="en-US" sz="1100" dirty="0">
                <a:solidFill>
                  <a:srgbClr val="34433B"/>
                </a:solidFill>
              </a:rPr>
              <a:t>A multi-company expense platform: employees log claims, managers approve them for their department, finance reimburses, and administrators see spend by category, department and payment mode against each department’s budget.</a:t>
            </a:r>
            <a:endParaRPr lang="en-US" sz="1100" dirty="0"/>
          </a:p>
        </p:txBody>
      </p:sp>
      <p:sp>
        <p:nvSpPr>
          <p:cNvPr id="7" name="Shape 4"/>
          <p:cNvSpPr/>
          <p:nvPr/>
        </p:nvSpPr>
        <p:spPr>
          <a:xfrm>
            <a:off x="548640" y="4754880"/>
            <a:ext cx="4572000" cy="0"/>
          </a:xfrm>
          <a:prstGeom prst="line">
            <a:avLst/>
          </a:prstGeom>
          <a:noFill/>
          <a:ln w="9525">
            <a:solidFill>
              <a:srgbClr val="D3D5CC"/>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CLIENT</a:t>
            </a:r>
            <a:endParaRPr lang="en-US" sz="800" dirty="0"/>
          </a:p>
          <a:p>
            <a:pPr indent="0" marL="0">
              <a:spcAft>
                <a:spcPts val="200"/>
              </a:spcAft>
              <a:buNone/>
            </a:pPr>
            <a:r>
              <a:rPr lang="en-US" sz="1100" b="1" dirty="0">
                <a:solidFill>
                  <a:srgbClr val="0D1813"/>
                </a:solidFill>
              </a:rPr>
              <a:t>A Crita product</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SECTOR</a:t>
            </a:r>
            <a:endParaRPr lang="en-US" sz="800" dirty="0"/>
          </a:p>
          <a:p>
            <a:pPr indent="0" marL="0">
              <a:spcAft>
                <a:spcPts val="200"/>
              </a:spcAft>
              <a:buNone/>
            </a:pPr>
            <a:r>
              <a:rPr lang="en-US" sz="1100" b="1" dirty="0">
                <a:solidFill>
                  <a:srgbClr val="0D1813"/>
                </a:solidFill>
              </a:rPr>
              <a:t>Finance &amp; operations</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PLATFORM</a:t>
            </a:r>
            <a:endParaRPr lang="en-US" sz="800" dirty="0"/>
          </a:p>
          <a:p>
            <a:pPr indent="0" marL="0">
              <a:spcAft>
                <a:spcPts val="200"/>
              </a:spcAft>
              <a:buNone/>
            </a:pPr>
            <a:r>
              <a:rPr lang="en-US" sz="1100" b="1" dirty="0">
                <a:solidFill>
                  <a:srgbClr val="0D1813"/>
                </a:solidFill>
              </a:rPr>
              <a:t>Web ·​ Responsive</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ROLES</a:t>
            </a:r>
            <a:endParaRPr lang="en-US" sz="800" dirty="0"/>
          </a:p>
          <a:p>
            <a:pPr indent="0" marL="0">
              <a:spcAft>
                <a:spcPts val="200"/>
              </a:spcAft>
              <a:buNone/>
            </a:pPr>
            <a:r>
              <a:rPr lang="en-US" sz="1100" b="1" dirty="0">
                <a:solidFill>
                  <a:srgbClr val="0D1813"/>
                </a:solidFill>
              </a:rPr>
              <a:t>Admin ·​ Manager ·​ Finance ·​ Employee</a:t>
            </a:r>
            <a:endParaRPr lang="en-US" sz="800" dirty="0"/>
          </a:p>
        </p:txBody>
      </p:sp>
      <p:pic>
        <p:nvPicPr>
          <p:cNvPr id="12" name="reveal-1" descr="Expense Log on desktop and mobile">    </p:cNvPr>
          <p:cNvPicPr>
            <a:picLocks noChangeAspect="1"/>
          </p:cNvPicPr>
          <p:nvPr/>
        </p:nvPicPr>
        <p:blipFill>
          <a:blip r:embed="rId2"/>
          <a:stretch>
            <a:fillRect/>
          </a:stretch>
        </p:blipFill>
        <p:spPr>
          <a:xfrm>
            <a:off x="5162702" y="1334567"/>
            <a:ext cx="6819595" cy="435345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61</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Receipts in inboxes, approvals in chats.</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Expense claims usually travel by email and messaging apps. Approvals are hard to trace, reimbursements are tracked in spreadsheets, and nobody can compare a department’s spending with its budget until the month is over.</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One flow, from claim to reimbursement.</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Expense Log around companies and roles. Claims carry their category, department and payment mode; managers approve or reject within their department; finance records reimbursements; and budgets are set per department and month, so reports compare spend with plan.</a:t>
            </a:r>
            <a:endParaRPr lang="en-US" sz="1150" dirty="0"/>
          </a:p>
        </p:txBody>
      </p:sp>
      <p:sp>
        <p:nvSpPr>
          <p:cNvPr id="10" name="Shape 6"/>
          <p:cNvSpPr/>
          <p:nvPr/>
        </p:nvSpPr>
        <p:spPr>
          <a:xfrm>
            <a:off x="5760720" y="502920"/>
            <a:ext cx="5879592" cy="5715000"/>
          </a:xfrm>
          <a:prstGeom prst="roundRect">
            <a:avLst>
              <a:gd name="adj" fmla="val 2560"/>
            </a:avLst>
          </a:prstGeom>
          <a:solidFill>
            <a:srgbClr val="F4F1E8"/>
          </a:solidFill>
          <a:ln/>
        </p:spPr>
      </p:sp>
      <p:pic>
        <p:nvPicPr>
          <p:cNvPr id="11" name="Image 2" descr="Expense Log screens">    </p:cNvPr>
          <p:cNvPicPr>
            <a:picLocks noChangeAspect="1"/>
          </p:cNvPicPr>
          <p:nvPr/>
        </p:nvPicPr>
        <p:blipFill>
          <a:blip r:embed="rId3"/>
          <a:stretch>
            <a:fillRect/>
          </a:stretch>
        </p:blipFill>
        <p:spPr>
          <a:xfrm>
            <a:off x="5865102" y="1334356"/>
            <a:ext cx="5689115" cy="4208280"/>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62</a:t>
            </a:fld>
            <a:endParaRPr lang="en-US"/>
          </a:p>
        </p:txBody>
      </p:sp>
    </p:spTree>
  </p:cSld>
  <p:clrMapOvr>
    <a:masterClrMapping/>
  </p:clrMapOvr>
  <p:transition spd="med">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F1E8"/>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Expense Log.</a:t>
            </a:r>
            <a:endParaRPr lang="en-US" sz="2800" dirty="0"/>
          </a:p>
        </p:txBody>
      </p:sp>
      <p:pic>
        <p:nvPicPr>
          <p:cNvPr id="5" name="reveal-1" descr="The month in one view">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month in one view</a:t>
            </a:r>
            <a:endParaRPr lang="en-US" sz="950" dirty="0"/>
          </a:p>
          <a:p>
            <a:pPr indent="0" marL="0">
              <a:spcAft>
                <a:spcPts val="300"/>
              </a:spcAft>
              <a:buNone/>
            </a:pPr>
            <a:r>
              <a:rPr lang="en-US" sz="1100" dirty="0">
                <a:solidFill>
                  <a:srgbClr val="5C6A62"/>
                </a:solidFill>
              </a:rPr>
              <a:t>Totals by status, a six-month trend and the split by category, department and payment mode.</a:t>
            </a:r>
            <a:endParaRPr lang="en-US" sz="950" dirty="0"/>
          </a:p>
        </p:txBody>
      </p:sp>
      <p:pic>
        <p:nvPicPr>
          <p:cNvPr id="7" name="reveal-2" descr="Every claim, traceable">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Every claim, traceable</a:t>
            </a:r>
            <a:endParaRPr lang="en-US" sz="950" dirty="0"/>
          </a:p>
          <a:p>
            <a:pPr indent="0" marL="0">
              <a:spcAft>
                <a:spcPts val="300"/>
              </a:spcAft>
              <a:buNone/>
            </a:pPr>
            <a:r>
              <a:rPr lang="en-US" sz="1100" dirty="0">
                <a:solidFill>
                  <a:srgbClr val="5C6A62"/>
                </a:solidFill>
              </a:rPr>
              <a:t>Filter claims by company, department, category, date or amount, and see where each one stands.</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F1E8"/>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Expense Log.</a:t>
            </a:r>
            <a:endParaRPr lang="en-US" sz="2800" dirty="0"/>
          </a:p>
        </p:txBody>
      </p:sp>
      <p:pic>
        <p:nvPicPr>
          <p:cNvPr id="5" name="reveal-1" descr="Budgets set in advance">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Budgets set in advance</a:t>
            </a:r>
            <a:endParaRPr lang="en-US" sz="950" dirty="0"/>
          </a:p>
          <a:p>
            <a:pPr indent="0" marL="0">
              <a:spcAft>
                <a:spcPts val="300"/>
              </a:spcAft>
              <a:buNone/>
            </a:pPr>
            <a:r>
              <a:rPr lang="en-US" sz="1100" dirty="0">
                <a:solidFill>
                  <a:srgbClr val="5C6A62"/>
                </a:solidFill>
              </a:rPr>
              <a:t>Department budgets by financial month, ready for comparison with actual spend.</a:t>
            </a:r>
            <a:endParaRPr lang="en-US" sz="950" dirty="0"/>
          </a:p>
        </p:txBody>
      </p:sp>
      <p:pic>
        <p:nvPicPr>
          <p:cNvPr id="7" name="reveal-2" descr="Reports for finance">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Reports for finance</a:t>
            </a:r>
            <a:endParaRPr lang="en-US" sz="950" dirty="0"/>
          </a:p>
          <a:p>
            <a:pPr indent="0" marL="0">
              <a:spcAft>
                <a:spcPts val="300"/>
              </a:spcAft>
              <a:buNone/>
            </a:pPr>
            <a:r>
              <a:rPr lang="en-US" sz="1100" dirty="0">
                <a:solidFill>
                  <a:srgbClr val="5C6A62"/>
                </a:solidFill>
              </a:rPr>
              <a:t>Expenses, budgets, approvals, rejections and reimbursements, summarised and drillable.</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Expense Log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Spend at a glance</a:t>
            </a:r>
            <a:endParaRPr lang="en-US" sz="950" dirty="0"/>
          </a:p>
          <a:p>
            <a:pPr indent="0" marL="0">
              <a:spcAft>
                <a:spcPts val="300"/>
              </a:spcAft>
              <a:buNone/>
            </a:pPr>
            <a:r>
              <a:rPr lang="en-US" sz="1050" dirty="0">
                <a:solidFill>
                  <a:srgbClr val="5C6A62"/>
                </a:solidFill>
              </a:rPr>
              <a:t>This month, last month, pending, approved and rejected totals, with a six-month trend.</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Where the money goes</a:t>
            </a:r>
            <a:endParaRPr lang="en-US" sz="950" dirty="0"/>
          </a:p>
          <a:p>
            <a:pPr indent="0" marL="0">
              <a:spcAft>
                <a:spcPts val="300"/>
              </a:spcAft>
              <a:buNone/>
            </a:pPr>
            <a:r>
              <a:rPr lang="en-US" sz="1050" dirty="0">
                <a:solidFill>
                  <a:srgbClr val="5C6A62"/>
                </a:solidFill>
              </a:rPr>
              <a:t>Spend by category, department and payment mode, with the status of every claim.</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Claims with a status</a:t>
            </a:r>
            <a:endParaRPr lang="en-US" sz="950" dirty="0"/>
          </a:p>
          <a:p>
            <a:pPr indent="0" marL="0">
              <a:spcAft>
                <a:spcPts val="300"/>
              </a:spcAft>
              <a:buNone/>
            </a:pPr>
            <a:r>
              <a:rPr lang="en-US" sz="1050" dirty="0">
                <a:solidFill>
                  <a:srgbClr val="5C6A62"/>
                </a:solidFill>
              </a:rPr>
              <a:t>Every claim with its category, amount and mode — pending, approved, rejected or paid.</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Budgets by department</a:t>
            </a:r>
            <a:endParaRPr lang="en-US" sz="950" dirty="0"/>
          </a:p>
          <a:p>
            <a:pPr indent="0" marL="0">
              <a:spcAft>
                <a:spcPts val="300"/>
              </a:spcAft>
              <a:buNone/>
            </a:pPr>
            <a:r>
              <a:rPr lang="en-US" sz="1050" dirty="0">
                <a:solidFill>
                  <a:srgbClr val="5C6A62"/>
                </a:solidFill>
              </a:rPr>
              <a:t>Monthly budgets per department and category, exportable to Excel.</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Reports that answer questions</a:t>
            </a:r>
            <a:endParaRPr lang="en-US" sz="950" dirty="0"/>
          </a:p>
          <a:p>
            <a:pPr indent="0" marL="0">
              <a:spcAft>
                <a:spcPts val="300"/>
              </a:spcAft>
              <a:buNone/>
            </a:pPr>
            <a:r>
              <a:rPr lang="en-US" sz="1050" dirty="0">
                <a:solidFill>
                  <a:srgbClr val="5C6A62"/>
                </a:solidFill>
              </a:rPr>
              <a:t>Expense summary, department, category, reimbursement and budget-versus-actual reports.</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Companies, departments and roles</a:t>
            </a:r>
            <a:endParaRPr lang="en-US" sz="950" dirty="0"/>
          </a:p>
          <a:p>
            <a:pPr indent="0" marL="0">
              <a:spcAft>
                <a:spcPts val="300"/>
              </a:spcAft>
              <a:buNone/>
            </a:pPr>
            <a:r>
              <a:rPr lang="en-US" sz="1050" dirty="0">
                <a:solidFill>
                  <a:srgbClr val="5C6A62"/>
                </a:solidFill>
              </a:rPr>
              <a:t>Several companies on one platform, each with departments and admin, manager, finance and employee users.</a:t>
            </a:r>
            <a:endParaRPr lang="en-US" sz="950" dirty="0"/>
          </a:p>
        </p:txBody>
      </p:sp>
      <p:sp>
        <p:nvSpPr>
          <p:cNvPr id="17" name="Shape 14"/>
          <p:cNvSpPr/>
          <p:nvPr/>
        </p:nvSpPr>
        <p:spPr>
          <a:xfrm>
            <a:off x="8503920" y="502920"/>
            <a:ext cx="3136392" cy="5715000"/>
          </a:xfrm>
          <a:prstGeom prst="roundRect">
            <a:avLst>
              <a:gd name="adj" fmla="val 4665"/>
            </a:avLst>
          </a:prstGeom>
          <a:solidFill>
            <a:srgbClr val="ECE5D3"/>
          </a:solidFill>
          <a:ln/>
        </p:spPr>
      </p:sp>
      <p:pic>
        <p:nvPicPr>
          <p:cNvPr id="18" name="Image 1" descr="Expense Log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65</a:t>
            </a:fld>
            <a:endParaRPr lang="en-US"/>
          </a:p>
        </p:txBody>
      </p:sp>
    </p:spTree>
  </p:cSld>
  <p:clrMapOvr>
    <a:masterClrMapping/>
  </p:clrMapOvr>
  <p:transition spd="med">
    <p:fade/>
  </p:transition>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ECE5D3"/>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Built for every role.</a:t>
            </a:r>
            <a:endParaRPr lang="en-US" sz="2800" dirty="0"/>
          </a:p>
        </p:txBody>
      </p:sp>
      <p:pic>
        <p:nvPicPr>
          <p:cNvPr id="5" name="Image 1" descr="Administrator view">    </p:cNvPr>
          <p:cNvPicPr>
            <a:picLocks noChangeAspect="1"/>
          </p:cNvPicPr>
          <p:nvPr/>
        </p:nvPicPr>
        <p:blipFill>
          <a:blip r:embed="rId2"/>
          <a:stretch>
            <a:fillRect/>
          </a:stretch>
        </p:blipFill>
        <p:spPr>
          <a:xfrm>
            <a:off x="298008" y="1244268"/>
            <a:ext cx="4961664" cy="3262464"/>
          </a:xfrm>
          <a:prstGeom prst="rect">
            <a:avLst/>
          </a:prstGeom>
        </p:spPr>
      </p:pic>
      <p:sp>
        <p:nvSpPr>
          <p:cNvPr id="6" name="Shape 2"/>
          <p:cNvSpPr/>
          <p:nvPr/>
        </p:nvSpPr>
        <p:spPr>
          <a:xfrm>
            <a:off x="548640" y="4315968"/>
            <a:ext cx="5387188" cy="0"/>
          </a:xfrm>
          <a:prstGeom prst="line">
            <a:avLst/>
          </a:prstGeom>
          <a:noFill/>
          <a:ln w="9525">
            <a:solidFill>
              <a:srgbClr val="D3D5CC"/>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DESKTOP &amp; MOBILE</a:t>
            </a:r>
            <a:endParaRPr lang="en-US" sz="800" dirty="0"/>
          </a:p>
          <a:p>
            <a:pPr indent="0" marL="0">
              <a:spcAft>
                <a:spcPts val="200"/>
              </a:spcAft>
              <a:buNone/>
            </a:pPr>
            <a:r>
              <a:rPr lang="en-US" sz="1700" b="1" dirty="0">
                <a:solidFill>
                  <a:srgbClr val="0D1813"/>
                </a:solidFill>
              </a:rPr>
              <a:t>Administrator</a:t>
            </a:r>
            <a:endParaRPr lang="en-US" sz="800" dirty="0"/>
          </a:p>
          <a:p>
            <a:pPr indent="0" marL="0">
              <a:spcAft>
                <a:spcPts val="200"/>
              </a:spcAft>
              <a:buNone/>
            </a:pPr>
            <a:r>
              <a:rPr lang="en-US" sz="1100" dirty="0">
                <a:solidFill>
                  <a:srgbClr val="0D1813"/>
                </a:solidFill>
              </a:rPr>
              <a:t>Sees every company and department.</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Spend summary, trends and breakdowns</a:t>
            </a:r>
            <a:endParaRPr lang="en-US" sz="1000" dirty="0"/>
          </a:p>
          <a:p>
            <a:pPr marL="165100" indent="-165100">
              <a:spcAft>
                <a:spcPts val="400"/>
              </a:spcAft>
              <a:buSzPct val="100000"/>
              <a:buChar char="•"/>
            </a:pPr>
            <a:r>
              <a:rPr lang="en-US" sz="1000" dirty="0">
                <a:solidFill>
                  <a:srgbClr val="34433B"/>
                </a:solidFill>
              </a:rPr>
              <a:t>Companies, departments and users</a:t>
            </a:r>
            <a:endParaRPr lang="en-US" sz="1000" dirty="0"/>
          </a:p>
          <a:p>
            <a:pPr marL="165100" indent="-165100">
              <a:spcAft>
                <a:spcPts val="400"/>
              </a:spcAft>
              <a:buSzPct val="100000"/>
              <a:buChar char="•"/>
            </a:pPr>
            <a:r>
              <a:rPr lang="en-US" sz="1000" dirty="0">
                <a:solidFill>
                  <a:srgbClr val="34433B"/>
                </a:solidFill>
              </a:rPr>
              <a:t>Budgets by department and category</a:t>
            </a:r>
            <a:endParaRPr lang="en-US" sz="1000" dirty="0"/>
          </a:p>
          <a:p>
            <a:pPr marL="165100" indent="-165100">
              <a:spcAft>
                <a:spcPts val="400"/>
              </a:spcAft>
              <a:buSzPct val="100000"/>
              <a:buChar char="•"/>
            </a:pPr>
            <a:r>
              <a:rPr lang="en-US" sz="1000" dirty="0">
                <a:solidFill>
                  <a:srgbClr val="34433B"/>
                </a:solidFill>
              </a:rPr>
              <a:t>Reports across the business</a:t>
            </a:r>
            <a:endParaRPr lang="en-US" sz="1000" dirty="0"/>
          </a:p>
        </p:txBody>
      </p:sp>
      <p:pic>
        <p:nvPicPr>
          <p:cNvPr id="9" name="Image 2" descr="Manager view">    </p:cNvPr>
          <p:cNvPicPr>
            <a:picLocks noChangeAspect="1"/>
          </p:cNvPicPr>
          <p:nvPr/>
        </p:nvPicPr>
        <p:blipFill>
          <a:blip r:embed="rId3"/>
          <a:stretch>
            <a:fillRect/>
          </a:stretch>
        </p:blipFill>
        <p:spPr>
          <a:xfrm>
            <a:off x="6005038" y="1244096"/>
            <a:ext cx="4965574" cy="3262909"/>
          </a:xfrm>
          <a:prstGeom prst="rect">
            <a:avLst/>
          </a:prstGeom>
        </p:spPr>
      </p:pic>
      <p:sp>
        <p:nvSpPr>
          <p:cNvPr id="10" name="Shape 5"/>
          <p:cNvSpPr/>
          <p:nvPr/>
        </p:nvSpPr>
        <p:spPr>
          <a:xfrm>
            <a:off x="6255868" y="4315968"/>
            <a:ext cx="5387188" cy="0"/>
          </a:xfrm>
          <a:prstGeom prst="line">
            <a:avLst/>
          </a:prstGeom>
          <a:noFill/>
          <a:ln w="9525">
            <a:solidFill>
              <a:srgbClr val="D3D5CC"/>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DESKTOP</a:t>
            </a:r>
            <a:endParaRPr lang="en-US" sz="800" dirty="0"/>
          </a:p>
          <a:p>
            <a:pPr indent="0" marL="0">
              <a:spcAft>
                <a:spcPts val="200"/>
              </a:spcAft>
              <a:buNone/>
            </a:pPr>
            <a:r>
              <a:rPr lang="en-US" sz="1700" b="1" dirty="0">
                <a:solidFill>
                  <a:srgbClr val="0D1813"/>
                </a:solidFill>
              </a:rPr>
              <a:t>Manager</a:t>
            </a:r>
            <a:endParaRPr lang="en-US" sz="800" dirty="0"/>
          </a:p>
          <a:p>
            <a:pPr indent="0" marL="0">
              <a:spcAft>
                <a:spcPts val="200"/>
              </a:spcAft>
              <a:buNone/>
            </a:pPr>
            <a:r>
              <a:rPr lang="en-US" sz="1100" dirty="0">
                <a:solidFill>
                  <a:srgbClr val="0D1813"/>
                </a:solidFill>
              </a:rPr>
              <a:t>Approves for their department.</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Department expense tracker with status</a:t>
            </a:r>
            <a:endParaRPr lang="en-US" sz="1000" dirty="0"/>
          </a:p>
          <a:p>
            <a:pPr marL="165100" indent="-165100">
              <a:spcAft>
                <a:spcPts val="400"/>
              </a:spcAft>
              <a:buSzPct val="100000"/>
              <a:buChar char="•"/>
            </a:pPr>
            <a:r>
              <a:rPr lang="en-US" sz="1000" dirty="0">
                <a:solidFill>
                  <a:srgbClr val="34433B"/>
                </a:solidFill>
              </a:rPr>
              <a:t>Approve or reject claims</a:t>
            </a:r>
            <a:endParaRPr lang="en-US" sz="1000" dirty="0"/>
          </a:p>
          <a:p>
            <a:pPr marL="165100" indent="-165100">
              <a:spcAft>
                <a:spcPts val="400"/>
              </a:spcAft>
              <a:buSzPct val="100000"/>
              <a:buChar char="•"/>
            </a:pPr>
            <a:r>
              <a:rPr lang="en-US" sz="1000" dirty="0">
                <a:solidFill>
                  <a:srgbClr val="34433B"/>
                </a:solidFill>
              </a:rPr>
              <a:t>Expense categories</a:t>
            </a:r>
            <a:endParaRPr lang="en-US" sz="1000" dirty="0"/>
          </a:p>
          <a:p>
            <a:pPr marL="165100" indent="-165100">
              <a:spcAft>
                <a:spcPts val="400"/>
              </a:spcAft>
              <a:buSzPct val="100000"/>
              <a:buChar char="•"/>
            </a:pPr>
            <a:r>
              <a:rPr lang="en-US" sz="1000" dirty="0">
                <a:solidFill>
                  <a:srgbClr val="34433B"/>
                </a:solidFill>
              </a:rPr>
              <a:t>Department budgets</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66</a:t>
            </a:fld>
            <a:endParaRPr lang="en-US"/>
          </a:p>
        </p:txBody>
      </p:sp>
    </p:spTree>
  </p:cSld>
  <p:clrMapOvr>
    <a:masterClrMapping/>
  </p:clrMapOvr>
  <p:transition spd="med">
    <p:fade/>
  </p:transition>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ECE5D3"/>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Claims and spend, on the go.</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34433B"/>
                </a:solidFill>
              </a:rPr>
              <a:t>Summaries, trends and the expense tracker adapt to a phone, so approvals don’t wait for a desk.</a:t>
            </a:r>
            <a:endParaRPr lang="en-US" sz="1300" dirty="0"/>
          </a:p>
        </p:txBody>
      </p:sp>
      <p:pic>
        <p:nvPicPr>
          <p:cNvPr id="6" name="reveal-1" descr="Expense Log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Faster approvals</a:t>
            </a:r>
            <a:endParaRPr lang="en-US" sz="1450" dirty="0"/>
          </a:p>
          <a:p>
            <a:pPr indent="0" marL="0">
              <a:spcAft>
                <a:spcPts val="300"/>
              </a:spcAft>
              <a:buNone/>
            </a:pPr>
            <a:r>
              <a:rPr lang="en-US" sz="1050" dirty="0">
                <a:solidFill>
                  <a:srgbClr val="5C6A62"/>
                </a:solidFill>
              </a:rPr>
              <a:t>Claims reach the right manager with what they need to decide.</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Budgets that mean something</a:t>
            </a:r>
            <a:endParaRPr lang="en-US" sz="1450" dirty="0"/>
          </a:p>
          <a:p>
            <a:pPr indent="0" marL="0">
              <a:spcAft>
                <a:spcPts val="300"/>
              </a:spcAft>
              <a:buNone/>
            </a:pPr>
            <a:r>
              <a:rPr lang="en-US" sz="1050" dirty="0">
                <a:solidFill>
                  <a:srgbClr val="5C6A62"/>
                </a:solidFill>
              </a:rPr>
              <a:t>Spend is compared with each department’s budget as it happens.</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Clear reimbursements</a:t>
            </a:r>
            <a:endParaRPr lang="en-US" sz="1450" dirty="0"/>
          </a:p>
          <a:p>
            <a:pPr indent="0" marL="0">
              <a:spcAft>
                <a:spcPts val="300"/>
              </a:spcAft>
              <a:buNone/>
            </a:pPr>
            <a:r>
              <a:rPr lang="en-US" sz="1050" dirty="0">
                <a:solidFill>
                  <a:srgbClr val="5C6A62"/>
                </a:solidFill>
              </a:rPr>
              <a:t>Finance sees what is approved, paid back or still pending.</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Ready for groups</a:t>
            </a:r>
            <a:endParaRPr lang="en-US" sz="1450" dirty="0"/>
          </a:p>
          <a:p>
            <a:pPr indent="0" marL="0">
              <a:spcAft>
                <a:spcPts val="300"/>
              </a:spcAft>
              <a:buNone/>
            </a:pPr>
            <a:r>
              <a:rPr lang="en-US" sz="1050" dirty="0">
                <a:solidFill>
                  <a:srgbClr val="5C6A62"/>
                </a:solidFill>
              </a:rPr>
              <a:t>Several companies run on one platform, each with its own departments and users.</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Role-scoped data: managers see their department, administrators every company</a:t>
            </a:r>
            <a:endParaRPr lang="en-US" sz="1150" dirty="0"/>
          </a:p>
          <a:p>
            <a:pPr marL="165100" indent="-165100">
              <a:spcAft>
                <a:spcPts val="400"/>
              </a:spcAft>
              <a:buSzPct val="100000"/>
              <a:buChar char="•"/>
            </a:pPr>
            <a:r>
              <a:rPr lang="en-US" sz="1150" dirty="0">
                <a:solidFill>
                  <a:srgbClr val="34433B"/>
                </a:solidFill>
              </a:rPr>
              <a:t>Hierarchical expense categories</a:t>
            </a:r>
            <a:endParaRPr lang="en-US" sz="1150" dirty="0"/>
          </a:p>
          <a:p>
            <a:pPr marL="165100" indent="-165100">
              <a:spcAft>
                <a:spcPts val="400"/>
              </a:spcAft>
              <a:buSzPct val="100000"/>
              <a:buChar char="•"/>
            </a:pPr>
            <a:r>
              <a:rPr lang="en-US" sz="1150" dirty="0">
                <a:solidFill>
                  <a:srgbClr val="34433B"/>
                </a:solidFill>
              </a:rPr>
              <a:t>Department budgets by financial month, exportable to Excel</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58521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a:t>
            </a:r>
            <a:endParaRPr lang="en-US" sz="950" dirty="0"/>
          </a:p>
        </p:txBody>
      </p:sp>
      <p:sp>
        <p:nvSpPr>
          <p:cNvPr id="19" name="Text 14"/>
          <p:cNvSpPr txBox="1"/>
          <p:nvPr/>
        </p:nvSpPr>
        <p:spPr>
          <a:xfrm>
            <a:off x="8485632"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FastAPI</a:t>
            </a:r>
            <a:endParaRPr lang="en-US" sz="950" dirty="0"/>
          </a:p>
        </p:txBody>
      </p:sp>
      <p:sp>
        <p:nvSpPr>
          <p:cNvPr id="20" name="Text 15"/>
          <p:cNvSpPr txBox="1"/>
          <p:nvPr/>
        </p:nvSpPr>
        <p:spPr>
          <a:xfrm>
            <a:off x="9277502" y="896112"/>
            <a:ext cx="647395"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Python</a:t>
            </a:r>
            <a:endParaRPr lang="en-US" sz="950" dirty="0"/>
          </a:p>
        </p:txBody>
      </p:sp>
      <p:sp>
        <p:nvSpPr>
          <p:cNvPr id="21" name="Text 16"/>
          <p:cNvSpPr txBox="1"/>
          <p:nvPr/>
        </p:nvSpPr>
        <p:spPr>
          <a:xfrm>
            <a:off x="10007194" y="896112"/>
            <a:ext cx="833933"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JWT roles</a:t>
            </a:r>
            <a:endParaRPr lang="en-US" sz="950" dirty="0"/>
          </a:p>
        </p:txBody>
      </p:sp>
      <p:sp>
        <p:nvSpPr>
          <p:cNvPr id="22" name="Text 17"/>
          <p:cNvSpPr txBox="1"/>
          <p:nvPr/>
        </p:nvSpPr>
        <p:spPr>
          <a:xfrm>
            <a:off x="7818120" y="1261872"/>
            <a:ext cx="108265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Multi-company</a:t>
            </a:r>
            <a:endParaRPr lang="en-US" sz="950" dirty="0"/>
          </a:p>
        </p:txBody>
      </p:sp>
      <p:sp>
        <p:nvSpPr>
          <p:cNvPr id="23" name="Text 18"/>
          <p:cNvSpPr txBox="1"/>
          <p:nvPr/>
        </p:nvSpPr>
        <p:spPr>
          <a:xfrm>
            <a:off x="8983066" y="1261872"/>
            <a:ext cx="102047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Excel export</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LIVE PRODUCT</a:t>
            </a:r>
            <a:endParaRPr lang="en-US" sz="900" dirty="0"/>
          </a:p>
        </p:txBody>
      </p:sp>
      <p:sp>
        <p:nvSpPr>
          <p:cNvPr id="27" name="Text 21">
            <a:hlinkClick r:id="rId5" tooltip="Expense Log"/>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Expense Log" history="1" highlightClick="0" endSnd="0">
                  <a:extLst>
                    <a:ext uri="{A12FA001-AC4F-418D-AE19-62706E023703}">
                      <ahyp:hlinkClr xmlns:ahyp="http://schemas.microsoft.com/office/drawing/2018/hyperlinkcolor" val="tx"/>
                    </a:ext>
                  </a:extLst>
                </a:hlinkClick>
              </a:rPr>
              <a:t>View live app →</a:t>
            </a:r>
            <a:endParaRPr lang="en-US" sz="1600" dirty="0"/>
          </a:p>
        </p:txBody>
      </p:sp>
      <p:sp>
        <p:nvSpPr>
          <p:cNvPr id="28" name="Text 22"/>
          <p:cNvSpPr txBox="1"/>
          <p:nvPr/>
        </p:nvSpPr>
        <p:spPr>
          <a:xfrm>
            <a:off x="8092440" y="4873752"/>
            <a:ext cx="3276295" cy="228600"/>
          </a:xfrm>
          <a:prstGeom prst="rect">
            <a:avLst/>
          </a:prstGeom>
          <a:noFill/>
          <a:ln/>
        </p:spPr>
        <p:txBody>
          <a:bodyPr wrap="square" lIns="0" tIns="0" rIns="0" bIns="0" rtlCol="0" anchor="t"/>
          <a:lstStyle/>
          <a:p>
            <a:pPr indent="0" marL="0">
              <a:buNone/>
            </a:pPr>
            <a:r>
              <a:rPr lang="en-US" sz="900" dirty="0">
                <a:solidFill>
                  <a:srgbClr val="8C938B"/>
                </a:solidFill>
              </a:rPr>
              <a:t>Expense Log</a:t>
            </a:r>
            <a:endParaRPr lang="en-US" sz="900" dirty="0"/>
          </a:p>
        </p:txBody>
      </p:sp>
      <p:sp>
        <p:nvSpPr>
          <p:cNvPr id="29" name="Shape 23">
            <a:hlinkClick r:id="rId6" tooltip="Expense Log"/>
          </p:cNvPr>
          <p:cNvSpPr/>
          <p:nvPr/>
        </p:nvSpPr>
        <p:spPr>
          <a:xfrm>
            <a:off x="8092440" y="4873752"/>
            <a:ext cx="841248" cy="228600"/>
          </a:xfrm>
          <a:prstGeom prst="rect">
            <a:avLst/>
          </a:prstGeom>
          <a:solidFill>
            <a:srgbClr val="FFFFFF">
              <a:alpha val="0"/>
            </a:srgbClr>
          </a:solidFill>
          <a:ln/>
        </p:spPr>
      </p:sp>
      <p:sp>
        <p:nvSpPr>
          <p:cNvPr id="30" name="Text 24"/>
          <p:cNvSpPr txBox="1"/>
          <p:nvPr/>
        </p:nvSpPr>
        <p:spPr>
          <a:xfrm>
            <a:off x="8092440" y="5257800"/>
            <a:ext cx="3276295" cy="731520"/>
          </a:xfrm>
          <a:prstGeom prst="rect">
            <a:avLst/>
          </a:prstGeom>
          <a:noFill/>
          <a:ln/>
        </p:spPr>
        <p:txBody>
          <a:bodyPr wrap="square" lIns="0" tIns="0" rIns="0" bIns="0" rtlCol="0" anchor="t"/>
          <a:lstStyle/>
          <a:p>
            <a:pPr indent="0" marL="0">
              <a:buNone/>
            </a:pPr>
            <a:r>
              <a:rPr lang="en-US" sz="1050" dirty="0">
                <a:solidFill>
                  <a:srgbClr val="BFC4BA"/>
                </a:solidFill>
              </a:rPr>
              <a:t>Live demo: Administrator and Manager views.</a:t>
            </a:r>
            <a:endParaRPr lang="en-US" sz="1050" dirty="0"/>
          </a:p>
        </p:txBody>
      </p:sp>
      <p:sp>
        <p:nvSpPr>
          <p:cNvPr id="31" name="Text 25"/>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800" dirty="0">
                <a:solidFill>
                  <a:srgbClr val="5C6A62"/>
                </a:solidFill>
              </a:rPr>
              <a:t>Shown with sample companies and test data; names and emails are anonymised.</a:t>
            </a:r>
            <a:endParaRPr lang="en-US" sz="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68</a:t>
            </a:fld>
            <a:endParaRPr lang="en-US"/>
          </a:p>
        </p:txBody>
      </p:sp>
    </p:spTree>
  </p:cSld>
  <p:clrMapOvr>
    <a:masterClrMapping/>
  </p:clrMapOvr>
  <p:transition spd="med">
    <p:fade/>
  </p:transition>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2E3820"/>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8C938B"/>
                </a:solidFill>
              </a:rPr>
              <a:t>09 — WEBSITE LEAD &amp; DISCOVERY CRM</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EEF0E6"/>
                </a:solidFill>
              </a:rPr>
              <a:t>Lead Discovery CRM</a:t>
            </a:r>
            <a:endParaRPr lang="en-US" sz="4000" dirty="0"/>
          </a:p>
        </p:txBody>
      </p:sp>
      <p:sp>
        <p:nvSpPr>
          <p:cNvPr id="5" name="Text 2"/>
          <p:cNvSpPr txBox="1"/>
          <p:nvPr/>
        </p:nvSpPr>
        <p:spPr>
          <a:xfrm>
            <a:off x="548640" y="1883664"/>
            <a:ext cx="4572000" cy="777240"/>
          </a:xfrm>
          <a:prstGeom prst="rect">
            <a:avLst/>
          </a:prstGeom>
          <a:noFill/>
          <a:ln/>
        </p:spPr>
        <p:txBody>
          <a:bodyPr wrap="square" lIns="0" tIns="0" rIns="0" bIns="0" rtlCol="0" anchor="t"/>
          <a:lstStyle/>
          <a:p>
            <a:pPr indent="0" marL="0">
              <a:lnSpc>
                <a:spcPct val="108000"/>
              </a:lnSpc>
              <a:buNone/>
            </a:pPr>
            <a:r>
              <a:rPr lang="en-US" sz="1650" dirty="0">
                <a:solidFill>
                  <a:srgbClr val="EEF0E6"/>
                </a:solidFill>
                <a:latin typeface="Satoshi Medium" pitchFamily="34" charset="0"/>
                <a:ea typeface="Satoshi Medium" pitchFamily="34" charset="-122"/>
                <a:cs typeface="Satoshi Medium" pitchFamily="34" charset="-120"/>
              </a:rPr>
              <a:t>Visitors answer a few questions. The team gets a qualified lead.</a:t>
            </a:r>
            <a:endParaRPr lang="en-US" sz="1650" dirty="0"/>
          </a:p>
        </p:txBody>
      </p:sp>
      <p:sp>
        <p:nvSpPr>
          <p:cNvPr id="6" name="Text 3"/>
          <p:cNvSpPr txBox="1"/>
          <p:nvPr/>
        </p:nvSpPr>
        <p:spPr>
          <a:xfrm>
            <a:off x="548640" y="2706624"/>
            <a:ext cx="4572000" cy="1325880"/>
          </a:xfrm>
          <a:prstGeom prst="rect">
            <a:avLst/>
          </a:prstGeom>
          <a:noFill/>
          <a:ln/>
        </p:spPr>
        <p:txBody>
          <a:bodyPr wrap="square" lIns="0" tIns="0" rIns="0" bIns="0" rtlCol="0" anchor="t"/>
          <a:lstStyle/>
          <a:p>
            <a:pPr indent="0" marL="0">
              <a:lnSpc>
                <a:spcPct val="115000"/>
              </a:lnSpc>
              <a:buNone/>
            </a:pPr>
            <a:r>
              <a:rPr lang="en-US" sz="1100" dirty="0">
                <a:solidFill>
                  <a:srgbClr val="BFC4BA"/>
                </a:solidFill>
              </a:rPr>
              <a:t>Crita’s own lead engine: discovery questionnaires published on the website turn visitors into structured leads, every response gets a fit score and next-step coaching, and the team manages clients, questionnaires and responses in one CRM.</a:t>
            </a:r>
            <a:endParaRPr lang="en-US" sz="1100" dirty="0"/>
          </a:p>
        </p:txBody>
      </p:sp>
      <p:sp>
        <p:nvSpPr>
          <p:cNvPr id="7" name="Shape 4"/>
          <p:cNvSpPr/>
          <p:nvPr/>
        </p:nvSpPr>
        <p:spPr>
          <a:xfrm>
            <a:off x="548640" y="4754880"/>
            <a:ext cx="4572000" cy="0"/>
          </a:xfrm>
          <a:prstGeom prst="line">
            <a:avLst/>
          </a:prstGeom>
          <a:noFill/>
          <a:ln w="9525">
            <a:solidFill>
              <a:srgbClr val="2A3832"/>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CLIENT</a:t>
            </a:r>
            <a:endParaRPr lang="en-US" sz="800" dirty="0"/>
          </a:p>
          <a:p>
            <a:pPr indent="0" marL="0">
              <a:spcAft>
                <a:spcPts val="200"/>
              </a:spcAft>
              <a:buNone/>
            </a:pPr>
            <a:r>
              <a:rPr lang="en-US" sz="1100" b="1" dirty="0">
                <a:solidFill>
                  <a:srgbClr val="EEF0E6"/>
                </a:solidFill>
              </a:rPr>
              <a:t>A Crita product</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SECTOR</a:t>
            </a:r>
            <a:endParaRPr lang="en-US" sz="800" dirty="0"/>
          </a:p>
          <a:p>
            <a:pPr indent="0" marL="0">
              <a:spcAft>
                <a:spcPts val="200"/>
              </a:spcAft>
              <a:buNone/>
            </a:pPr>
            <a:r>
              <a:rPr lang="en-US" sz="1100" b="1" dirty="0">
                <a:solidFill>
                  <a:srgbClr val="EEF0E6"/>
                </a:solidFill>
              </a:rPr>
              <a:t>Sales &amp; marketing</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PLATFORM</a:t>
            </a:r>
            <a:endParaRPr lang="en-US" sz="800" dirty="0"/>
          </a:p>
          <a:p>
            <a:pPr indent="0" marL="0">
              <a:spcAft>
                <a:spcPts val="200"/>
              </a:spcAft>
              <a:buNone/>
            </a:pPr>
            <a:r>
              <a:rPr lang="en-US" sz="1100" b="1" dirty="0">
                <a:solidFill>
                  <a:srgbClr val="EEF0E6"/>
                </a:solidFill>
              </a:rPr>
              <a:t>Web ·​ Responsive</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ROLES</a:t>
            </a:r>
            <a:endParaRPr lang="en-US" sz="800" dirty="0"/>
          </a:p>
          <a:p>
            <a:pPr indent="0" marL="0">
              <a:spcAft>
                <a:spcPts val="200"/>
              </a:spcAft>
              <a:buNone/>
            </a:pPr>
            <a:r>
              <a:rPr lang="en-US" sz="1100" b="1" dirty="0">
                <a:solidFill>
                  <a:srgbClr val="EEF0E6"/>
                </a:solidFill>
              </a:rPr>
              <a:t>Crita team ·​ Prospects</a:t>
            </a:r>
            <a:endParaRPr lang="en-US" sz="800" dirty="0"/>
          </a:p>
        </p:txBody>
      </p:sp>
      <p:pic>
        <p:nvPicPr>
          <p:cNvPr id="12" name="reveal-1" descr="Lead Discovery CRM on desktop and mobile">    </p:cNvPr>
          <p:cNvPicPr>
            <a:picLocks noChangeAspect="1"/>
          </p:cNvPicPr>
          <p:nvPr/>
        </p:nvPicPr>
        <p:blipFill>
          <a:blip r:embed="rId2"/>
          <a:stretch>
            <a:fillRect/>
          </a:stretch>
        </p:blipFill>
        <p:spPr>
          <a:xfrm>
            <a:off x="5162702" y="1334567"/>
            <a:ext cx="6819595" cy="435345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69</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An enquiry is a name and a phone number.</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A typical contact form says who got in touch, not what they need. Teams repeat the same questions before every first meeting and have no consistent way to judge which enquiries fit what they offer.</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Discovery before the first call.</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topic-based discovery questionnaires — branding, workflows and AI, business software, inventory, websites, retail and manufacturing — published on the website and sent as private links. Answers land in a CRM as leads with a fit score, the gaps still open and suggested next steps, beside clients, templates and assignments.</a:t>
            </a:r>
            <a:endParaRPr lang="en-US" sz="1150" dirty="0"/>
          </a:p>
        </p:txBody>
      </p:sp>
      <p:sp>
        <p:nvSpPr>
          <p:cNvPr id="10" name="Shape 6"/>
          <p:cNvSpPr/>
          <p:nvPr/>
        </p:nvSpPr>
        <p:spPr>
          <a:xfrm>
            <a:off x="5760720" y="502920"/>
            <a:ext cx="5879592" cy="5715000"/>
          </a:xfrm>
          <a:prstGeom prst="roundRect">
            <a:avLst>
              <a:gd name="adj" fmla="val 2560"/>
            </a:avLst>
          </a:prstGeom>
          <a:solidFill>
            <a:srgbClr val="EFF1E6"/>
          </a:solidFill>
          <a:ln/>
        </p:spPr>
      </p:sp>
      <p:pic>
        <p:nvPicPr>
          <p:cNvPr id="11" name="Image 2" descr="Lead Discovery CRM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70</a:t>
            </a:fld>
            <a:endParaRPr lang="en-US"/>
          </a:p>
        </p:txBody>
      </p:sp>
    </p:spTree>
  </p:cSld>
  <p:clrMapOvr>
    <a:masterClrMapping/>
  </p:clrMapOvr>
  <p:transition spd="med">
    <p:fade/>
  </p:transition>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EFF1E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Lead Discovery CRM.</a:t>
            </a:r>
            <a:endParaRPr lang="en-US" sz="2800" dirty="0"/>
          </a:p>
        </p:txBody>
      </p:sp>
      <p:pic>
        <p:nvPicPr>
          <p:cNvPr id="5" name="reveal-1" descr="The prospect’s side">    </p:cNvPr>
          <p:cNvPicPr>
            <a:picLocks noChangeAspect="1"/>
          </p:cNvPicPr>
          <p:nvPr/>
        </p:nvPicPr>
        <p:blipFill>
          <a:blip r:embed="rId2"/>
          <a:stretch>
            <a:fillRect/>
          </a:stretch>
        </p:blipFill>
        <p:spPr>
          <a:xfrm>
            <a:off x="265704" y="1353231"/>
            <a:ext cx="5960831" cy="4061805"/>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prospect’s side</a:t>
            </a:r>
            <a:endParaRPr lang="en-US" sz="950" dirty="0"/>
          </a:p>
          <a:p>
            <a:pPr indent="0" marL="0">
              <a:spcAft>
                <a:spcPts val="300"/>
              </a:spcAft>
              <a:buNone/>
            </a:pPr>
            <a:r>
              <a:rPr lang="en-US" sz="1100" dirty="0">
                <a:solidFill>
                  <a:srgbClr val="5C6A62"/>
                </a:solidFill>
              </a:rPr>
              <a:t>A short, focused questionnaire for each service, opened from the website or a private link.</a:t>
            </a:r>
            <a:endParaRPr lang="en-US" sz="950" dirty="0"/>
          </a:p>
        </p:txBody>
      </p:sp>
      <p:pic>
        <p:nvPicPr>
          <p:cNvPr id="7" name="reveal-2" descr="Every response, organised">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Every response, organised</a:t>
            </a:r>
            <a:endParaRPr lang="en-US" sz="950" dirty="0"/>
          </a:p>
          <a:p>
            <a:pPr indent="0" marL="0">
              <a:spcAft>
                <a:spcPts val="300"/>
              </a:spcAft>
              <a:buNone/>
            </a:pPr>
            <a:r>
              <a:rPr lang="en-US" sz="1100" dirty="0">
                <a:solidFill>
                  <a:srgbClr val="5C6A62"/>
                </a:solidFill>
              </a:rPr>
              <a:t>Responses by questionnaire and source, newest first.</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EFF1E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Lead Discovery CRM.</a:t>
            </a:r>
            <a:endParaRPr lang="en-US" sz="2800" dirty="0"/>
          </a:p>
        </p:txBody>
      </p:sp>
      <p:pic>
        <p:nvPicPr>
          <p:cNvPr id="5" name="reveal-1" descr="Scored before the first call">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Scored before the first call</a:t>
            </a:r>
            <a:endParaRPr lang="en-US" sz="950" dirty="0"/>
          </a:p>
          <a:p>
            <a:pPr indent="0" marL="0">
              <a:spcAft>
                <a:spcPts val="300"/>
              </a:spcAft>
              <a:buNone/>
            </a:pPr>
            <a:r>
              <a:rPr lang="en-US" sz="1100" dirty="0">
                <a:solidFill>
                  <a:srgbClr val="5C6A62"/>
                </a:solidFill>
              </a:rPr>
              <a:t>A fit score, the open questions and next steps — with what the prospect sees marked clearly.</a:t>
            </a:r>
            <a:endParaRPr lang="en-US" sz="950" dirty="0"/>
          </a:p>
        </p:txBody>
      </p:sp>
      <p:pic>
        <p:nvPicPr>
          <p:cNvPr id="7" name="reveal-2" descr="The funnel at a glance">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The funnel at a glance</a:t>
            </a:r>
            <a:endParaRPr lang="en-US" sz="950" dirty="0"/>
          </a:p>
          <a:p>
            <a:pPr indent="0" marL="0">
              <a:spcAft>
                <a:spcPts val="300"/>
              </a:spcAft>
              <a:buNone/>
            </a:pPr>
            <a:r>
              <a:rPr lang="en-US" sz="1100" dirty="0">
                <a:solidFill>
                  <a:srgbClr val="5C6A62"/>
                </a:solidFill>
              </a:rPr>
              <a:t>Clients, website leads, templates and responses, with pending and completed counts.</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Lead Discovery CRM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Topic questionnaires</a:t>
            </a:r>
            <a:endParaRPr lang="en-US" sz="950" dirty="0"/>
          </a:p>
          <a:p>
            <a:pPr indent="0" marL="0">
              <a:spcAft>
                <a:spcPts val="300"/>
              </a:spcAft>
              <a:buNone/>
            </a:pPr>
            <a:r>
              <a:rPr lang="en-US" sz="1050" dirty="0">
                <a:solidFill>
                  <a:srgbClr val="5C6A62"/>
                </a:solidFill>
              </a:rPr>
              <a:t>A library of discovery questionnaires by service, versioned, with CSV import and export.</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Published on the website</a:t>
            </a:r>
            <a:endParaRPr lang="en-US" sz="950" dirty="0"/>
          </a:p>
          <a:p>
            <a:pPr indent="0" marL="0">
              <a:spcAft>
                <a:spcPts val="300"/>
              </a:spcAft>
              <a:buNone/>
            </a:pPr>
            <a:r>
              <a:rPr lang="en-US" sz="1050" dirty="0">
                <a:solidFill>
                  <a:srgbClr val="5C6A62"/>
                </a:solidFill>
              </a:rPr>
              <a:t>Each questionnaire has its own page on the website, ready for any visitor.</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Responses in one place</a:t>
            </a:r>
            <a:endParaRPr lang="en-US" sz="950" dirty="0"/>
          </a:p>
          <a:p>
            <a:pPr indent="0" marL="0">
              <a:spcAft>
                <a:spcPts val="300"/>
              </a:spcAft>
              <a:buNone/>
            </a:pPr>
            <a:r>
              <a:rPr lang="en-US" sz="1050" dirty="0">
                <a:solidFill>
                  <a:srgbClr val="5C6A62"/>
                </a:solidFill>
              </a:rPr>
              <a:t>Every response with its topic, source and date, filterable by questionnaire.</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Fit score and next steps</a:t>
            </a:r>
            <a:endParaRPr lang="en-US" sz="950" dirty="0"/>
          </a:p>
          <a:p>
            <a:pPr indent="0" marL="0">
              <a:spcAft>
                <a:spcPts val="300"/>
              </a:spcAft>
              <a:buNone/>
            </a:pPr>
            <a:r>
              <a:rPr lang="en-US" sz="1050" dirty="0">
                <a:solidFill>
                  <a:srgbClr val="5C6A62"/>
                </a:solidFill>
              </a:rPr>
              <a:t>Each response is scored against its topic and turned into a summary of what is unclear and what to do next.</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Clients and assignments</a:t>
            </a:r>
            <a:endParaRPr lang="en-US" sz="950" dirty="0"/>
          </a:p>
          <a:p>
            <a:pPr indent="0" marL="0">
              <a:spcAft>
                <a:spcPts val="300"/>
              </a:spcAft>
              <a:buNone/>
            </a:pPr>
            <a:r>
              <a:rPr lang="en-US" sz="1050" dirty="0">
                <a:solidFill>
                  <a:srgbClr val="5C6A62"/>
                </a:solidFill>
              </a:rPr>
              <a:t>Clients, website leads and questionnaire assignments, tracked from pending to completed.</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Made for phones</a:t>
            </a:r>
            <a:endParaRPr lang="en-US" sz="950" dirty="0"/>
          </a:p>
          <a:p>
            <a:pPr indent="0" marL="0">
              <a:spcAft>
                <a:spcPts val="300"/>
              </a:spcAft>
              <a:buNone/>
            </a:pPr>
            <a:r>
              <a:rPr lang="en-US" sz="1050" dirty="0">
                <a:solidFill>
                  <a:srgbClr val="5C6A62"/>
                </a:solidFill>
              </a:rPr>
              <a:t>Questionnaires work on a phone, from the first field to the last answer.</a:t>
            </a:r>
            <a:endParaRPr lang="en-US" sz="950" dirty="0"/>
          </a:p>
        </p:txBody>
      </p:sp>
      <p:sp>
        <p:nvSpPr>
          <p:cNvPr id="17" name="Shape 14"/>
          <p:cNvSpPr/>
          <p:nvPr/>
        </p:nvSpPr>
        <p:spPr>
          <a:xfrm>
            <a:off x="8503920" y="502920"/>
            <a:ext cx="3136392" cy="5715000"/>
          </a:xfrm>
          <a:prstGeom prst="roundRect">
            <a:avLst>
              <a:gd name="adj" fmla="val 4665"/>
            </a:avLst>
          </a:prstGeom>
          <a:solidFill>
            <a:srgbClr val="2E3820"/>
          </a:solidFill>
          <a:ln/>
        </p:spPr>
      </p:sp>
      <p:pic>
        <p:nvPicPr>
          <p:cNvPr id="18" name="Image 1" descr="Lead Discovery CRM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73</a:t>
            </a:fld>
            <a:endParaRPr lang="en-US"/>
          </a:p>
        </p:txBody>
      </p:sp>
    </p:spTree>
  </p:cSld>
  <p:clrMapOvr>
    <a:masterClrMapping/>
  </p:clrMapOvr>
  <p:transition spd="med">
    <p:fade/>
  </p:transition>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2E3820"/>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every role.</a:t>
            </a:r>
            <a:endParaRPr lang="en-US" sz="2800" dirty="0"/>
          </a:p>
        </p:txBody>
      </p:sp>
      <p:pic>
        <p:nvPicPr>
          <p:cNvPr id="5" name="Image 1" descr="Crita team view">    </p:cNvPr>
          <p:cNvPicPr>
            <a:picLocks noChangeAspect="1"/>
          </p:cNvPicPr>
          <p:nvPr/>
        </p:nvPicPr>
        <p:blipFill>
          <a:blip r:embed="rId2"/>
          <a:stretch>
            <a:fillRect/>
          </a:stretch>
        </p:blipFill>
        <p:spPr>
          <a:xfrm>
            <a:off x="297810" y="1244096"/>
            <a:ext cx="4965574" cy="3262909"/>
          </a:xfrm>
          <a:prstGeom prst="rect">
            <a:avLst/>
          </a:prstGeom>
        </p:spPr>
      </p:pic>
      <p:sp>
        <p:nvSpPr>
          <p:cNvPr id="6" name="Shape 2"/>
          <p:cNvSpPr/>
          <p:nvPr/>
        </p:nvSpPr>
        <p:spPr>
          <a:xfrm>
            <a:off x="548640" y="4315968"/>
            <a:ext cx="5387188" cy="0"/>
          </a:xfrm>
          <a:prstGeom prst="line">
            <a:avLst/>
          </a:prstGeom>
          <a:noFill/>
          <a:ln w="9525">
            <a:solidFill>
              <a:srgbClr val="2A3832"/>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WEB CRM</a:t>
            </a:r>
            <a:endParaRPr lang="en-US" sz="800" dirty="0"/>
          </a:p>
          <a:p>
            <a:pPr indent="0" marL="0">
              <a:spcAft>
                <a:spcPts val="200"/>
              </a:spcAft>
              <a:buNone/>
            </a:pPr>
            <a:r>
              <a:rPr lang="en-US" sz="1700" b="1" dirty="0">
                <a:solidFill>
                  <a:srgbClr val="EEF0E6"/>
                </a:solidFill>
              </a:rPr>
              <a:t>Crita team</a:t>
            </a:r>
            <a:endParaRPr lang="en-US" sz="800" dirty="0"/>
          </a:p>
          <a:p>
            <a:pPr indent="0" marL="0">
              <a:spcAft>
                <a:spcPts val="200"/>
              </a:spcAft>
              <a:buNone/>
            </a:pPr>
            <a:r>
              <a:rPr lang="en-US" sz="1100" dirty="0">
                <a:solidFill>
                  <a:srgbClr val="EEF0E6"/>
                </a:solidFill>
              </a:rPr>
              <a:t>Qualifies and follows up.</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Dashboard of clients, leads and responses</a:t>
            </a:r>
            <a:endParaRPr lang="en-US" sz="1000" dirty="0"/>
          </a:p>
          <a:p>
            <a:pPr marL="165100" indent="-165100">
              <a:spcAft>
                <a:spcPts val="400"/>
              </a:spcAft>
              <a:buSzPct val="100000"/>
              <a:buChar char="•"/>
            </a:pPr>
            <a:r>
              <a:rPr lang="en-US" sz="1000" dirty="0">
                <a:solidFill>
                  <a:srgbClr val="BFC4BA"/>
                </a:solidFill>
              </a:rPr>
              <a:t>Questionnaire templates and assignments</a:t>
            </a:r>
            <a:endParaRPr lang="en-US" sz="1000" dirty="0"/>
          </a:p>
          <a:p>
            <a:pPr marL="165100" indent="-165100">
              <a:spcAft>
                <a:spcPts val="400"/>
              </a:spcAft>
              <a:buSzPct val="100000"/>
              <a:buChar char="•"/>
            </a:pPr>
            <a:r>
              <a:rPr lang="en-US" sz="1000" dirty="0">
                <a:solidFill>
                  <a:srgbClr val="BFC4BA"/>
                </a:solidFill>
              </a:rPr>
              <a:t>Responses with fit score and next steps</a:t>
            </a:r>
            <a:endParaRPr lang="en-US" sz="1000" dirty="0"/>
          </a:p>
          <a:p>
            <a:pPr marL="165100" indent="-165100">
              <a:spcAft>
                <a:spcPts val="400"/>
              </a:spcAft>
              <a:buSzPct val="100000"/>
              <a:buChar char="•"/>
            </a:pPr>
            <a:r>
              <a:rPr lang="en-US" sz="1000" dirty="0">
                <a:solidFill>
                  <a:srgbClr val="BFC4BA"/>
                </a:solidFill>
              </a:rPr>
              <a:t>Clients and website leads</a:t>
            </a:r>
            <a:endParaRPr lang="en-US" sz="1000" dirty="0"/>
          </a:p>
        </p:txBody>
      </p:sp>
      <p:pic>
        <p:nvPicPr>
          <p:cNvPr id="9" name="Image 2" descr="Prospect view">    </p:cNvPr>
          <p:cNvPicPr>
            <a:picLocks noChangeAspect="1"/>
          </p:cNvPicPr>
          <p:nvPr/>
        </p:nvPicPr>
        <p:blipFill>
          <a:blip r:embed="rId3"/>
          <a:stretch>
            <a:fillRect/>
          </a:stretch>
        </p:blipFill>
        <p:spPr>
          <a:xfrm>
            <a:off x="6026212" y="1262578"/>
            <a:ext cx="2444470" cy="3215178"/>
          </a:xfrm>
          <a:prstGeom prst="rect">
            <a:avLst/>
          </a:prstGeom>
        </p:spPr>
      </p:pic>
      <p:sp>
        <p:nvSpPr>
          <p:cNvPr id="10" name="Shape 5"/>
          <p:cNvSpPr/>
          <p:nvPr/>
        </p:nvSpPr>
        <p:spPr>
          <a:xfrm>
            <a:off x="6255868" y="4315968"/>
            <a:ext cx="5387188" cy="0"/>
          </a:xfrm>
          <a:prstGeom prst="line">
            <a:avLst/>
          </a:prstGeom>
          <a:noFill/>
          <a:ln w="9525">
            <a:solidFill>
              <a:srgbClr val="2A3832"/>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PHONE OR DESKTOP</a:t>
            </a:r>
            <a:endParaRPr lang="en-US" sz="800" dirty="0"/>
          </a:p>
          <a:p>
            <a:pPr indent="0" marL="0">
              <a:spcAft>
                <a:spcPts val="200"/>
              </a:spcAft>
              <a:buNone/>
            </a:pPr>
            <a:r>
              <a:rPr lang="en-US" sz="1700" b="1" dirty="0">
                <a:solidFill>
                  <a:srgbClr val="EEF0E6"/>
                </a:solidFill>
              </a:rPr>
              <a:t>Prospect</a:t>
            </a:r>
            <a:endParaRPr lang="en-US" sz="800" dirty="0"/>
          </a:p>
          <a:p>
            <a:pPr indent="0" marL="0">
              <a:spcAft>
                <a:spcPts val="200"/>
              </a:spcAft>
              <a:buNone/>
            </a:pPr>
            <a:r>
              <a:rPr lang="en-US" sz="1100" dirty="0">
                <a:solidFill>
                  <a:srgbClr val="EEF0E6"/>
                </a:solidFill>
              </a:rPr>
              <a:t>Answers a few focused questions.</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A questionnaire for the service they need</a:t>
            </a:r>
            <a:endParaRPr lang="en-US" sz="1000" dirty="0"/>
          </a:p>
          <a:p>
            <a:pPr marL="165100" indent="-165100">
              <a:spcAft>
                <a:spcPts val="400"/>
              </a:spcAft>
              <a:buSzPct val="100000"/>
              <a:buChar char="•"/>
            </a:pPr>
            <a:r>
              <a:rPr lang="en-US" sz="1000" dirty="0">
                <a:solidFill>
                  <a:srgbClr val="BFC4BA"/>
                </a:solidFill>
              </a:rPr>
              <a:t>No account needed</a:t>
            </a:r>
            <a:endParaRPr lang="en-US" sz="1000" dirty="0"/>
          </a:p>
          <a:p>
            <a:pPr marL="165100" indent="-165100">
              <a:spcAft>
                <a:spcPts val="400"/>
              </a:spcAft>
              <a:buSzPct val="100000"/>
              <a:buChar char="•"/>
            </a:pPr>
            <a:r>
              <a:rPr lang="en-US" sz="1000" dirty="0">
                <a:solidFill>
                  <a:srgbClr val="BFC4BA"/>
                </a:solidFill>
              </a:rPr>
              <a:t>Private links for invited clients</a:t>
            </a:r>
            <a:endParaRPr lang="en-US" sz="1000" dirty="0"/>
          </a:p>
          <a:p>
            <a:pPr marL="165100" indent="-165100">
              <a:spcAft>
                <a:spcPts val="400"/>
              </a:spcAft>
              <a:buSzPct val="100000"/>
              <a:buChar char="•"/>
            </a:pPr>
            <a:r>
              <a:rPr lang="en-US" sz="1000" dirty="0">
                <a:solidFill>
                  <a:srgbClr val="BFC4BA"/>
                </a:solidFill>
              </a:rPr>
              <a:t>A summary of next steps</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74</a:t>
            </a:fld>
            <a:endParaRPr lang="en-US"/>
          </a:p>
        </p:txBody>
      </p:sp>
    </p:spTree>
  </p:cSld>
  <p:clrMapOvr>
    <a:masterClrMapping/>
  </p:clrMapOvr>
  <p:transition spd="med">
    <p:fade/>
  </p:transition>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2E3820"/>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Discovery that works on a phone.</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BFC4BA"/>
                </a:solidFill>
              </a:rPr>
              <a:t>Prospects answer on whatever device found you; the team reviews scores and next steps from theirs.</a:t>
            </a:r>
            <a:endParaRPr lang="en-US" sz="1300" dirty="0"/>
          </a:p>
        </p:txBody>
      </p:sp>
      <p:pic>
        <p:nvPicPr>
          <p:cNvPr id="6" name="reveal-1" descr="Lead Discovery CRM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75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Better first meetings</a:t>
            </a:r>
            <a:endParaRPr lang="en-US" sz="1450" dirty="0"/>
          </a:p>
          <a:p>
            <a:pPr indent="0" marL="0">
              <a:spcAft>
                <a:spcPts val="300"/>
              </a:spcAft>
              <a:buNone/>
            </a:pPr>
            <a:r>
              <a:rPr lang="en-US" sz="1050" dirty="0">
                <a:solidFill>
                  <a:srgbClr val="5C6A62"/>
                </a:solidFill>
              </a:rPr>
              <a:t>The team arrives knowing the prospect’s goals, gaps and priorities.</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Leads ranked by fit</a:t>
            </a:r>
            <a:endParaRPr lang="en-US" sz="1450" dirty="0"/>
          </a:p>
          <a:p>
            <a:pPr indent="0" marL="0">
              <a:spcAft>
                <a:spcPts val="300"/>
              </a:spcAft>
              <a:buNone/>
            </a:pPr>
            <a:r>
              <a:rPr lang="en-US" sz="1050" dirty="0">
                <a:solidFill>
                  <a:srgbClr val="5C6A62"/>
                </a:solidFill>
              </a:rPr>
              <a:t>Scores show which enquiries match what you offer.</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One place for every enquiry</a:t>
            </a:r>
            <a:endParaRPr lang="en-US" sz="1450" dirty="0"/>
          </a:p>
          <a:p>
            <a:pPr indent="0" marL="0">
              <a:spcAft>
                <a:spcPts val="300"/>
              </a:spcAft>
              <a:buNone/>
            </a:pPr>
            <a:r>
              <a:rPr lang="en-US" sz="1050" dirty="0">
                <a:solidFill>
                  <a:srgbClr val="5C6A62"/>
                </a:solidFill>
              </a:rPr>
              <a:t>Website leads, invited clients and responses sit together.</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Reusable discovery</a:t>
            </a:r>
            <a:endParaRPr lang="en-US" sz="1450" dirty="0"/>
          </a:p>
          <a:p>
            <a:pPr indent="0" marL="0">
              <a:spcAft>
                <a:spcPts val="300"/>
              </a:spcAft>
              <a:buNone/>
            </a:pPr>
            <a:r>
              <a:rPr lang="en-US" sz="1050" dirty="0">
                <a:solidFill>
                  <a:srgbClr val="5C6A62"/>
                </a:solidFill>
              </a:rPr>
              <a:t>Questionnaires are templates: versioned, exportable and easy to add.</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One codebase for the public questionnaires and the CRM</a:t>
            </a:r>
            <a:endParaRPr lang="en-US" sz="1150" dirty="0"/>
          </a:p>
          <a:p>
            <a:pPr marL="165100" indent="-165100">
              <a:spcAft>
                <a:spcPts val="400"/>
              </a:spcAft>
              <a:buSzPct val="100000"/>
              <a:buChar char="•"/>
            </a:pPr>
            <a:r>
              <a:rPr lang="en-US" sz="1150" dirty="0">
                <a:solidFill>
                  <a:srgbClr val="34433B"/>
                </a:solidFill>
              </a:rPr>
              <a:t>Fit scores and next-step coaching from every response</a:t>
            </a:r>
            <a:endParaRPr lang="en-US" sz="1150" dirty="0"/>
          </a:p>
          <a:p>
            <a:pPr marL="165100" indent="-165100">
              <a:spcAft>
                <a:spcPts val="400"/>
              </a:spcAft>
              <a:buSzPct val="100000"/>
              <a:buChar char="•"/>
            </a:pPr>
            <a:r>
              <a:rPr lang="en-US" sz="1150" dirty="0">
                <a:solidFill>
                  <a:srgbClr val="34433B"/>
                </a:solidFill>
              </a:rPr>
              <a:t>Questionnaires imported and exported as CSV</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108265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Flutter (web)</a:t>
            </a:r>
            <a:endParaRPr lang="en-US" sz="950" dirty="0"/>
          </a:p>
        </p:txBody>
      </p:sp>
      <p:sp>
        <p:nvSpPr>
          <p:cNvPr id="19" name="Text 14"/>
          <p:cNvSpPr txBox="1"/>
          <p:nvPr/>
        </p:nvSpPr>
        <p:spPr>
          <a:xfrm>
            <a:off x="8983066" y="896112"/>
            <a:ext cx="170444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Firebase Authentication</a:t>
            </a:r>
            <a:endParaRPr lang="en-US" sz="950" dirty="0"/>
          </a:p>
        </p:txBody>
      </p:sp>
      <p:sp>
        <p:nvSpPr>
          <p:cNvPr id="20" name="Text 15"/>
          <p:cNvSpPr txBox="1"/>
          <p:nvPr/>
        </p:nvSpPr>
        <p:spPr>
          <a:xfrm>
            <a:off x="7818120" y="1261872"/>
            <a:ext cx="1207008"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Cloud Firestore</a:t>
            </a:r>
            <a:endParaRPr lang="en-US" sz="950" dirty="0"/>
          </a:p>
        </p:txBody>
      </p:sp>
      <p:sp>
        <p:nvSpPr>
          <p:cNvPr id="21" name="Text 16"/>
          <p:cNvSpPr txBox="1"/>
          <p:nvPr/>
        </p:nvSpPr>
        <p:spPr>
          <a:xfrm>
            <a:off x="9107424" y="1261872"/>
            <a:ext cx="1269187"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Firebase Hosting</a:t>
            </a:r>
            <a:endParaRPr lang="en-US" sz="950" dirty="0"/>
          </a:p>
        </p:txBody>
      </p:sp>
      <p:sp>
        <p:nvSpPr>
          <p:cNvPr id="22" name="Shape 17"/>
          <p:cNvSpPr/>
          <p:nvPr/>
        </p:nvSpPr>
        <p:spPr>
          <a:xfrm>
            <a:off x="7818120" y="3931920"/>
            <a:ext cx="3824935" cy="2286000"/>
          </a:xfrm>
          <a:prstGeom prst="roundRect">
            <a:avLst>
              <a:gd name="adj" fmla="val 5600"/>
            </a:avLst>
          </a:prstGeom>
          <a:solidFill>
            <a:srgbClr val="06120D"/>
          </a:solidFill>
          <a:ln/>
        </p:spPr>
      </p:sp>
      <p:pic>
        <p:nvPicPr>
          <p:cNvPr id="23"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4" name="Text 18"/>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LIVE PRODUCT</a:t>
            </a:r>
            <a:endParaRPr lang="en-US" sz="900" dirty="0"/>
          </a:p>
        </p:txBody>
      </p:sp>
      <p:sp>
        <p:nvSpPr>
          <p:cNvPr id="25" name="Text 19">
            <a:hlinkClick r:id="rId5" tooltip="Lead Discovery CRM"/>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Lead Discovery CRM" history="1" highlightClick="0" endSnd="0">
                  <a:extLst>
                    <a:ext uri="{A12FA001-AC4F-418D-AE19-62706E023703}">
                      <ahyp:hlinkClr xmlns:ahyp="http://schemas.microsoft.com/office/drawing/2018/hyperlinkcolor" val="tx"/>
                    </a:ext>
                  </a:extLst>
                </a:hlinkClick>
              </a:rPr>
              <a:t>View live CRM →</a:t>
            </a:r>
            <a:endParaRPr lang="en-US" sz="1600" dirty="0"/>
          </a:p>
        </p:txBody>
      </p:sp>
      <p:sp>
        <p:nvSpPr>
          <p:cNvPr id="26" name="Text 20"/>
          <p:cNvSpPr txBox="1"/>
          <p:nvPr/>
        </p:nvSpPr>
        <p:spPr>
          <a:xfrm>
            <a:off x="8092440" y="4873752"/>
            <a:ext cx="3276295" cy="228600"/>
          </a:xfrm>
          <a:prstGeom prst="rect">
            <a:avLst/>
          </a:prstGeom>
          <a:noFill/>
          <a:ln/>
        </p:spPr>
        <p:txBody>
          <a:bodyPr wrap="square" lIns="0" tIns="0" rIns="0" bIns="0" rtlCol="0" anchor="t"/>
          <a:lstStyle/>
          <a:p>
            <a:pPr indent="0" marL="0">
              <a:buNone/>
            </a:pPr>
            <a:r>
              <a:rPr lang="en-US" sz="900" dirty="0">
                <a:solidFill>
                  <a:srgbClr val="8C938B"/>
                </a:solidFill>
              </a:rPr>
              <a:t>Lead Discovery CRM</a:t>
            </a:r>
            <a:endParaRPr lang="en-US" sz="900" dirty="0"/>
          </a:p>
        </p:txBody>
      </p:sp>
      <p:sp>
        <p:nvSpPr>
          <p:cNvPr id="27" name="Shape 21">
            <a:hlinkClick r:id="rId6" tooltip="Lead Discovery CRM"/>
          </p:cNvPr>
          <p:cNvSpPr/>
          <p:nvPr/>
        </p:nvSpPr>
        <p:spPr>
          <a:xfrm>
            <a:off x="8092440" y="4873752"/>
            <a:ext cx="1289304" cy="228600"/>
          </a:xfrm>
          <a:prstGeom prst="rect">
            <a:avLst/>
          </a:prstGeom>
          <a:solidFill>
            <a:srgbClr val="FFFFFF">
              <a:alpha val="0"/>
            </a:srgbClr>
          </a:solidFill>
          <a:ln/>
        </p:spPr>
      </p:sp>
      <p:sp>
        <p:nvSpPr>
          <p:cNvPr id="28" name="Text 22"/>
          <p:cNvSpPr txBox="1"/>
          <p:nvPr/>
        </p:nvSpPr>
        <p:spPr>
          <a:xfrm>
            <a:off x="8092440" y="5257800"/>
            <a:ext cx="3276295" cy="731520"/>
          </a:xfrm>
          <a:prstGeom prst="rect">
            <a:avLst/>
          </a:prstGeom>
          <a:noFill/>
          <a:ln/>
        </p:spPr>
        <p:txBody>
          <a:bodyPr wrap="square" lIns="0" tIns="0" rIns="0" bIns="0" rtlCol="0" anchor="t"/>
          <a:lstStyle/>
          <a:p>
            <a:pPr indent="0" marL="0">
              <a:buNone/>
            </a:pPr>
            <a:r>
              <a:rPr lang="en-US" sz="1050" dirty="0">
                <a:solidFill>
                  <a:srgbClr val="BFC4BA"/>
                </a:solidFill>
              </a:rPr>
              <a:t>Live demo: Admin views.</a:t>
            </a:r>
            <a:endParaRPr lang="en-US" sz="1050" dirty="0"/>
          </a:p>
        </p:txBody>
      </p:sp>
      <p:sp>
        <p:nvSpPr>
          <p:cNvPr id="29" name="Text 23"/>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800" dirty="0">
                <a:solidFill>
                  <a:srgbClr val="5C6A62"/>
                </a:solidFill>
              </a:rPr>
              <a:t>Shown with Crita’s internal test responses; contact details are hidden.</a:t>
            </a:r>
            <a:endParaRPr lang="en-US" sz="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76</a:t>
            </a:fld>
            <a:endParaRPr lang="en-US"/>
          </a:p>
        </p:txBody>
      </p:sp>
    </p:spTree>
  </p:cSld>
  <p:clrMapOvr>
    <a:masterClrMapping/>
  </p:clrMapOvr>
  <p:transition spd="med">
    <p:fade/>
  </p:transition>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DCE6E2"/>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5C6A62"/>
                </a:solidFill>
              </a:rPr>
              <a:t>10 — TICKETING &amp; SUPPORT PORTAL</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0D1813"/>
                </a:solidFill>
              </a:rPr>
              <a:t>Support Portal</a:t>
            </a:r>
            <a:endParaRPr lang="en-US" sz="4000" dirty="0"/>
          </a:p>
        </p:txBody>
      </p:sp>
      <p:sp>
        <p:nvSpPr>
          <p:cNvPr id="5" name="Text 2"/>
          <p:cNvSpPr txBox="1"/>
          <p:nvPr/>
        </p:nvSpPr>
        <p:spPr>
          <a:xfrm>
            <a:off x="548640" y="1883664"/>
            <a:ext cx="4572000" cy="777240"/>
          </a:xfrm>
          <a:prstGeom prst="rect">
            <a:avLst/>
          </a:prstGeom>
          <a:noFill/>
          <a:ln/>
        </p:spPr>
        <p:txBody>
          <a:bodyPr wrap="square" lIns="0" tIns="0" rIns="0" bIns="0" rtlCol="0" anchor="t"/>
          <a:lstStyle/>
          <a:p>
            <a:pPr indent="0" marL="0">
              <a:lnSpc>
                <a:spcPct val="108000"/>
              </a:lnSpc>
              <a:buNone/>
            </a:pPr>
            <a:r>
              <a:rPr lang="en-US" sz="1650" dirty="0">
                <a:solidFill>
                  <a:srgbClr val="0D1813"/>
                </a:solidFill>
                <a:latin typeface="Satoshi Medium" pitchFamily="34" charset="0"/>
                <a:ea typeface="Satoshi Medium" pitchFamily="34" charset="-122"/>
                <a:cs typeface="Satoshi Medium" pitchFamily="34" charset="-120"/>
              </a:rPr>
              <a:t>Raise it, track it, resolve it — with every step on record.</a:t>
            </a:r>
            <a:endParaRPr lang="en-US" sz="1650" dirty="0"/>
          </a:p>
        </p:txBody>
      </p:sp>
      <p:sp>
        <p:nvSpPr>
          <p:cNvPr id="6" name="Text 3"/>
          <p:cNvSpPr txBox="1"/>
          <p:nvPr/>
        </p:nvSpPr>
        <p:spPr>
          <a:xfrm>
            <a:off x="548640" y="2706624"/>
            <a:ext cx="4572000" cy="1325880"/>
          </a:xfrm>
          <a:prstGeom prst="rect">
            <a:avLst/>
          </a:prstGeom>
          <a:noFill/>
          <a:ln/>
        </p:spPr>
        <p:txBody>
          <a:bodyPr wrap="square" lIns="0" tIns="0" rIns="0" bIns="0" rtlCol="0" anchor="t"/>
          <a:lstStyle/>
          <a:p>
            <a:pPr indent="0" marL="0">
              <a:lnSpc>
                <a:spcPct val="115000"/>
              </a:lnSpc>
              <a:buNone/>
            </a:pPr>
            <a:r>
              <a:rPr lang="en-US" sz="1100" dirty="0">
                <a:solidFill>
                  <a:srgbClr val="34433B"/>
                </a:solidFill>
              </a:rPr>
              <a:t>Crita’s support desk for its clients: a help centre and knowledge base, a simple form to raise tickets with attachments, and an admin queue where each ticket is assigned, reviewed, approved, resolved and closed — with its full history.</a:t>
            </a:r>
            <a:endParaRPr lang="en-US" sz="1100" dirty="0"/>
          </a:p>
        </p:txBody>
      </p:sp>
      <p:sp>
        <p:nvSpPr>
          <p:cNvPr id="7" name="Shape 4"/>
          <p:cNvSpPr/>
          <p:nvPr/>
        </p:nvSpPr>
        <p:spPr>
          <a:xfrm>
            <a:off x="548640" y="4754880"/>
            <a:ext cx="4572000" cy="0"/>
          </a:xfrm>
          <a:prstGeom prst="line">
            <a:avLst/>
          </a:prstGeom>
          <a:noFill/>
          <a:ln w="9525">
            <a:solidFill>
              <a:srgbClr val="D3D5CC"/>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CLIENT</a:t>
            </a:r>
            <a:endParaRPr lang="en-US" sz="800" dirty="0"/>
          </a:p>
          <a:p>
            <a:pPr indent="0" marL="0">
              <a:spcAft>
                <a:spcPts val="200"/>
              </a:spcAft>
              <a:buNone/>
            </a:pPr>
            <a:r>
              <a:rPr lang="en-US" sz="1100" b="1" dirty="0">
                <a:solidFill>
                  <a:srgbClr val="0D1813"/>
                </a:solidFill>
              </a:rPr>
              <a:t>A Crita product</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SECTOR</a:t>
            </a:r>
            <a:endParaRPr lang="en-US" sz="800" dirty="0"/>
          </a:p>
          <a:p>
            <a:pPr indent="0" marL="0">
              <a:spcAft>
                <a:spcPts val="200"/>
              </a:spcAft>
              <a:buNone/>
            </a:pPr>
            <a:r>
              <a:rPr lang="en-US" sz="1100" b="1" dirty="0">
                <a:solidFill>
                  <a:srgbClr val="0D1813"/>
                </a:solidFill>
              </a:rPr>
              <a:t>Customer support</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PLATFORM</a:t>
            </a:r>
            <a:endParaRPr lang="en-US" sz="800" dirty="0"/>
          </a:p>
          <a:p>
            <a:pPr indent="0" marL="0">
              <a:spcAft>
                <a:spcPts val="200"/>
              </a:spcAft>
              <a:buNone/>
            </a:pPr>
            <a:r>
              <a:rPr lang="en-US" sz="1100" b="1" dirty="0">
                <a:solidFill>
                  <a:srgbClr val="0D1813"/>
                </a:solidFill>
              </a:rPr>
              <a:t>Web ·​ Responsive</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ROLES</a:t>
            </a:r>
            <a:endParaRPr lang="en-US" sz="800" dirty="0"/>
          </a:p>
          <a:p>
            <a:pPr indent="0" marL="0">
              <a:spcAft>
                <a:spcPts val="200"/>
              </a:spcAft>
              <a:buNone/>
            </a:pPr>
            <a:r>
              <a:rPr lang="en-US" sz="1100" b="1" dirty="0">
                <a:solidFill>
                  <a:srgbClr val="0D1813"/>
                </a:solidFill>
              </a:rPr>
              <a:t>Requester ·​ Administrator</a:t>
            </a:r>
            <a:endParaRPr lang="en-US" sz="800" dirty="0"/>
          </a:p>
        </p:txBody>
      </p:sp>
      <p:pic>
        <p:nvPicPr>
          <p:cNvPr id="12" name="reveal-1" descr="Support Portal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77</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Support requests get lost in email.</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When issues arrive by email and phone, nobody clearly owns them, clients can’t see progress, and there is no record of who approved or changed what.</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One portal, for clients and the support team.</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a portal with two sides. Requesters raise tickets by type and priority, attach files and follow their status. Administrators work one queue — assign, review, approve, resolve and close — reply to the requester or add internal notes, and every status change is recorded.</a:t>
            </a:r>
            <a:endParaRPr lang="en-US" sz="1150" dirty="0"/>
          </a:p>
        </p:txBody>
      </p:sp>
      <p:sp>
        <p:nvSpPr>
          <p:cNvPr id="10" name="Shape 6"/>
          <p:cNvSpPr/>
          <p:nvPr/>
        </p:nvSpPr>
        <p:spPr>
          <a:xfrm>
            <a:off x="5760720" y="502920"/>
            <a:ext cx="5879592" cy="5715000"/>
          </a:xfrm>
          <a:prstGeom prst="roundRect">
            <a:avLst>
              <a:gd name="adj" fmla="val 2560"/>
            </a:avLst>
          </a:prstGeom>
          <a:solidFill>
            <a:srgbClr val="EEF3F1"/>
          </a:solidFill>
          <a:ln/>
        </p:spPr>
      </p:sp>
      <p:pic>
        <p:nvPicPr>
          <p:cNvPr id="11" name="Image 2" descr="Support Portal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78</a:t>
            </a:fld>
            <a:endParaRPr lang="en-US"/>
          </a:p>
        </p:txBody>
      </p:sp>
    </p:spTree>
  </p:cSld>
  <p:clrMapOvr>
    <a:masterClrMapping/>
  </p:clrMapOvr>
  <p:transition spd="med">
    <p:fade/>
  </p:transition>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EEF3F1"/>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Support Portal.</a:t>
            </a:r>
            <a:endParaRPr lang="en-US" sz="2800" dirty="0"/>
          </a:p>
        </p:txBody>
      </p:sp>
      <p:pic>
        <p:nvPicPr>
          <p:cNvPr id="5" name="reveal-1" descr="Help first">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Help first</a:t>
            </a:r>
            <a:endParaRPr lang="en-US" sz="950" dirty="0"/>
          </a:p>
          <a:p>
            <a:pPr indent="0" marL="0">
              <a:spcAft>
                <a:spcPts val="300"/>
              </a:spcAft>
              <a:buNone/>
            </a:pPr>
            <a:r>
              <a:rPr lang="en-US" sz="1100" dirty="0">
                <a:solidFill>
                  <a:srgbClr val="5C6A62"/>
                </a:solidFill>
              </a:rPr>
              <a:t>A public help centre explains how tickets are handled and links to the knowledge base.</a:t>
            </a:r>
            <a:endParaRPr lang="en-US" sz="950" dirty="0"/>
          </a:p>
        </p:txBody>
      </p:sp>
      <p:pic>
        <p:nvPicPr>
          <p:cNvPr id="7" name="reveal-2" descr="Raise a ticket">    </p:cNvPr>
          <p:cNvPicPr>
            <a:picLocks noChangeAspect="1"/>
          </p:cNvPicPr>
          <p:nvPr/>
        </p:nvPicPr>
        <p:blipFill>
          <a:blip r:embed="rId3"/>
          <a:stretch>
            <a:fillRect/>
          </a:stretch>
        </p:blipFill>
        <p:spPr>
          <a:xfrm>
            <a:off x="5907552" y="1353231"/>
            <a:ext cx="5960831" cy="4061805"/>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Raise a ticket</a:t>
            </a:r>
            <a:endParaRPr lang="en-US" sz="950" dirty="0"/>
          </a:p>
          <a:p>
            <a:pPr indent="0" marL="0">
              <a:spcAft>
                <a:spcPts val="300"/>
              </a:spcAft>
              <a:buNone/>
            </a:pPr>
            <a:r>
              <a:rPr lang="en-US" sz="1100" dirty="0">
                <a:solidFill>
                  <a:srgbClr val="5C6A62"/>
                </a:solidFill>
              </a:rPr>
              <a:t>Type, priority, a description and attachments — tied to the requester’s account.</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EEF3F1"/>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Support Portal.</a:t>
            </a:r>
            <a:endParaRPr lang="en-US" sz="2800" dirty="0"/>
          </a:p>
        </p:txBody>
      </p:sp>
      <p:pic>
        <p:nvPicPr>
          <p:cNvPr id="5" name="reveal-1" descr="Work the queue">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Work the queue</a:t>
            </a:r>
            <a:endParaRPr lang="en-US" sz="950" dirty="0"/>
          </a:p>
          <a:p>
            <a:pPr indent="0" marL="0">
              <a:spcAft>
                <a:spcPts val="300"/>
              </a:spcAft>
              <a:buNone/>
            </a:pPr>
            <a:r>
              <a:rPr lang="en-US" sz="1100" dirty="0">
                <a:solidFill>
                  <a:srgbClr val="5C6A62"/>
                </a:solidFill>
              </a:rPr>
              <a:t>Every ticket, its requester, owner, priority and status in one filterable list.</a:t>
            </a:r>
            <a:endParaRPr lang="en-US" sz="950" dirty="0"/>
          </a:p>
        </p:txBody>
      </p:sp>
      <p:pic>
        <p:nvPicPr>
          <p:cNvPr id="7" name="reveal-2" descr="From review to closed">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From review to closed</a:t>
            </a:r>
            <a:endParaRPr lang="en-US" sz="950" dirty="0"/>
          </a:p>
          <a:p>
            <a:pPr indent="0" marL="0">
              <a:spcAft>
                <a:spcPts val="300"/>
              </a:spcAft>
              <a:buNone/>
            </a:pPr>
            <a:r>
              <a:rPr lang="en-US" sz="1100" dirty="0">
                <a:solidFill>
                  <a:srgbClr val="5C6A62"/>
                </a:solidFill>
              </a:rPr>
              <a:t>Conversation, details and the workflow on one screen, with the approver recorded.</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Support Portal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Help centre and knowledge base</a:t>
            </a:r>
            <a:endParaRPr lang="en-US" sz="950" dirty="0"/>
          </a:p>
          <a:p>
            <a:pPr indent="0" marL="0">
              <a:spcAft>
                <a:spcPts val="300"/>
              </a:spcAft>
              <a:buNone/>
            </a:pPr>
            <a:r>
              <a:rPr lang="en-US" sz="1050" dirty="0">
                <a:solidFill>
                  <a:srgbClr val="5C6A62"/>
                </a:solidFill>
              </a:rPr>
              <a:t>Answers by topic — getting started, accounts, billing, integrations, APIs and troubleshooting.</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Tickets in a minute</a:t>
            </a:r>
            <a:endParaRPr lang="en-US" sz="950" dirty="0"/>
          </a:p>
          <a:p>
            <a:pPr indent="0" marL="0">
              <a:spcAft>
                <a:spcPts val="300"/>
              </a:spcAft>
              <a:buNone/>
            </a:pPr>
            <a:r>
              <a:rPr lang="en-US" sz="1050" dirty="0">
                <a:solidFill>
                  <a:srgbClr val="5C6A62"/>
                </a:solidFill>
              </a:rPr>
              <a:t>Subject, type, priority and description, with up to ten attachments.</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One admin queue</a:t>
            </a:r>
            <a:endParaRPr lang="en-US" sz="950" dirty="0"/>
          </a:p>
          <a:p>
            <a:pPr indent="0" marL="0">
              <a:spcAft>
                <a:spcPts val="300"/>
              </a:spcAft>
              <a:buNone/>
            </a:pPr>
            <a:r>
              <a:rPr lang="en-US" sz="1050" dirty="0">
                <a:solidFill>
                  <a:srgbClr val="5C6A62"/>
                </a:solidFill>
              </a:rPr>
              <a:t>Every ticket with its requester, assignee, priority and status, filterable by each.</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A workflow with approvals</a:t>
            </a:r>
            <a:endParaRPr lang="en-US" sz="950" dirty="0"/>
          </a:p>
          <a:p>
            <a:pPr indent="0" marL="0">
              <a:spcAft>
                <a:spcPts val="300"/>
              </a:spcAft>
              <a:buNone/>
            </a:pPr>
            <a:r>
              <a:rPr lang="en-US" sz="1050" dirty="0">
                <a:solidFill>
                  <a:srgbClr val="5C6A62"/>
                </a:solidFill>
              </a:rPr>
              <a:t>Review, approve, resolve and close — with replies to the requester and notes they never see.</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Every change on record</a:t>
            </a:r>
            <a:endParaRPr lang="en-US" sz="950" dirty="0"/>
          </a:p>
          <a:p>
            <a:pPr indent="0" marL="0">
              <a:spcAft>
                <a:spcPts val="300"/>
              </a:spcAft>
              <a:buNone/>
            </a:pPr>
            <a:r>
              <a:rPr lang="en-US" sz="1050" dirty="0">
                <a:solidFill>
                  <a:srgbClr val="5C6A62"/>
                </a:solidFill>
              </a:rPr>
              <a:t>Status changes with who made them and when, across every ticket.</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Ticket types and rules</a:t>
            </a:r>
            <a:endParaRPr lang="en-US" sz="950" dirty="0"/>
          </a:p>
          <a:p>
            <a:pPr indent="0" marL="0">
              <a:spcAft>
                <a:spcPts val="300"/>
              </a:spcAft>
              <a:buNone/>
            </a:pPr>
            <a:r>
              <a:rPr lang="en-US" sz="1050" dirty="0">
                <a:solidFill>
                  <a:srgbClr val="5C6A62"/>
                </a:solidFill>
              </a:rPr>
              <a:t>Ticket types set by administrators, each with or without an approval step.</a:t>
            </a:r>
            <a:endParaRPr lang="en-US" sz="950" dirty="0"/>
          </a:p>
        </p:txBody>
      </p:sp>
      <p:sp>
        <p:nvSpPr>
          <p:cNvPr id="17" name="Shape 14"/>
          <p:cNvSpPr/>
          <p:nvPr/>
        </p:nvSpPr>
        <p:spPr>
          <a:xfrm>
            <a:off x="8503920" y="502920"/>
            <a:ext cx="3136392" cy="5715000"/>
          </a:xfrm>
          <a:prstGeom prst="roundRect">
            <a:avLst>
              <a:gd name="adj" fmla="val 4665"/>
            </a:avLst>
          </a:prstGeom>
          <a:solidFill>
            <a:srgbClr val="DCE6E2"/>
          </a:solidFill>
          <a:ln/>
        </p:spPr>
      </p:sp>
      <p:pic>
        <p:nvPicPr>
          <p:cNvPr id="18" name="Image 1" descr="Support Portal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81</a:t>
            </a:fld>
            <a:endParaRPr lang="en-US"/>
          </a:p>
        </p:txBody>
      </p:sp>
    </p:spTree>
  </p:cSld>
  <p:clrMapOvr>
    <a:masterClrMapping/>
  </p:clrMapOvr>
  <p:transition spd="med">
    <p:fade/>
  </p:transition>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DCE6E2"/>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Built for every role.</a:t>
            </a:r>
            <a:endParaRPr lang="en-US" sz="2800" dirty="0"/>
          </a:p>
        </p:txBody>
      </p:sp>
      <p:pic>
        <p:nvPicPr>
          <p:cNvPr id="5" name="Image 1" descr="Requester view">    </p:cNvPr>
          <p:cNvPicPr>
            <a:picLocks noChangeAspect="1"/>
          </p:cNvPicPr>
          <p:nvPr/>
        </p:nvPicPr>
        <p:blipFill>
          <a:blip r:embed="rId2"/>
          <a:stretch>
            <a:fillRect/>
          </a:stretch>
        </p:blipFill>
        <p:spPr>
          <a:xfrm>
            <a:off x="318984" y="1262578"/>
            <a:ext cx="3670597" cy="3215178"/>
          </a:xfrm>
          <a:prstGeom prst="rect">
            <a:avLst/>
          </a:prstGeom>
        </p:spPr>
      </p:pic>
      <p:sp>
        <p:nvSpPr>
          <p:cNvPr id="6" name="Shape 2"/>
          <p:cNvSpPr/>
          <p:nvPr/>
        </p:nvSpPr>
        <p:spPr>
          <a:xfrm>
            <a:off x="548640" y="4315968"/>
            <a:ext cx="5387188" cy="0"/>
          </a:xfrm>
          <a:prstGeom prst="line">
            <a:avLst/>
          </a:prstGeom>
          <a:noFill/>
          <a:ln w="9525">
            <a:solidFill>
              <a:srgbClr val="D3D5CC"/>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DESKTOP &amp; MOBILE</a:t>
            </a:r>
            <a:endParaRPr lang="en-US" sz="800" dirty="0"/>
          </a:p>
          <a:p>
            <a:pPr indent="0" marL="0">
              <a:spcAft>
                <a:spcPts val="200"/>
              </a:spcAft>
              <a:buNone/>
            </a:pPr>
            <a:r>
              <a:rPr lang="en-US" sz="1700" b="1" dirty="0">
                <a:solidFill>
                  <a:srgbClr val="0D1813"/>
                </a:solidFill>
              </a:rPr>
              <a:t>Requester</a:t>
            </a:r>
            <a:endParaRPr lang="en-US" sz="800" dirty="0"/>
          </a:p>
          <a:p>
            <a:pPr indent="0" marL="0">
              <a:spcAft>
                <a:spcPts val="200"/>
              </a:spcAft>
              <a:buNone/>
            </a:pPr>
            <a:r>
              <a:rPr lang="en-US" sz="1100" dirty="0">
                <a:solidFill>
                  <a:srgbClr val="0D1813"/>
                </a:solidFill>
              </a:rPr>
              <a:t>Raises and follows tickets.</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Help centre and knowledge base</a:t>
            </a:r>
            <a:endParaRPr lang="en-US" sz="1000" dirty="0"/>
          </a:p>
          <a:p>
            <a:pPr marL="165100" indent="-165100">
              <a:spcAft>
                <a:spcPts val="400"/>
              </a:spcAft>
              <a:buSzPct val="100000"/>
              <a:buChar char="•"/>
            </a:pPr>
            <a:r>
              <a:rPr lang="en-US" sz="1000" dirty="0">
                <a:solidFill>
                  <a:srgbClr val="34433B"/>
                </a:solidFill>
              </a:rPr>
              <a:t>Tickets by type and priority</a:t>
            </a:r>
            <a:endParaRPr lang="en-US" sz="1000" dirty="0"/>
          </a:p>
          <a:p>
            <a:pPr marL="165100" indent="-165100">
              <a:spcAft>
                <a:spcPts val="400"/>
              </a:spcAft>
              <a:buSzPct val="100000"/>
              <a:buChar char="•"/>
            </a:pPr>
            <a:r>
              <a:rPr lang="en-US" sz="1000" dirty="0">
                <a:solidFill>
                  <a:srgbClr val="34433B"/>
                </a:solidFill>
              </a:rPr>
              <a:t>Attachments with every ticket</a:t>
            </a:r>
            <a:endParaRPr lang="en-US" sz="1000" dirty="0"/>
          </a:p>
          <a:p>
            <a:pPr marL="165100" indent="-165100">
              <a:spcAft>
                <a:spcPts val="400"/>
              </a:spcAft>
              <a:buSzPct val="100000"/>
              <a:buChar char="•"/>
            </a:pPr>
            <a:r>
              <a:rPr lang="en-US" sz="1000" dirty="0">
                <a:solidFill>
                  <a:srgbClr val="34433B"/>
                </a:solidFill>
              </a:rPr>
              <a:t>Status of their own tickets</a:t>
            </a:r>
            <a:endParaRPr lang="en-US" sz="1000" dirty="0"/>
          </a:p>
        </p:txBody>
      </p:sp>
      <p:pic>
        <p:nvPicPr>
          <p:cNvPr id="9" name="Image 2" descr="Administrator view">    </p:cNvPr>
          <p:cNvPicPr>
            <a:picLocks noChangeAspect="1"/>
          </p:cNvPicPr>
          <p:nvPr/>
        </p:nvPicPr>
        <p:blipFill>
          <a:blip r:embed="rId3"/>
          <a:stretch>
            <a:fillRect/>
          </a:stretch>
        </p:blipFill>
        <p:spPr>
          <a:xfrm>
            <a:off x="6004840" y="1243923"/>
            <a:ext cx="4969490" cy="3263355"/>
          </a:xfrm>
          <a:prstGeom prst="rect">
            <a:avLst/>
          </a:prstGeom>
        </p:spPr>
      </p:pic>
      <p:sp>
        <p:nvSpPr>
          <p:cNvPr id="10" name="Shape 5"/>
          <p:cNvSpPr/>
          <p:nvPr/>
        </p:nvSpPr>
        <p:spPr>
          <a:xfrm>
            <a:off x="6255868" y="4315968"/>
            <a:ext cx="5387188" cy="0"/>
          </a:xfrm>
          <a:prstGeom prst="line">
            <a:avLst/>
          </a:prstGeom>
          <a:noFill/>
          <a:ln w="9525">
            <a:solidFill>
              <a:srgbClr val="D3D5CC"/>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DESKTOP</a:t>
            </a:r>
            <a:endParaRPr lang="en-US" sz="800" dirty="0"/>
          </a:p>
          <a:p>
            <a:pPr indent="0" marL="0">
              <a:spcAft>
                <a:spcPts val="200"/>
              </a:spcAft>
              <a:buNone/>
            </a:pPr>
            <a:r>
              <a:rPr lang="en-US" sz="1700" b="1" dirty="0">
                <a:solidFill>
                  <a:srgbClr val="0D1813"/>
                </a:solidFill>
              </a:rPr>
              <a:t>Administrator</a:t>
            </a:r>
            <a:endParaRPr lang="en-US" sz="800" dirty="0"/>
          </a:p>
          <a:p>
            <a:pPr indent="0" marL="0">
              <a:spcAft>
                <a:spcPts val="200"/>
              </a:spcAft>
              <a:buNone/>
            </a:pPr>
            <a:r>
              <a:rPr lang="en-US" sz="1100" dirty="0">
                <a:solidFill>
                  <a:srgbClr val="0D1813"/>
                </a:solidFill>
              </a:rPr>
              <a:t>Works the whole queue.</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Queue of every ticket, with filters</a:t>
            </a:r>
            <a:endParaRPr lang="en-US" sz="1000" dirty="0"/>
          </a:p>
          <a:p>
            <a:pPr marL="165100" indent="-165100">
              <a:spcAft>
                <a:spcPts val="400"/>
              </a:spcAft>
              <a:buSzPct val="100000"/>
              <a:buChar char="•"/>
            </a:pPr>
            <a:r>
              <a:rPr lang="en-US" sz="1000" dirty="0">
                <a:solidFill>
                  <a:srgbClr val="34433B"/>
                </a:solidFill>
              </a:rPr>
              <a:t>Assign, review, approve, resolve and close</a:t>
            </a:r>
            <a:endParaRPr lang="en-US" sz="1000" dirty="0"/>
          </a:p>
          <a:p>
            <a:pPr marL="165100" indent="-165100">
              <a:spcAft>
                <a:spcPts val="400"/>
              </a:spcAft>
              <a:buSzPct val="100000"/>
              <a:buChar char="•"/>
            </a:pPr>
            <a:r>
              <a:rPr lang="en-US" sz="1000" dirty="0">
                <a:solidFill>
                  <a:srgbClr val="34433B"/>
                </a:solidFill>
              </a:rPr>
              <a:t>Replies and internal notes</a:t>
            </a:r>
            <a:endParaRPr lang="en-US" sz="1000" dirty="0"/>
          </a:p>
          <a:p>
            <a:pPr marL="165100" indent="-165100">
              <a:spcAft>
                <a:spcPts val="400"/>
              </a:spcAft>
              <a:buSzPct val="100000"/>
              <a:buChar char="•"/>
            </a:pPr>
            <a:r>
              <a:rPr lang="en-US" sz="1000" dirty="0">
                <a:solidFill>
                  <a:srgbClr val="34433B"/>
                </a:solidFill>
              </a:rPr>
              <a:t>Ticket types, users and full history</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82</a:t>
            </a:fld>
            <a:endParaRPr lang="en-US"/>
          </a:p>
        </p:txBody>
      </p:sp>
    </p:spTree>
  </p:cSld>
  <p:clrMapOvr>
    <a:masterClrMapping/>
  </p:clrMapOvr>
  <p:transition spd="med">
    <p:fade/>
  </p:transition>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DCE6E2"/>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Support from any screen.</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34433B"/>
                </a:solidFill>
              </a:rPr>
              <a:t>Clients raise and follow tickets from their phones; the support team can check the queue on the move.</a:t>
            </a:r>
            <a:endParaRPr lang="en-US" sz="1300" dirty="0"/>
          </a:p>
        </p:txBody>
      </p:sp>
      <p:pic>
        <p:nvPicPr>
          <p:cNvPr id="6" name="reveal-1" descr="Support Portal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Nothing falls through</a:t>
            </a:r>
            <a:endParaRPr lang="en-US" sz="1450" dirty="0"/>
          </a:p>
          <a:p>
            <a:pPr indent="0" marL="0">
              <a:spcAft>
                <a:spcPts val="300"/>
              </a:spcAft>
              <a:buNone/>
            </a:pPr>
            <a:r>
              <a:rPr lang="en-US" sz="1050" dirty="0">
                <a:solidFill>
                  <a:srgbClr val="5C6A62"/>
                </a:solidFill>
              </a:rPr>
              <a:t>Every request has an owner, a status and a history.</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Clients stay informed</a:t>
            </a:r>
            <a:endParaRPr lang="en-US" sz="1450" dirty="0"/>
          </a:p>
          <a:p>
            <a:pPr indent="0" marL="0">
              <a:spcAft>
                <a:spcPts val="300"/>
              </a:spcAft>
              <a:buNone/>
            </a:pPr>
            <a:r>
              <a:rPr lang="en-US" sz="1050" dirty="0">
                <a:solidFill>
                  <a:srgbClr val="5C6A62"/>
                </a:solidFill>
              </a:rPr>
              <a:t>Requesters see their tickets and replies without chasing.</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Approvals on record</a:t>
            </a:r>
            <a:endParaRPr lang="en-US" sz="1450" dirty="0"/>
          </a:p>
          <a:p>
            <a:pPr indent="0" marL="0">
              <a:spcAft>
                <a:spcPts val="300"/>
              </a:spcAft>
              <a:buNone/>
            </a:pPr>
            <a:r>
              <a:rPr lang="en-US" sz="1050" dirty="0">
                <a:solidFill>
                  <a:srgbClr val="5C6A62"/>
                </a:solidFill>
              </a:rPr>
              <a:t>Tickets that need sign-off record who approved them and when.</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Answers before tickets</a:t>
            </a:r>
            <a:endParaRPr lang="en-US" sz="1450" dirty="0"/>
          </a:p>
          <a:p>
            <a:pPr indent="0" marL="0">
              <a:spcAft>
                <a:spcPts val="300"/>
              </a:spcAft>
              <a:buNone/>
            </a:pPr>
            <a:r>
              <a:rPr lang="en-US" sz="1050" dirty="0">
                <a:solidFill>
                  <a:srgbClr val="5C6A62"/>
                </a:solidFill>
              </a:rPr>
              <a:t>A knowledge base handles common questions first.</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Requester and administrator portals on one codebase</a:t>
            </a:r>
            <a:endParaRPr lang="en-US" sz="1150" dirty="0"/>
          </a:p>
          <a:p>
            <a:pPr marL="165100" indent="-165100">
              <a:spcAft>
                <a:spcPts val="400"/>
              </a:spcAft>
              <a:buSzPct val="100000"/>
              <a:buChar char="•"/>
            </a:pPr>
            <a:r>
              <a:rPr lang="en-US" sz="1150" dirty="0">
                <a:solidFill>
                  <a:srgbClr val="34433B"/>
                </a:solidFill>
              </a:rPr>
              <a:t>An approval step that can be switched on per ticket type</a:t>
            </a:r>
            <a:endParaRPr lang="en-US" sz="1150" dirty="0"/>
          </a:p>
          <a:p>
            <a:pPr marL="165100" indent="-165100">
              <a:spcAft>
                <a:spcPts val="400"/>
              </a:spcAft>
              <a:buSzPct val="100000"/>
              <a:buChar char="•"/>
            </a:pPr>
            <a:r>
              <a:rPr lang="en-US" sz="1150" dirty="0">
                <a:solidFill>
                  <a:srgbClr val="34433B"/>
                </a:solidFill>
              </a:rPr>
              <a:t>Internal notes kept apart from replies to the requester</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58521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a:t>
            </a:r>
            <a:endParaRPr lang="en-US" sz="950" dirty="0"/>
          </a:p>
        </p:txBody>
      </p:sp>
      <p:sp>
        <p:nvSpPr>
          <p:cNvPr id="19" name="Text 14"/>
          <p:cNvSpPr txBox="1"/>
          <p:nvPr/>
        </p:nvSpPr>
        <p:spPr>
          <a:xfrm>
            <a:off x="8485632"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NestJS API</a:t>
            </a:r>
            <a:endParaRPr lang="en-US" sz="950" dirty="0"/>
          </a:p>
        </p:txBody>
      </p:sp>
      <p:sp>
        <p:nvSpPr>
          <p:cNvPr id="20" name="Text 15"/>
          <p:cNvSpPr txBox="1"/>
          <p:nvPr/>
        </p:nvSpPr>
        <p:spPr>
          <a:xfrm>
            <a:off x="9464040" y="896112"/>
            <a:ext cx="133136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Role-based access</a:t>
            </a:r>
            <a:endParaRPr lang="en-US" sz="950" dirty="0"/>
          </a:p>
        </p:txBody>
      </p:sp>
      <p:sp>
        <p:nvSpPr>
          <p:cNvPr id="21" name="Text 16"/>
          <p:cNvSpPr txBox="1"/>
          <p:nvPr/>
        </p:nvSpPr>
        <p:spPr>
          <a:xfrm>
            <a:off x="7818120" y="1261872"/>
            <a:ext cx="108265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Audit history</a:t>
            </a:r>
            <a:endParaRPr lang="en-US" sz="950" dirty="0"/>
          </a:p>
        </p:txBody>
      </p:sp>
      <p:sp>
        <p:nvSpPr>
          <p:cNvPr id="22" name="Text 17"/>
          <p:cNvSpPr txBox="1"/>
          <p:nvPr/>
        </p:nvSpPr>
        <p:spPr>
          <a:xfrm>
            <a:off x="8983066" y="1261872"/>
            <a:ext cx="1269187"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File attachments</a:t>
            </a:r>
            <a:endParaRPr lang="en-US" sz="950" dirty="0"/>
          </a:p>
        </p:txBody>
      </p:sp>
      <p:sp>
        <p:nvSpPr>
          <p:cNvPr id="23" name="Shape 18"/>
          <p:cNvSpPr/>
          <p:nvPr/>
        </p:nvSpPr>
        <p:spPr>
          <a:xfrm>
            <a:off x="7818120" y="3931920"/>
            <a:ext cx="3824935" cy="2286000"/>
          </a:xfrm>
          <a:prstGeom prst="roundRect">
            <a:avLst>
              <a:gd name="adj" fmla="val 5600"/>
            </a:avLst>
          </a:prstGeom>
          <a:solidFill>
            <a:srgbClr val="06120D"/>
          </a:solidFill>
          <a:ln/>
        </p:spPr>
      </p:sp>
      <p:pic>
        <p:nvPicPr>
          <p:cNvPr id="24"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5" name="Text 19"/>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LIVE PRODUCT</a:t>
            </a:r>
            <a:endParaRPr lang="en-US" sz="900" dirty="0"/>
          </a:p>
        </p:txBody>
      </p:sp>
      <p:sp>
        <p:nvSpPr>
          <p:cNvPr id="26" name="Text 20">
            <a:hlinkClick r:id="rId5" tooltip="Support Portal"/>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Support Portal" history="1" highlightClick="0" endSnd="0">
                  <a:extLst>
                    <a:ext uri="{A12FA001-AC4F-418D-AE19-62706E023703}">
                      <ahyp:hlinkClr xmlns:ahyp="http://schemas.microsoft.com/office/drawing/2018/hyperlinkcolor" val="tx"/>
                    </a:ext>
                  </a:extLst>
                </a:hlinkClick>
              </a:rPr>
              <a:t>View live portal →</a:t>
            </a:r>
            <a:endParaRPr lang="en-US" sz="1600" dirty="0"/>
          </a:p>
        </p:txBody>
      </p:sp>
      <p:sp>
        <p:nvSpPr>
          <p:cNvPr id="27" name="Text 21"/>
          <p:cNvSpPr txBox="1"/>
          <p:nvPr/>
        </p:nvSpPr>
        <p:spPr>
          <a:xfrm>
            <a:off x="8092440" y="4873752"/>
            <a:ext cx="3276295" cy="228600"/>
          </a:xfrm>
          <a:prstGeom prst="rect">
            <a:avLst/>
          </a:prstGeom>
          <a:noFill/>
          <a:ln/>
        </p:spPr>
        <p:txBody>
          <a:bodyPr wrap="square" lIns="0" tIns="0" rIns="0" bIns="0" rtlCol="0" anchor="t"/>
          <a:lstStyle/>
          <a:p>
            <a:pPr indent="0" marL="0">
              <a:buNone/>
            </a:pPr>
            <a:r>
              <a:rPr lang="en-US" sz="900" dirty="0">
                <a:solidFill>
                  <a:srgbClr val="8C938B"/>
                </a:solidFill>
              </a:rPr>
              <a:t>Support Portal</a:t>
            </a:r>
            <a:endParaRPr lang="en-US" sz="900" dirty="0"/>
          </a:p>
        </p:txBody>
      </p:sp>
      <p:sp>
        <p:nvSpPr>
          <p:cNvPr id="28" name="Shape 22">
            <a:hlinkClick r:id="rId6" tooltip="Support Portal"/>
          </p:cNvPr>
          <p:cNvSpPr/>
          <p:nvPr/>
        </p:nvSpPr>
        <p:spPr>
          <a:xfrm>
            <a:off x="8092440" y="4873752"/>
            <a:ext cx="1033272" cy="228600"/>
          </a:xfrm>
          <a:prstGeom prst="rect">
            <a:avLst/>
          </a:prstGeom>
          <a:solidFill>
            <a:srgbClr val="FFFFFF">
              <a:alpha val="0"/>
            </a:srgbClr>
          </a:solidFill>
          <a:ln/>
        </p:spPr>
      </p:sp>
      <p:sp>
        <p:nvSpPr>
          <p:cNvPr id="29" name="Text 23"/>
          <p:cNvSpPr txBox="1"/>
          <p:nvPr/>
        </p:nvSpPr>
        <p:spPr>
          <a:xfrm>
            <a:off x="8092440" y="5257800"/>
            <a:ext cx="3276295" cy="731520"/>
          </a:xfrm>
          <a:prstGeom prst="rect">
            <a:avLst/>
          </a:prstGeom>
          <a:noFill/>
          <a:ln/>
        </p:spPr>
        <p:txBody>
          <a:bodyPr wrap="square" lIns="0" tIns="0" rIns="0" bIns="0" rtlCol="0" anchor="t"/>
          <a:lstStyle/>
          <a:p>
            <a:pPr indent="0" marL="0">
              <a:buNone/>
            </a:pPr>
            <a:r>
              <a:rPr lang="en-US" sz="1050" dirty="0">
                <a:solidFill>
                  <a:srgbClr val="BFC4BA"/>
                </a:solidFill>
              </a:rPr>
              <a:t>Live demo: Requester and Administrator views.</a:t>
            </a:r>
            <a:endParaRPr lang="en-US" sz="1050" dirty="0"/>
          </a:p>
        </p:txBody>
      </p:sp>
      <p:sp>
        <p:nvSpPr>
          <p:cNvPr id="30" name="Text 24"/>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800" dirty="0">
                <a:solidFill>
                  <a:srgbClr val="5C6A62"/>
                </a:solidFill>
              </a:rPr>
              <a:t>Development instance with test tickets; names and emails are anonymised.</a:t>
            </a:r>
            <a:endParaRPr lang="en-US" sz="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84</a:t>
            </a:fld>
            <a:endParaRPr lang="en-US"/>
          </a:p>
        </p:txBody>
      </p:sp>
    </p:spTree>
  </p:cSld>
  <p:clrMapOvr>
    <a:masterClrMapping/>
  </p:clrMapOvr>
  <p:transition spd="med">
    <p:fade/>
  </p:transition>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Image 0" descr="F:\Office Project\Crita Portfolio\portfolio\ppt\brand\pattern-c.png">    </p:cNvPr>
          <p:cNvPicPr>
            <a:picLocks noChangeAspect="1"/>
          </p:cNvPicPr>
          <p:nvPr/>
        </p:nvPicPr>
        <p:blipFill>
          <a:blip r:embed="rId1">
            <a:alphaModFix amt="10000"/>
          </a:blip>
          <a:stretch>
            <a:fillRect/>
          </a:stretch>
        </p:blipFill>
        <p:spPr>
          <a:xfrm>
            <a:off x="7863840" y="-274320"/>
            <a:ext cx="4937760" cy="6583680"/>
          </a:xfrm>
          <a:prstGeom prst="rect">
            <a:avLst/>
          </a:prstGeom>
        </p:spPr>
      </p:pic>
      <p:pic>
        <p:nvPicPr>
          <p:cNvPr id="3" name="Image 1" descr="F:\Office Project\Crita Portfolio\portfolio\ppt\brand\c.png">    </p:cNvPr>
          <p:cNvPicPr>
            <a:picLocks noChangeAspect="1"/>
          </p:cNvPicPr>
          <p:nvPr/>
        </p:nvPicPr>
        <p:blipFill>
          <a:blip r:embed="rId2"/>
          <a:stretch>
            <a:fillRect/>
          </a:stretch>
        </p:blipFill>
        <p:spPr>
          <a:xfrm>
            <a:off x="548640" y="1549908"/>
            <a:ext cx="182880" cy="134417"/>
          </a:xfrm>
          <a:prstGeom prst="rect">
            <a:avLst/>
          </a:prstGeom>
        </p:spPr>
      </p:pic>
      <p:sp>
        <p:nvSpPr>
          <p:cNvPr id="4" name="Text 0"/>
          <p:cNvSpPr txBox="1"/>
          <p:nvPr/>
        </p:nvSpPr>
        <p:spPr>
          <a:xfrm>
            <a:off x="813816" y="150876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START THE CONVERSATION</a:t>
            </a:r>
            <a:endParaRPr lang="en-US" sz="900" dirty="0"/>
          </a:p>
        </p:txBody>
      </p:sp>
      <p:sp>
        <p:nvSpPr>
          <p:cNvPr id="5" name="Text 1"/>
          <p:cNvSpPr txBox="1"/>
          <p:nvPr/>
        </p:nvSpPr>
        <p:spPr>
          <a:xfrm>
            <a:off x="548640" y="1828800"/>
            <a:ext cx="7498080" cy="2194560"/>
          </a:xfrm>
          <a:prstGeom prst="rect">
            <a:avLst/>
          </a:prstGeom>
          <a:noFill/>
          <a:ln/>
        </p:spPr>
        <p:txBody>
          <a:bodyPr wrap="square" lIns="0" tIns="0" rIns="0" bIns="0" rtlCol="0" anchor="t"/>
          <a:lstStyle/>
          <a:p>
            <a:pPr indent="0" marL="0">
              <a:lnSpc>
                <a:spcPct val="92000"/>
              </a:lnSpc>
              <a:buNone/>
            </a:pPr>
            <a:r>
              <a:rPr lang="en-US" sz="4600" b="1" spc="-120" kern="0" dirty="0">
                <a:solidFill>
                  <a:srgbClr val="EEF0E6"/>
                </a:solidFill>
              </a:rPr>
              <a:t>Let’s build something meaningful together.</a:t>
            </a:r>
            <a:endParaRPr lang="en-US" sz="4600" dirty="0"/>
          </a:p>
        </p:txBody>
      </p:sp>
      <p:sp>
        <p:nvSpPr>
          <p:cNvPr id="6" name="Text 2"/>
          <p:cNvSpPr txBox="1"/>
          <p:nvPr/>
        </p:nvSpPr>
        <p:spPr>
          <a:xfrm>
            <a:off x="548640" y="3703320"/>
            <a:ext cx="6400800" cy="731520"/>
          </a:xfrm>
          <a:prstGeom prst="rect">
            <a:avLst/>
          </a:prstGeom>
          <a:noFill/>
          <a:ln/>
        </p:spPr>
        <p:txBody>
          <a:bodyPr wrap="square" lIns="0" tIns="0" rIns="0" bIns="0" rtlCol="0" anchor="t"/>
          <a:lstStyle/>
          <a:p>
            <a:pPr indent="0" marL="0">
              <a:lnSpc>
                <a:spcPct val="115000"/>
              </a:lnSpc>
              <a:buNone/>
            </a:pPr>
            <a:r>
              <a:rPr lang="en-US" sz="1500" dirty="0">
                <a:solidFill>
                  <a:srgbClr val="BFC4BA"/>
                </a:solidFill>
              </a:rPr>
              <a:t>Tell us where you’re stuck. We’ll reply within one business day with a clear point of view.</a:t>
            </a:r>
            <a:endParaRPr lang="en-US" sz="1500" dirty="0"/>
          </a:p>
        </p:txBody>
      </p:sp>
      <p:sp>
        <p:nvSpPr>
          <p:cNvPr id="7" name="Text 3"/>
          <p:cNvSpPr txBox="1"/>
          <p:nvPr/>
        </p:nvSpPr>
        <p:spPr>
          <a:xfrm>
            <a:off x="548640" y="4526280"/>
            <a:ext cx="5486400" cy="822960"/>
          </a:xfrm>
          <a:prstGeom prst="rect">
            <a:avLst/>
          </a:prstGeom>
          <a:noFill/>
          <a:ln/>
        </p:spPr>
        <p:txBody>
          <a:bodyPr wrap="square" lIns="0" tIns="0" rIns="0" bIns="0" rtlCol="0" anchor="t"/>
          <a:lstStyle/>
          <a:p>
            <a:pPr indent="0" marL="0">
              <a:spcAft>
                <a:spcPts val="400"/>
              </a:spcAft>
              <a:buNone/>
            </a:pPr>
            <a:r>
              <a:rPr lang="en-US" sz="1700" b="1" u="sng" dirty="0">
                <a:solidFill>
                  <a:srgbClr val="D6E151"/>
                </a:solidFill>
                <a:hlinkClick r:id="rId3" invalidUrl="" action="" tgtFrame="" tooltip="" history="1" highlightClick="0" endSnd="0">
                  <a:extLst>
                    <a:ext uri="{A12FA001-AC4F-418D-AE19-62706E023703}">
                      <ahyp:hlinkClr xmlns:ahyp="http://schemas.microsoft.com/office/drawing/2018/hyperlinkcolor" val="tx"/>
                    </a:ext>
                  </a:extLst>
                </a:hlinkClick>
              </a:rPr>
              <a:t>abishek@crita.in</a:t>
            </a:r>
            <a:endParaRPr lang="en-US" sz="1700" dirty="0"/>
          </a:p>
          <a:p>
            <a:pPr indent="0" marL="0">
              <a:spcAft>
                <a:spcPts val="400"/>
              </a:spcAft>
              <a:buNone/>
            </a:pPr>
            <a:r>
              <a:rPr lang="en-US" sz="1700" b="1" u="sng" dirty="0">
                <a:solidFill>
                  <a:srgbClr val="D6E151"/>
                </a:solidFill>
                <a:hlinkClick r:id="rId4" invalidUrl="" action="" tgtFrame="" tooltip="" history="1" highlightClick="0" endSnd="0">
                  <a:extLst>
                    <a:ext uri="{A12FA001-AC4F-418D-AE19-62706E023703}">
                      <ahyp:hlinkClr xmlns:ahyp="http://schemas.microsoft.com/office/drawing/2018/hyperlinkcolor" val="tx"/>
                    </a:ext>
                  </a:extLst>
                </a:hlinkClick>
              </a:rPr>
              <a:t>www.crita.in</a:t>
            </a:r>
            <a:endParaRPr lang="en-US" sz="1700" dirty="0"/>
          </a:p>
        </p:txBody>
      </p:sp>
      <p:pic>
        <p:nvPicPr>
          <p:cNvPr id="8" name="Image 2" descr="Crita">    </p:cNvPr>
          <p:cNvPicPr>
            <a:picLocks noChangeAspect="1"/>
          </p:cNvPicPr>
          <p:nvPr/>
        </p:nvPicPr>
        <p:blipFill>
          <a:blip r:embed="rId5"/>
          <a:stretch>
            <a:fillRect/>
          </a:stretch>
        </p:blipFill>
        <p:spPr>
          <a:xfrm>
            <a:off x="548640" y="6172200"/>
            <a:ext cx="1188720" cy="228884"/>
          </a:xfrm>
          <a:prstGeom prst="rect">
            <a:avLst/>
          </a:prstGeom>
        </p:spPr>
      </p:pic>
      <p:sp>
        <p:nvSpPr>
          <p:cNvPr id="9" name="Text 4"/>
          <p:cNvSpPr txBox="1"/>
          <p:nvPr/>
        </p:nvSpPr>
        <p:spPr>
          <a:xfrm>
            <a:off x="7985455" y="6236208"/>
            <a:ext cx="3657600" cy="201168"/>
          </a:xfrm>
          <a:prstGeom prst="rect">
            <a:avLst/>
          </a:prstGeom>
          <a:noFill/>
          <a:ln/>
        </p:spPr>
        <p:txBody>
          <a:bodyPr wrap="square" lIns="0" tIns="0" rIns="0" bIns="0" rtlCol="0" anchor="t"/>
          <a:lstStyle/>
          <a:p>
            <a:pPr algn="r" indent="0" marL="0">
              <a:buNone/>
            </a:pPr>
            <a:r>
              <a:rPr lang="en-US" sz="850" dirty="0">
                <a:solidFill>
                  <a:srgbClr val="8C938B"/>
                </a:solidFill>
              </a:rPr>
              <a:t>© 2026 Crita Creative LLP</a:t>
            </a:r>
            <a:endParaRPr lang="en-US" sz="850" dirty="0"/>
          </a:p>
        </p:txBody>
      </p:sp>
    </p:spTree>
  </p:cSld>
  <p:clrMapOvr>
    <a:masterClrMapping/>
  </p:clrMapOvr>
  <p:transition spd="slow">
    <p:fade thruBlk="1"/>
  </p:transition>
</p:sld>
</file>

<file path=ppt/theme/theme1.xml><?xml version="1.0" encoding="utf-8"?>
<a:theme xmlns:a="http://schemas.openxmlformats.org/drawingml/2006/main" name="Crita Portfolio">
  <a:themeElements>
    <a:clrScheme name="Crita Portfolio">
      <a:dk1>
        <a:srgbClr val="0D1813"/>
      </a:dk1>
      <a:lt1>
        <a:srgbClr val="FFFFFF"/>
      </a:lt1>
      <a:dk2>
        <a:srgbClr val="033F2D"/>
      </a:dk2>
      <a:lt2>
        <a:srgbClr val="F5F5EF"/>
      </a:lt2>
      <a:accent1>
        <a:srgbClr val="7FA53F"/>
      </a:accent1>
      <a:accent2>
        <a:srgbClr val="D6E151"/>
      </a:accent2>
      <a:accent3>
        <a:srgbClr val="4E6B31"/>
      </a:accent3>
      <a:accent4>
        <a:srgbClr val="06120D"/>
      </a:accent4>
      <a:accent5>
        <a:srgbClr val="ECEBCB"/>
      </a:accent5>
      <a:accent6>
        <a:srgbClr val="5C6A62"/>
      </a:accent6>
      <a:hlink>
        <a:srgbClr val="4E6B31"/>
      </a:hlink>
      <a:folHlink>
        <a:srgbClr val="4E6B31"/>
      </a:folHlink>
    </a:clrScheme>
    <a:fontScheme name="Crita Portfolio">
      <a:majorFont>
        <a:latin typeface="Satoshi"/>
        <a:ea typeface="Satoshi"/>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atoshi"/>
        <a:ea typeface="Satoshi"/>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85</Slides>
  <Notes>85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85</vt:i4>
      </vt:variant>
    </vt:vector>
  </HeadingPairs>
  <TitlesOfParts>
    <vt:vector size="8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vector>
  </TitlesOfParts>
  <Company>Crita Creative LLP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Crita Creative LLP — Selected Work 2026</dc:title>
  <dc:subject>Selected software projects by Crita Creative LLP: yard operations, café POS and ordering, business intelligence, field audits, warehousing, sales CRM, material trading, expenses, lead discovery and customer support.</dc:subject>
  <dc:creator>Crita Creative LLP</dc:creator>
  <cp:lastModifiedBy>Crita Creative LLP</cp:lastModifiedBy>
  <cp:revision>1</cp:revision>
  <dcterms:created xsi:type="dcterms:W3CDTF">2026-10-29T19:52:39Z</dcterms:created>
  <dcterms:modified xsi:type="dcterms:W3CDTF">2026-10-29T19:52:39Z</dcterms:modified>
</cp:coreProperties>
</file>